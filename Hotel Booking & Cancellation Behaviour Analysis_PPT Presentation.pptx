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70" d="100"/>
          <a:sy n="70" d="100"/>
        </p:scale>
        <p:origin x="-720"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dt" sz="half" idx="10"/>
          </p:nvPr>
        </p:nvSpPr>
        <p:spPr>
          <a:xfrm>
            <a:off x="5504656" y="6438900"/>
            <a:ext cx="1802924" cy="215900"/>
          </a:xfrm>
        </p:spPr>
        <p:txBody>
          <a:bodyPr vert="horz" lIns="91440" tIns="45720" rIns="91440" bIns="45720" anchor="ctr">
            <a:normAutofit/>
          </a:bodyPr>
          <a:lstStyle/>
          <a:p>
            <a:pPr marL="0" algn="ctr"/>
            <a:r>
              <a:rPr lang="zh-CN" altLang="en-US" sz="1000" b="0" i="0" u="none" baseline="0">
                <a:solidFill>
                  <a:srgbClr val="000000">
                    <a:lumMod val="50000"/>
                    <a:lumOff val="50000"/>
                  </a:srgbClr>
                </a:solidFill>
                <a:latin typeface="Arial"/>
                <a:ea typeface="Arial"/>
              </a:rPr>
              <a:t>2024/8/5</a:t>
            </a:r>
          </a:p>
        </p:txBody>
      </p:sp>
      <p:sp>
        <p:nvSpPr>
          <p:cNvPr id="3" name="AutoShape 3"/>
          <p:cNvSpPr>
            <a:spLocks noGrp="1"/>
          </p:cNvSpPr>
          <p:nvPr>
            <p:ph type="ftr" sz="quarter" idx="11"/>
          </p:nvPr>
        </p:nvSpPr>
        <p:spPr>
          <a:xfrm>
            <a:off x="660401" y="6438900"/>
            <a:ext cx="3992171" cy="215900"/>
          </a:xfrm>
        </p:spPr>
        <p:txBody>
          <a:bodyPr vert="horz" lIns="91440" tIns="45720" rIns="91440" bIns="45720" anchor="ctr">
            <a:normAutofit/>
          </a:bodyPr>
          <a:lstStyle/>
          <a:p>
            <a:pPr marL="0" algn="l"/>
            <a:endParaRPr/>
          </a:p>
        </p:txBody>
      </p:sp>
      <p:sp>
        <p:nvSpPr>
          <p:cNvPr id="4" name="AutoShape 4"/>
          <p:cNvSpPr>
            <a:spLocks noGrp="1"/>
          </p:cNvSpPr>
          <p:nvPr>
            <p:ph type="sldNum" sz="quarter" idx="12"/>
          </p:nvPr>
        </p:nvSpPr>
        <p:spPr>
          <a:xfrm>
            <a:off x="8857452" y="6438900"/>
            <a:ext cx="2661448" cy="215900"/>
          </a:xfrm>
        </p:spPr>
        <p:txBody>
          <a:bodyPr vert="horz" lIns="91440" tIns="45720" rIns="91440" bIns="45720" anchor="ctr">
            <a:normAutofit/>
          </a:bodyPr>
          <a:lstStyle/>
          <a:p>
            <a:pPr marL="0" algn="r"/>
            <a:fld id="{3386411A-70EE-422D-B97C-F56BEE3FF077}" type="slidenum">
              <a:rPr lang="zh-CN" altLang="en-US" sz="1000" b="0" i="0" u="none" baseline="0">
                <a:solidFill>
                  <a:srgbClr val="000000">
                    <a:lumMod val="50000"/>
                    <a:lumOff val="50000"/>
                  </a:srgbClr>
                </a:solidFill>
                <a:latin typeface="Arial"/>
                <a:ea typeface="Arial"/>
              </a:rPr>
              <a:t>‹#›</a:t>
            </a:fld>
            <a:endParaRPr lang="zh-CN" altLang="en-US" sz="1000" b="0" i="0" u="none" baseline="0">
              <a:solidFill>
                <a:srgbClr val="000000">
                  <a:lumMod val="50000"/>
                  <a:lumOff val="50000"/>
                </a:srgbClr>
              </a:solidFill>
              <a:latin typeface="Arial"/>
              <a:ea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grpSp>
        <p:nvGrpSpPr>
          <p:cNvPr id="2" name="Group 2"/>
          <p:cNvGrpSpPr/>
          <p:nvPr/>
        </p:nvGrpSpPr>
        <p:grpSpPr>
          <a:xfrm>
            <a:off x="3832157" y="-22225"/>
            <a:ext cx="8359843" cy="6880225"/>
            <a:chOff x="3832157" y="-22225"/>
            <a:chExt cx="8359843" cy="6880225"/>
          </a:xfrm>
        </p:grpSpPr>
        <p:grpSp>
          <p:nvGrpSpPr>
            <p:cNvPr id="3" name="Group 3"/>
            <p:cNvGrpSpPr/>
            <p:nvPr/>
          </p:nvGrpSpPr>
          <p:grpSpPr>
            <a:xfrm>
              <a:off x="4548188" y="0"/>
              <a:ext cx="7643812" cy="6858000"/>
              <a:chOff x="4548188" y="0"/>
              <a:chExt cx="7643812" cy="6858000"/>
            </a:xfrm>
          </p:grpSpPr>
          <p:sp>
            <p:nvSpPr>
              <p:cNvPr id="4" name="Freeform 4"/>
              <p:cNvSpPr/>
              <p:nvPr/>
            </p:nvSpPr>
            <p:spPr>
              <a:xfrm>
                <a:off x="4548188" y="0"/>
                <a:ext cx="7643812" cy="6858000"/>
              </a:xfrm>
              <a:custGeom>
                <a:avLst/>
                <a:gdLst/>
                <a:ahLst/>
                <a:cxnLst/>
                <a:rect l="l" t="t" r="r" b="b"/>
                <a:pathLst>
                  <a:path w="4815" h="4320">
                    <a:moveTo>
                      <a:pt x="4815" y="4320"/>
                    </a:moveTo>
                    <a:lnTo>
                      <a:pt x="0" y="4320"/>
                    </a:lnTo>
                    <a:lnTo>
                      <a:pt x="1040" y="0"/>
                    </a:lnTo>
                    <a:lnTo>
                      <a:pt x="4815" y="0"/>
                    </a:lnTo>
                    <a:lnTo>
                      <a:pt x="4815" y="4320"/>
                    </a:lnTo>
                    <a:close/>
                  </a:path>
                </a:pathLst>
              </a:custGeom>
              <a:blipFill>
                <a:blip r:embed="rId2"/>
                <a:stretch>
                  <a:fillRect/>
                </a:stretch>
              </a:blipFill>
            </p:spPr>
            <p:txBody>
              <a:bodyPr vert="horz" wrap="square" lIns="91440" tIns="45720" rIns="91440" bIns="45720" anchor="t">
                <a:prstTxWarp prst="textNoShape">
                  <a:avLst/>
                </a:prstTxWarp>
                <a:normAutofit/>
              </a:bodyPr>
              <a:lstStyle/>
              <a:p>
                <a:pPr marL="0" algn="l"/>
                <a:endParaRPr/>
              </a:p>
            </p:txBody>
          </p:sp>
          <p:sp>
            <p:nvSpPr>
              <p:cNvPr id="5" name="Freeform 5"/>
              <p:cNvSpPr/>
              <p:nvPr/>
            </p:nvSpPr>
            <p:spPr>
              <a:xfrm>
                <a:off x="4548188" y="0"/>
                <a:ext cx="7643812" cy="6858000"/>
              </a:xfrm>
              <a:custGeom>
                <a:avLst/>
                <a:gdLst/>
                <a:ahLst/>
                <a:cxnLst/>
                <a:rect l="l" t="t" r="r" b="b"/>
                <a:pathLst>
                  <a:path w="4815" h="4320">
                    <a:moveTo>
                      <a:pt x="4815" y="4320"/>
                    </a:moveTo>
                    <a:lnTo>
                      <a:pt x="0" y="4320"/>
                    </a:lnTo>
                    <a:lnTo>
                      <a:pt x="1040" y="0"/>
                    </a:lnTo>
                    <a:lnTo>
                      <a:pt x="4815" y="0"/>
                    </a:lnTo>
                    <a:lnTo>
                      <a:pt x="4815" y="4320"/>
                    </a:lnTo>
                    <a:close/>
                  </a:path>
                </a:pathLst>
              </a:custGeom>
              <a:solidFill>
                <a:schemeClr val="accent4">
                  <a:alpha val="50000"/>
                </a:schemeClr>
              </a:solidFill>
            </p:spPr>
            <p:txBody>
              <a:bodyPr vert="horz" wrap="square" lIns="91440" tIns="45720" rIns="91440" bIns="45720" anchor="t">
                <a:prstTxWarp prst="textNoShape">
                  <a:avLst/>
                </a:prstTxWarp>
                <a:normAutofit/>
              </a:bodyPr>
              <a:lstStyle/>
              <a:p>
                <a:pPr marL="0" algn="l"/>
                <a:endParaRPr/>
              </a:p>
            </p:txBody>
          </p:sp>
        </p:grpSp>
        <p:grpSp>
          <p:nvGrpSpPr>
            <p:cNvPr id="6" name="Group 6"/>
            <p:cNvGrpSpPr/>
            <p:nvPr/>
          </p:nvGrpSpPr>
          <p:grpSpPr>
            <a:xfrm>
              <a:off x="3832157" y="-22225"/>
              <a:ext cx="3117918" cy="6880225"/>
              <a:chOff x="3832157" y="-22225"/>
              <a:chExt cx="3117918" cy="6880225"/>
            </a:xfrm>
          </p:grpSpPr>
          <p:sp>
            <p:nvSpPr>
              <p:cNvPr id="7" name="Freeform 7"/>
              <p:cNvSpPr/>
              <p:nvPr/>
            </p:nvSpPr>
            <p:spPr>
              <a:xfrm>
                <a:off x="6096000" y="0"/>
                <a:ext cx="854075" cy="3171825"/>
              </a:xfrm>
              <a:custGeom>
                <a:avLst/>
                <a:gdLst/>
                <a:ahLst/>
                <a:cxnLst/>
                <a:rect l="l" t="t" r="r" b="b"/>
                <a:pathLst>
                  <a:path w="538" h="1998">
                    <a:moveTo>
                      <a:pt x="64" y="1998"/>
                    </a:moveTo>
                    <a:lnTo>
                      <a:pt x="0" y="1998"/>
                    </a:lnTo>
                    <a:lnTo>
                      <a:pt x="474" y="0"/>
                    </a:lnTo>
                    <a:lnTo>
                      <a:pt x="538" y="0"/>
                    </a:lnTo>
                    <a:lnTo>
                      <a:pt x="64" y="1998"/>
                    </a:lnTo>
                    <a:close/>
                  </a:path>
                </a:pathLst>
              </a:custGeom>
              <a:solidFill>
                <a:srgbClr val="FFFFFF"/>
              </a:solidFill>
            </p:spPr>
            <p:txBody>
              <a:bodyPr vert="horz" wrap="square" lIns="91440" tIns="45720" rIns="91440" bIns="45720" anchor="t">
                <a:prstTxWarp prst="textNoShape">
                  <a:avLst/>
                </a:prstTxWarp>
                <a:normAutofit/>
              </a:bodyPr>
              <a:lstStyle/>
              <a:p>
                <a:pPr marL="0" algn="l"/>
                <a:endParaRPr/>
              </a:p>
            </p:txBody>
          </p:sp>
          <p:sp>
            <p:nvSpPr>
              <p:cNvPr id="8" name="Freeform 8"/>
              <p:cNvSpPr/>
              <p:nvPr/>
            </p:nvSpPr>
            <p:spPr>
              <a:xfrm>
                <a:off x="5269041" y="5100638"/>
                <a:ext cx="582612" cy="1757362"/>
              </a:xfrm>
              <a:custGeom>
                <a:avLst/>
                <a:gdLst/>
                <a:ahLst/>
                <a:cxnLst/>
                <a:rect l="l" t="t" r="r" b="b"/>
                <a:pathLst>
                  <a:path w="367" h="1107">
                    <a:moveTo>
                      <a:pt x="104" y="1107"/>
                    </a:moveTo>
                    <a:lnTo>
                      <a:pt x="0" y="1107"/>
                    </a:lnTo>
                    <a:lnTo>
                      <a:pt x="263" y="0"/>
                    </a:lnTo>
                    <a:lnTo>
                      <a:pt x="367" y="0"/>
                    </a:lnTo>
                    <a:lnTo>
                      <a:pt x="104" y="1107"/>
                    </a:lnTo>
                    <a:close/>
                  </a:path>
                </a:pathLst>
              </a:custGeom>
              <a:solidFill>
                <a:srgbClr val="FFFFFF"/>
              </a:solidFill>
            </p:spPr>
            <p:txBody>
              <a:bodyPr vert="horz" wrap="square" lIns="91440" tIns="45720" rIns="91440" bIns="45720" anchor="t">
                <a:prstTxWarp prst="textNoShape">
                  <a:avLst/>
                </a:prstTxWarp>
                <a:normAutofit/>
              </a:bodyPr>
              <a:lstStyle/>
              <a:p>
                <a:pPr marL="0" algn="l"/>
                <a:endParaRPr/>
              </a:p>
            </p:txBody>
          </p:sp>
          <p:sp>
            <p:nvSpPr>
              <p:cNvPr id="9" name="Freeform 9"/>
              <p:cNvSpPr/>
              <p:nvPr/>
            </p:nvSpPr>
            <p:spPr>
              <a:xfrm>
                <a:off x="5019392" y="474209"/>
                <a:ext cx="1560512" cy="2028825"/>
              </a:xfrm>
              <a:custGeom>
                <a:avLst/>
                <a:gdLst/>
                <a:ahLst/>
                <a:cxnLst/>
                <a:rect l="l" t="t" r="r" b="b"/>
                <a:pathLst>
                  <a:path w="983" h="1278">
                    <a:moveTo>
                      <a:pt x="983" y="0"/>
                    </a:moveTo>
                    <a:lnTo>
                      <a:pt x="307" y="0"/>
                    </a:lnTo>
                    <a:lnTo>
                      <a:pt x="0" y="1278"/>
                    </a:lnTo>
                    <a:lnTo>
                      <a:pt x="675" y="1278"/>
                    </a:lnTo>
                    <a:lnTo>
                      <a:pt x="983" y="0"/>
                    </a:lnTo>
                    <a:close/>
                  </a:path>
                </a:pathLst>
              </a:custGeom>
              <a:solidFill>
                <a:schemeClr val="accent1">
                  <a:alpha val="40000"/>
                </a:schemeClr>
              </a:solidFill>
            </p:spPr>
            <p:txBody>
              <a:bodyPr vert="horz" wrap="square" lIns="91440" tIns="45720" rIns="91440" bIns="45720" anchor="t">
                <a:prstTxWarp prst="textNoShape">
                  <a:avLst/>
                </a:prstTxWarp>
                <a:normAutofit/>
              </a:bodyPr>
              <a:lstStyle/>
              <a:p>
                <a:pPr marL="0" algn="l"/>
                <a:endParaRPr/>
              </a:p>
            </p:txBody>
          </p:sp>
          <p:sp>
            <p:nvSpPr>
              <p:cNvPr id="10" name="Freeform 10"/>
              <p:cNvSpPr/>
              <p:nvPr/>
            </p:nvSpPr>
            <p:spPr>
              <a:xfrm>
                <a:off x="5084763" y="-22225"/>
                <a:ext cx="1560512" cy="2028825"/>
              </a:xfrm>
              <a:custGeom>
                <a:avLst/>
                <a:gdLst/>
                <a:ahLst/>
                <a:cxnLst/>
                <a:rect l="l" t="t" r="r" b="b"/>
                <a:pathLst>
                  <a:path w="983" h="1278">
                    <a:moveTo>
                      <a:pt x="983" y="0"/>
                    </a:moveTo>
                    <a:lnTo>
                      <a:pt x="307" y="0"/>
                    </a:lnTo>
                    <a:lnTo>
                      <a:pt x="0" y="1278"/>
                    </a:lnTo>
                    <a:lnTo>
                      <a:pt x="675" y="1278"/>
                    </a:lnTo>
                    <a:lnTo>
                      <a:pt x="983" y="0"/>
                    </a:lnTo>
                  </a:path>
                </a:pathLst>
              </a:custGeom>
              <a:noFill/>
            </p:spPr>
            <p:txBody>
              <a:bodyPr vert="horz" wrap="square" lIns="91440" tIns="45720" rIns="91440" bIns="45720" anchor="t">
                <a:prstTxWarp prst="textNoShape">
                  <a:avLst/>
                </a:prstTxWarp>
                <a:normAutofit/>
              </a:bodyPr>
              <a:lstStyle/>
              <a:p>
                <a:pPr marL="0" algn="l"/>
                <a:endParaRPr/>
              </a:p>
            </p:txBody>
          </p:sp>
          <p:sp>
            <p:nvSpPr>
              <p:cNvPr id="11" name="Freeform 11"/>
              <p:cNvSpPr/>
              <p:nvPr/>
            </p:nvSpPr>
            <p:spPr>
              <a:xfrm>
                <a:off x="3832157" y="4000500"/>
                <a:ext cx="1743075" cy="2857500"/>
              </a:xfrm>
              <a:custGeom>
                <a:avLst/>
                <a:gdLst/>
                <a:ahLst/>
                <a:cxnLst/>
                <a:rect l="l" t="t" r="r" b="b"/>
                <a:pathLst>
                  <a:path w="1098" h="1800">
                    <a:moveTo>
                      <a:pt x="1098" y="0"/>
                    </a:moveTo>
                    <a:lnTo>
                      <a:pt x="423" y="0"/>
                    </a:lnTo>
                    <a:lnTo>
                      <a:pt x="0" y="1800"/>
                    </a:lnTo>
                    <a:lnTo>
                      <a:pt x="676" y="1800"/>
                    </a:lnTo>
                    <a:lnTo>
                      <a:pt x="1098" y="0"/>
                    </a:lnTo>
                    <a:close/>
                  </a:path>
                </a:pathLst>
              </a:custGeom>
              <a:solidFill>
                <a:schemeClr val="accent2">
                  <a:alpha val="40000"/>
                </a:schemeClr>
              </a:solidFill>
            </p:spPr>
            <p:txBody>
              <a:bodyPr vert="horz" wrap="square" lIns="91440" tIns="45720" rIns="91440" bIns="45720" anchor="t">
                <a:prstTxWarp prst="textNoShape">
                  <a:avLst/>
                </a:prstTxWarp>
                <a:normAutofit/>
              </a:bodyPr>
              <a:lstStyle/>
              <a:p>
                <a:pPr marL="0" algn="l"/>
                <a:endParaRPr/>
              </a:p>
            </p:txBody>
          </p:sp>
        </p:grpSp>
      </p:grpSp>
      <p:sp>
        <p:nvSpPr>
          <p:cNvPr id="12" name="AutoShape 12"/>
          <p:cNvSpPr>
            <a:spLocks noGrp="1"/>
          </p:cNvSpPr>
          <p:nvPr>
            <p:ph type="ctrTitle"/>
          </p:nvPr>
        </p:nvSpPr>
        <p:spPr>
          <a:xfrm>
            <a:off x="660400" y="3496179"/>
            <a:ext cx="4062596" cy="978729"/>
          </a:xfrm>
        </p:spPr>
        <p:txBody>
          <a:bodyPr vert="horz" wrap="square" lIns="91440" tIns="45720" rIns="91440" bIns="45720" anchor="b">
            <a:spAutoFit/>
          </a:bodyPr>
          <a:lstStyle/>
          <a:p>
            <a:pPr algn="l">
              <a:lnSpc>
                <a:spcPct val="90000"/>
              </a:lnSpc>
              <a:spcBef>
                <a:spcPct val="0"/>
              </a:spcBef>
            </a:pPr>
            <a:r>
              <a:rPr lang="en-US" sz="3200" b="0" i="0" u="none" baseline="0">
                <a:solidFill>
                  <a:srgbClr val="000000"/>
                </a:solidFill>
                <a:latin typeface="Arial"/>
                <a:ea typeface="Arial"/>
              </a:rPr>
              <a:t>Click to edit </a:t>
            </a:r>
            <a:br>
              <a:rPr lang="en-US" sz="3200" b="0" i="0" u="none" baseline="0">
                <a:solidFill>
                  <a:srgbClr val="000000"/>
                </a:solidFill>
                <a:latin typeface="Arial"/>
                <a:ea typeface="Arial"/>
              </a:rPr>
            </a:br>
            <a:r>
              <a:rPr lang="en-US" sz="3200" b="0" i="0" u="none" baseline="0">
                <a:solidFill>
                  <a:srgbClr val="000000"/>
                </a:solidFill>
                <a:latin typeface="Arial"/>
                <a:ea typeface="Arial"/>
              </a:rPr>
              <a:t>Master title style</a:t>
            </a:r>
          </a:p>
        </p:txBody>
      </p:sp>
      <p:sp>
        <p:nvSpPr>
          <p:cNvPr id="13" name="AutoShape 13"/>
          <p:cNvSpPr>
            <a:spLocks noGrp="1"/>
          </p:cNvSpPr>
          <p:nvPr>
            <p:ph type="subTitle" idx="1"/>
          </p:nvPr>
        </p:nvSpPr>
        <p:spPr>
          <a:xfrm>
            <a:off x="660400" y="4842436"/>
            <a:ext cx="4062596" cy="313932"/>
          </a:xfrm>
        </p:spPr>
        <p:txBody>
          <a:bodyPr vert="horz" wrap="square" lIns="91440" tIns="45720" rIns="91440" bIns="45720" anchor="t">
            <a:spAutoFit/>
          </a:bodyPr>
          <a:lstStyle/>
          <a:p>
            <a:pPr marL="228600" indent="-228600" algn="l">
              <a:lnSpc>
                <a:spcPct val="90000"/>
              </a:lnSpc>
              <a:spcBef>
                <a:spcPct val="0"/>
              </a:spcBef>
            </a:pPr>
            <a:r>
              <a:rPr lang="en-US" sz="1600" b="0" i="0" u="none" baseline="0">
                <a:solidFill>
                  <a:srgbClr val="000000"/>
                </a:solidFill>
                <a:latin typeface="Arial"/>
                <a:ea typeface="Arial"/>
              </a:rPr>
              <a:t>Click to edit Master subtitle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0"/>
            <a:ext cx="10858500" cy="1028700"/>
          </a:xfrm>
        </p:spPr>
        <p:txBody>
          <a:bodyPr vert="horz" lIns="91440" tIns="45720" rIns="91440" bIns="45720" anchor="b">
            <a:normAutofit/>
          </a:bodyPr>
          <a:lstStyle/>
          <a:p>
            <a:pPr algn="l">
              <a:lnSpc>
                <a:spcPct val="90000"/>
              </a:lnSpc>
              <a:spcBef>
                <a:spcPct val="0"/>
              </a:spcBef>
            </a:pPr>
            <a:r>
              <a:rPr lang="en-US" sz="2800" b="1" i="0" u="none" baseline="0">
                <a:solidFill>
                  <a:srgbClr val="000000"/>
                </a:solidFill>
                <a:latin typeface="Arial"/>
                <a:ea typeface="Arial"/>
              </a:rPr>
              <a:t>Click to edit Master title style</a:t>
            </a:r>
          </a:p>
        </p:txBody>
      </p:sp>
      <p:sp>
        <p:nvSpPr>
          <p:cNvPr id="3" name="AutoShape 3"/>
          <p:cNvSpPr>
            <a:spLocks noGrp="1"/>
          </p:cNvSpPr>
          <p:nvPr>
            <p:ph idx="1"/>
          </p:nvPr>
        </p:nvSpPr>
        <p:spPr>
          <a:xfrm>
            <a:off x="660400" y="1130300"/>
            <a:ext cx="10858500" cy="5003800"/>
          </a:xfrm>
        </p:spPr>
        <p:txBody>
          <a:bodyPr vert="horz" lIns="91440" tIns="45720" rIns="91440" bIns="45720" anchor="t">
            <a:normAutofit/>
          </a:bodyPr>
          <a:lstStyle/>
          <a:p>
            <a:pPr marL="228600" indent="-228600" algn="l">
              <a:lnSpc>
                <a:spcPct val="90000"/>
              </a:lnSpc>
              <a:spcBef>
                <a:spcPts val="1000"/>
              </a:spcBef>
            </a:pPr>
            <a:r>
              <a:rPr lang="en-US" sz="1800" b="0" i="0" u="none" baseline="0">
                <a:solidFill>
                  <a:srgbClr val="000000"/>
                </a:solidFill>
                <a:latin typeface="Arial"/>
                <a:ea typeface="Arial"/>
              </a:rPr>
              <a:t>Click to edit Master text styles</a:t>
            </a:r>
          </a:p>
          <a:p>
            <a:pPr marL="685800" lvl="1" indent="-228600" algn="l">
              <a:lnSpc>
                <a:spcPct val="90000"/>
              </a:lnSpc>
              <a:spcBef>
                <a:spcPts val="500"/>
              </a:spcBef>
            </a:pPr>
            <a:r>
              <a:rPr lang="en-US" sz="1600" b="0" i="0" u="none" baseline="0">
                <a:solidFill>
                  <a:srgbClr val="000000"/>
                </a:solidFill>
                <a:latin typeface="Arial"/>
                <a:ea typeface="Arial"/>
              </a:rPr>
              <a:t>Second level</a:t>
            </a:r>
          </a:p>
          <a:p>
            <a:pPr marL="1143000" lvl="2" indent="-228600" algn="l">
              <a:lnSpc>
                <a:spcPct val="90000"/>
              </a:lnSpc>
              <a:spcBef>
                <a:spcPts val="500"/>
              </a:spcBef>
            </a:pPr>
            <a:r>
              <a:rPr lang="en-US" sz="1400" b="0" i="0" u="none" baseline="0">
                <a:solidFill>
                  <a:srgbClr val="000000"/>
                </a:solidFill>
                <a:latin typeface="Arial"/>
                <a:ea typeface="Arial"/>
              </a:rPr>
              <a:t>Third level</a:t>
            </a:r>
          </a:p>
          <a:p>
            <a:pPr marL="1600200" lvl="3" indent="-228600" algn="l">
              <a:lnSpc>
                <a:spcPct val="90000"/>
              </a:lnSpc>
              <a:spcBef>
                <a:spcPts val="500"/>
              </a:spcBef>
            </a:pPr>
            <a:r>
              <a:rPr lang="en-US" sz="1200" b="0" i="0" u="none" baseline="0">
                <a:solidFill>
                  <a:srgbClr val="000000"/>
                </a:solidFill>
                <a:latin typeface="Arial"/>
                <a:ea typeface="Arial"/>
              </a:rPr>
              <a:t>Fourth level</a:t>
            </a:r>
          </a:p>
          <a:p>
            <a:pPr marL="2057400" lvl="4" indent="-228600" algn="l">
              <a:lnSpc>
                <a:spcPct val="90000"/>
              </a:lnSpc>
              <a:spcBef>
                <a:spcPts val="500"/>
              </a:spcBef>
            </a:pPr>
            <a:r>
              <a:rPr lang="en-US" sz="1200" b="0" i="0" u="none" baseline="0">
                <a:solidFill>
                  <a:srgbClr val="000000"/>
                </a:solidFill>
                <a:latin typeface="Arial"/>
                <a:ea typeface="Arial"/>
              </a:rPr>
              <a:t>Fifth level</a:t>
            </a:r>
          </a:p>
        </p:txBody>
      </p:sp>
      <p:sp>
        <p:nvSpPr>
          <p:cNvPr id="4" name="AutoShape 4"/>
          <p:cNvSpPr>
            <a:spLocks noGrp="1"/>
          </p:cNvSpPr>
          <p:nvPr>
            <p:ph type="dt" sz="half" idx="10"/>
          </p:nvPr>
        </p:nvSpPr>
        <p:spPr>
          <a:xfrm>
            <a:off x="5504656" y="6438900"/>
            <a:ext cx="1802924" cy="215900"/>
          </a:xfrm>
        </p:spPr>
        <p:txBody>
          <a:bodyPr vert="horz" lIns="91440" tIns="45720" rIns="91440" bIns="45720" anchor="ctr">
            <a:normAutofit/>
          </a:bodyPr>
          <a:lstStyle/>
          <a:p>
            <a:pPr marL="0" algn="ctr"/>
            <a:r>
              <a:rPr lang="zh-CN" altLang="en-US" sz="1000" b="0" i="0" u="none" baseline="0">
                <a:solidFill>
                  <a:srgbClr val="000000">
                    <a:lumMod val="50000"/>
                    <a:lumOff val="50000"/>
                  </a:srgbClr>
                </a:solidFill>
                <a:latin typeface="Arial"/>
                <a:ea typeface="Arial"/>
              </a:rPr>
              <a:t>2024/8/5</a:t>
            </a:r>
          </a:p>
        </p:txBody>
      </p:sp>
      <p:sp>
        <p:nvSpPr>
          <p:cNvPr id="5" name="AutoShape 5"/>
          <p:cNvSpPr>
            <a:spLocks noGrp="1"/>
          </p:cNvSpPr>
          <p:nvPr>
            <p:ph type="ftr" sz="quarter" idx="11"/>
          </p:nvPr>
        </p:nvSpPr>
        <p:spPr>
          <a:xfrm>
            <a:off x="660401" y="6438900"/>
            <a:ext cx="3992171" cy="215900"/>
          </a:xfrm>
        </p:spPr>
        <p:txBody>
          <a:bodyPr vert="horz" lIns="91440" tIns="45720" rIns="91440" bIns="45720" anchor="ctr">
            <a:normAutofit/>
          </a:bodyPr>
          <a:lstStyle/>
          <a:p>
            <a:pPr marL="0" algn="l"/>
            <a:endParaRPr/>
          </a:p>
        </p:txBody>
      </p:sp>
      <p:sp>
        <p:nvSpPr>
          <p:cNvPr id="6" name="AutoShape 6"/>
          <p:cNvSpPr>
            <a:spLocks noGrp="1"/>
          </p:cNvSpPr>
          <p:nvPr>
            <p:ph type="sldNum" sz="quarter" idx="12"/>
          </p:nvPr>
        </p:nvSpPr>
        <p:spPr>
          <a:xfrm>
            <a:off x="8857452" y="6438900"/>
            <a:ext cx="2661448" cy="215900"/>
          </a:xfrm>
        </p:spPr>
        <p:txBody>
          <a:bodyPr vert="horz" lIns="91440" tIns="45720" rIns="91440" bIns="45720" anchor="ctr">
            <a:normAutofit/>
          </a:bodyPr>
          <a:lstStyle/>
          <a:p>
            <a:pPr marL="0" algn="r"/>
            <a:fld id="{3386411A-70EE-422D-B97C-F56BEE3FF077}" type="slidenum">
              <a:rPr lang="zh-CN" altLang="en-US" sz="1000" b="0" i="0" u="none" baseline="0">
                <a:solidFill>
                  <a:srgbClr val="000000">
                    <a:lumMod val="50000"/>
                    <a:lumOff val="50000"/>
                  </a:srgbClr>
                </a:solidFill>
                <a:latin typeface="Arial"/>
                <a:ea typeface="Arial"/>
              </a:rPr>
              <a:t>‹#›</a:t>
            </a:fld>
            <a:endParaRPr lang="zh-CN" altLang="en-US" sz="1000" b="0" i="0" u="none" baseline="0">
              <a:solidFill>
                <a:srgbClr val="000000">
                  <a:lumMod val="50000"/>
                  <a:lumOff val="50000"/>
                </a:srgbClr>
              </a:solidFill>
              <a:latin typeface="Arial"/>
              <a:ea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body" sz="quarter" idx="14"/>
          </p:nvPr>
        </p:nvSpPr>
        <p:spPr>
          <a:xfrm>
            <a:off x="660400" y="1500188"/>
            <a:ext cx="2836562" cy="594626"/>
          </a:xfrm>
        </p:spPr>
        <p:txBody>
          <a:bodyPr vert="horz" lIns="91440" tIns="45720" rIns="91440" bIns="45720" anchor="t">
            <a:normAutofit/>
          </a:bodyPr>
          <a:lstStyle/>
          <a:p>
            <a:pPr marL="0" indent="0" algn="r">
              <a:lnSpc>
                <a:spcPct val="90000"/>
              </a:lnSpc>
              <a:spcBef>
                <a:spcPts val="1000"/>
              </a:spcBef>
            </a:pPr>
            <a:r>
              <a:rPr lang="en-US" sz="2400" b="1" i="0" u="none" baseline="0">
                <a:solidFill>
                  <a:srgbClr val="000000"/>
                </a:solidFill>
                <a:latin typeface="Arial"/>
                <a:ea typeface="Arial"/>
              </a:rPr>
              <a:t>CONTENTS</a:t>
            </a:r>
          </a:p>
        </p:txBody>
      </p:sp>
      <p:sp>
        <p:nvSpPr>
          <p:cNvPr id="3" name="AutoShape 3"/>
          <p:cNvSpPr>
            <a:spLocks noGrp="1"/>
          </p:cNvSpPr>
          <p:nvPr>
            <p:ph type="body" sz="quarter" idx="13"/>
          </p:nvPr>
        </p:nvSpPr>
        <p:spPr>
          <a:xfrm>
            <a:off x="3647836" y="1500187"/>
            <a:ext cx="7871045" cy="4633913"/>
          </a:xfrm>
        </p:spPr>
        <p:txBody>
          <a:bodyPr vert="horz" lIns="91440" tIns="45720" rIns="91440" bIns="45720" anchor="t">
            <a:normAutofit/>
          </a:bodyPr>
          <a:lstStyle/>
          <a:p>
            <a:pPr marL="342900" indent="-342900" algn="l">
              <a:lnSpc>
                <a:spcPct val="90000"/>
              </a:lnSpc>
              <a:spcBef>
                <a:spcPts val="1000"/>
              </a:spcBef>
            </a:pPr>
            <a:r>
              <a:rPr lang="en-US" sz="1800" b="0" i="0" u="none" baseline="0">
                <a:solidFill>
                  <a:srgbClr val="000000"/>
                </a:solidFill>
                <a:latin typeface="Arial"/>
                <a:ea typeface="Arial"/>
              </a:rPr>
              <a:t>Click to edit Master text styles</a:t>
            </a:r>
          </a:p>
          <a:p>
            <a:pPr marL="800100" lvl="1" indent="-342900" algn="l">
              <a:lnSpc>
                <a:spcPct val="90000"/>
              </a:lnSpc>
              <a:spcBef>
                <a:spcPts val="500"/>
              </a:spcBef>
            </a:pPr>
            <a:r>
              <a:rPr lang="en-US" sz="1600" b="0" i="0" u="none" baseline="0">
                <a:solidFill>
                  <a:srgbClr val="000000"/>
                </a:solidFill>
                <a:latin typeface="Arial"/>
                <a:ea typeface="Arial"/>
              </a:rPr>
              <a:t>Second level</a:t>
            </a:r>
          </a:p>
          <a:p>
            <a:pPr marL="1257300" lvl="2" indent="-342900" algn="l">
              <a:lnSpc>
                <a:spcPct val="90000"/>
              </a:lnSpc>
              <a:spcBef>
                <a:spcPts val="500"/>
              </a:spcBef>
            </a:pPr>
            <a:r>
              <a:rPr lang="en-US" sz="1400" b="0" i="0" u="none" baseline="0">
                <a:solidFill>
                  <a:srgbClr val="000000"/>
                </a:solidFill>
                <a:latin typeface="Arial"/>
                <a:ea typeface="Arial"/>
              </a:rPr>
              <a:t>Third level</a:t>
            </a:r>
          </a:p>
          <a:p>
            <a:pPr marL="1600200" lvl="3" indent="-228600" algn="l">
              <a:lnSpc>
                <a:spcPct val="90000"/>
              </a:lnSpc>
              <a:spcBef>
                <a:spcPts val="500"/>
              </a:spcBef>
            </a:pPr>
            <a:r>
              <a:rPr lang="en-US" sz="1200" b="0" i="0" u="none" baseline="0">
                <a:solidFill>
                  <a:srgbClr val="000000"/>
                </a:solidFill>
                <a:latin typeface="Arial"/>
                <a:ea typeface="Arial"/>
              </a:rPr>
              <a:t>Fourth level</a:t>
            </a:r>
          </a:p>
          <a:p>
            <a:pPr marL="2057400" lvl="4" indent="-228600" algn="l">
              <a:lnSpc>
                <a:spcPct val="90000"/>
              </a:lnSpc>
              <a:spcBef>
                <a:spcPts val="500"/>
              </a:spcBef>
            </a:pPr>
            <a:r>
              <a:rPr lang="en-US" sz="1200" b="0" i="0" u="none" baseline="0">
                <a:solidFill>
                  <a:srgbClr val="000000"/>
                </a:solidFill>
                <a:latin typeface="Arial"/>
                <a:ea typeface="Arial"/>
              </a:rPr>
              <a:t>Fifth level</a:t>
            </a:r>
          </a:p>
        </p:txBody>
      </p:sp>
      <p:sp>
        <p:nvSpPr>
          <p:cNvPr id="4" name="AutoShape 4"/>
          <p:cNvSpPr>
            <a:spLocks noGrp="1"/>
          </p:cNvSpPr>
          <p:nvPr>
            <p:ph type="ftr" sz="quarter" idx="10"/>
          </p:nvPr>
        </p:nvSpPr>
        <p:spPr>
          <a:xfrm>
            <a:off x="660401" y="6438900"/>
            <a:ext cx="3992171" cy="215900"/>
          </a:xfrm>
        </p:spPr>
        <p:txBody>
          <a:bodyPr vert="horz" lIns="91440" tIns="45720" rIns="91440" bIns="45720" anchor="ctr">
            <a:normAutofit/>
          </a:bodyPr>
          <a:lstStyle/>
          <a:p>
            <a:pPr marL="0" algn="l"/>
            <a:endParaRPr/>
          </a:p>
        </p:txBody>
      </p:sp>
      <p:sp>
        <p:nvSpPr>
          <p:cNvPr id="5" name="AutoShape 5"/>
          <p:cNvSpPr>
            <a:spLocks noGrp="1"/>
          </p:cNvSpPr>
          <p:nvPr>
            <p:ph type="dt" sz="half" idx="11"/>
          </p:nvPr>
        </p:nvSpPr>
        <p:spPr>
          <a:xfrm>
            <a:off x="5504656" y="6438900"/>
            <a:ext cx="1802924" cy="215900"/>
          </a:xfrm>
        </p:spPr>
        <p:txBody>
          <a:bodyPr vert="horz" lIns="91440" tIns="45720" rIns="91440" bIns="45720" anchor="ctr">
            <a:normAutofit/>
          </a:bodyPr>
          <a:lstStyle/>
          <a:p>
            <a:pPr marL="0" algn="ctr"/>
            <a:r>
              <a:rPr lang="zh-CN" altLang="en-US" sz="1000" b="0" i="0" u="none" baseline="0">
                <a:solidFill>
                  <a:srgbClr val="000000">
                    <a:lumMod val="50000"/>
                    <a:lumOff val="50000"/>
                  </a:srgbClr>
                </a:solidFill>
                <a:latin typeface="Arial"/>
                <a:ea typeface="Arial"/>
              </a:rPr>
              <a:t>2024/8/5</a:t>
            </a:r>
          </a:p>
        </p:txBody>
      </p:sp>
      <p:sp>
        <p:nvSpPr>
          <p:cNvPr id="6" name="AutoShape 6"/>
          <p:cNvSpPr>
            <a:spLocks noGrp="1"/>
          </p:cNvSpPr>
          <p:nvPr>
            <p:ph type="sldNum" sz="quarter" idx="12"/>
          </p:nvPr>
        </p:nvSpPr>
        <p:spPr>
          <a:xfrm>
            <a:off x="8857452" y="6438900"/>
            <a:ext cx="2661448" cy="215900"/>
          </a:xfrm>
        </p:spPr>
        <p:txBody>
          <a:bodyPr vert="horz" lIns="91440" tIns="45720" rIns="91440" bIns="45720" anchor="ctr">
            <a:normAutofit/>
          </a:bodyPr>
          <a:lstStyle/>
          <a:p>
            <a:pPr marL="0" algn="r"/>
            <a:fld id="{3386411A-70EE-422D-B97C-F56BEE3FF077}" type="slidenum">
              <a:rPr lang="en-US" sz="1000" b="0" i="0" u="none" baseline="0">
                <a:solidFill>
                  <a:srgbClr val="000000">
                    <a:lumMod val="50000"/>
                    <a:lumOff val="50000"/>
                  </a:srgbClr>
                </a:solidFill>
                <a:latin typeface="Arial"/>
                <a:ea typeface="Arial"/>
              </a:rPr>
              <a:t>‹#›</a:t>
            </a:fld>
            <a:endParaRPr lang="en-US" sz="1000" b="0" i="0" u="none" baseline="0">
              <a:solidFill>
                <a:srgbClr val="000000">
                  <a:lumMod val="50000"/>
                  <a:lumOff val="50000"/>
                </a:srgbClr>
              </a:solidFill>
              <a:latin typeface="Arial"/>
              <a:ea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节标题">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grpSp>
        <p:nvGrpSpPr>
          <p:cNvPr id="2" name="Group 2"/>
          <p:cNvGrpSpPr/>
          <p:nvPr/>
        </p:nvGrpSpPr>
        <p:grpSpPr>
          <a:xfrm flipH="1">
            <a:off x="0" y="-22225"/>
            <a:ext cx="8359843" cy="6880225"/>
            <a:chOff x="3832157" y="-22225"/>
            <a:chExt cx="8359843" cy="6880225"/>
          </a:xfrm>
        </p:grpSpPr>
        <p:grpSp>
          <p:nvGrpSpPr>
            <p:cNvPr id="3" name="Group 3"/>
            <p:cNvGrpSpPr/>
            <p:nvPr/>
          </p:nvGrpSpPr>
          <p:grpSpPr>
            <a:xfrm>
              <a:off x="4548188" y="0"/>
              <a:ext cx="7643812" cy="6858000"/>
              <a:chOff x="4548188" y="0"/>
              <a:chExt cx="7643812" cy="6858000"/>
            </a:xfrm>
          </p:grpSpPr>
          <p:sp>
            <p:nvSpPr>
              <p:cNvPr id="4" name="Freeform 4"/>
              <p:cNvSpPr/>
              <p:nvPr/>
            </p:nvSpPr>
            <p:spPr>
              <a:xfrm>
                <a:off x="4548188" y="0"/>
                <a:ext cx="7643812" cy="6858000"/>
              </a:xfrm>
              <a:custGeom>
                <a:avLst/>
                <a:gdLst/>
                <a:ahLst/>
                <a:cxnLst/>
                <a:rect l="l" t="t" r="r" b="b"/>
                <a:pathLst>
                  <a:path w="4815" h="4320">
                    <a:moveTo>
                      <a:pt x="4815" y="4320"/>
                    </a:moveTo>
                    <a:lnTo>
                      <a:pt x="0" y="4320"/>
                    </a:lnTo>
                    <a:lnTo>
                      <a:pt x="1040" y="0"/>
                    </a:lnTo>
                    <a:lnTo>
                      <a:pt x="4815" y="0"/>
                    </a:lnTo>
                    <a:lnTo>
                      <a:pt x="4815" y="4320"/>
                    </a:lnTo>
                    <a:close/>
                  </a:path>
                </a:pathLst>
              </a:custGeom>
              <a:blipFill>
                <a:blip r:embed="rId2"/>
                <a:stretch>
                  <a:fillRect/>
                </a:stretch>
              </a:blipFill>
            </p:spPr>
            <p:txBody>
              <a:bodyPr vert="horz" wrap="square" lIns="91440" tIns="45720" rIns="91440" bIns="45720" anchor="t">
                <a:prstTxWarp prst="textNoShape">
                  <a:avLst/>
                </a:prstTxWarp>
                <a:normAutofit/>
              </a:bodyPr>
              <a:lstStyle/>
              <a:p>
                <a:pPr marL="0" algn="l"/>
                <a:endParaRPr/>
              </a:p>
            </p:txBody>
          </p:sp>
          <p:sp>
            <p:nvSpPr>
              <p:cNvPr id="5" name="Freeform 5"/>
              <p:cNvSpPr/>
              <p:nvPr/>
            </p:nvSpPr>
            <p:spPr>
              <a:xfrm>
                <a:off x="4548188" y="0"/>
                <a:ext cx="7643812" cy="6858000"/>
              </a:xfrm>
              <a:custGeom>
                <a:avLst/>
                <a:gdLst/>
                <a:ahLst/>
                <a:cxnLst/>
                <a:rect l="l" t="t" r="r" b="b"/>
                <a:pathLst>
                  <a:path w="4815" h="4320">
                    <a:moveTo>
                      <a:pt x="4815" y="4320"/>
                    </a:moveTo>
                    <a:lnTo>
                      <a:pt x="0" y="4320"/>
                    </a:lnTo>
                    <a:lnTo>
                      <a:pt x="1040" y="0"/>
                    </a:lnTo>
                    <a:lnTo>
                      <a:pt x="4815" y="0"/>
                    </a:lnTo>
                    <a:lnTo>
                      <a:pt x="4815" y="4320"/>
                    </a:lnTo>
                    <a:close/>
                  </a:path>
                </a:pathLst>
              </a:custGeom>
              <a:solidFill>
                <a:schemeClr val="accent4">
                  <a:alpha val="50000"/>
                </a:schemeClr>
              </a:solidFill>
            </p:spPr>
            <p:txBody>
              <a:bodyPr vert="horz" wrap="square" lIns="91440" tIns="45720" rIns="91440" bIns="45720" anchor="t">
                <a:prstTxWarp prst="textNoShape">
                  <a:avLst/>
                </a:prstTxWarp>
                <a:normAutofit/>
              </a:bodyPr>
              <a:lstStyle/>
              <a:p>
                <a:pPr marL="0" algn="l"/>
                <a:endParaRPr/>
              </a:p>
            </p:txBody>
          </p:sp>
        </p:grpSp>
        <p:grpSp>
          <p:nvGrpSpPr>
            <p:cNvPr id="6" name="Group 6"/>
            <p:cNvGrpSpPr/>
            <p:nvPr/>
          </p:nvGrpSpPr>
          <p:grpSpPr>
            <a:xfrm>
              <a:off x="3832157" y="-22225"/>
              <a:ext cx="3117918" cy="6880225"/>
              <a:chOff x="3832157" y="-22225"/>
              <a:chExt cx="3117918" cy="6880225"/>
            </a:xfrm>
          </p:grpSpPr>
          <p:sp>
            <p:nvSpPr>
              <p:cNvPr id="7" name="Freeform 7"/>
              <p:cNvSpPr/>
              <p:nvPr/>
            </p:nvSpPr>
            <p:spPr>
              <a:xfrm>
                <a:off x="6096000" y="0"/>
                <a:ext cx="854075" cy="3171825"/>
              </a:xfrm>
              <a:custGeom>
                <a:avLst/>
                <a:gdLst/>
                <a:ahLst/>
                <a:cxnLst/>
                <a:rect l="l" t="t" r="r" b="b"/>
                <a:pathLst>
                  <a:path w="538" h="1998">
                    <a:moveTo>
                      <a:pt x="64" y="1998"/>
                    </a:moveTo>
                    <a:lnTo>
                      <a:pt x="0" y="1998"/>
                    </a:lnTo>
                    <a:lnTo>
                      <a:pt x="474" y="0"/>
                    </a:lnTo>
                    <a:lnTo>
                      <a:pt x="538" y="0"/>
                    </a:lnTo>
                    <a:lnTo>
                      <a:pt x="64" y="1998"/>
                    </a:lnTo>
                    <a:close/>
                  </a:path>
                </a:pathLst>
              </a:custGeom>
              <a:solidFill>
                <a:srgbClr val="FFFFFF"/>
              </a:solidFill>
            </p:spPr>
            <p:txBody>
              <a:bodyPr vert="horz" wrap="square" lIns="91440" tIns="45720" rIns="91440" bIns="45720" anchor="t">
                <a:prstTxWarp prst="textNoShape">
                  <a:avLst/>
                </a:prstTxWarp>
                <a:normAutofit/>
              </a:bodyPr>
              <a:lstStyle/>
              <a:p>
                <a:pPr marL="0" algn="l"/>
                <a:endParaRPr/>
              </a:p>
            </p:txBody>
          </p:sp>
          <p:sp>
            <p:nvSpPr>
              <p:cNvPr id="8" name="Freeform 8"/>
              <p:cNvSpPr/>
              <p:nvPr/>
            </p:nvSpPr>
            <p:spPr>
              <a:xfrm>
                <a:off x="5269041" y="5100638"/>
                <a:ext cx="582612" cy="1757362"/>
              </a:xfrm>
              <a:custGeom>
                <a:avLst/>
                <a:gdLst/>
                <a:ahLst/>
                <a:cxnLst/>
                <a:rect l="l" t="t" r="r" b="b"/>
                <a:pathLst>
                  <a:path w="367" h="1107">
                    <a:moveTo>
                      <a:pt x="104" y="1107"/>
                    </a:moveTo>
                    <a:lnTo>
                      <a:pt x="0" y="1107"/>
                    </a:lnTo>
                    <a:lnTo>
                      <a:pt x="263" y="0"/>
                    </a:lnTo>
                    <a:lnTo>
                      <a:pt x="367" y="0"/>
                    </a:lnTo>
                    <a:lnTo>
                      <a:pt x="104" y="1107"/>
                    </a:lnTo>
                    <a:close/>
                  </a:path>
                </a:pathLst>
              </a:custGeom>
              <a:solidFill>
                <a:srgbClr val="FFFFFF"/>
              </a:solidFill>
            </p:spPr>
            <p:txBody>
              <a:bodyPr vert="horz" wrap="square" lIns="91440" tIns="45720" rIns="91440" bIns="45720" anchor="t">
                <a:prstTxWarp prst="textNoShape">
                  <a:avLst/>
                </a:prstTxWarp>
                <a:normAutofit/>
              </a:bodyPr>
              <a:lstStyle/>
              <a:p>
                <a:pPr marL="0" algn="l"/>
                <a:endParaRPr/>
              </a:p>
            </p:txBody>
          </p:sp>
          <p:sp>
            <p:nvSpPr>
              <p:cNvPr id="9" name="Freeform 9"/>
              <p:cNvSpPr/>
              <p:nvPr/>
            </p:nvSpPr>
            <p:spPr>
              <a:xfrm>
                <a:off x="5019392" y="474209"/>
                <a:ext cx="1560512" cy="2028825"/>
              </a:xfrm>
              <a:custGeom>
                <a:avLst/>
                <a:gdLst/>
                <a:ahLst/>
                <a:cxnLst/>
                <a:rect l="l" t="t" r="r" b="b"/>
                <a:pathLst>
                  <a:path w="983" h="1278">
                    <a:moveTo>
                      <a:pt x="983" y="0"/>
                    </a:moveTo>
                    <a:lnTo>
                      <a:pt x="307" y="0"/>
                    </a:lnTo>
                    <a:lnTo>
                      <a:pt x="0" y="1278"/>
                    </a:lnTo>
                    <a:lnTo>
                      <a:pt x="675" y="1278"/>
                    </a:lnTo>
                    <a:lnTo>
                      <a:pt x="983" y="0"/>
                    </a:lnTo>
                    <a:close/>
                  </a:path>
                </a:pathLst>
              </a:custGeom>
              <a:solidFill>
                <a:schemeClr val="accent1">
                  <a:alpha val="40000"/>
                </a:schemeClr>
              </a:solidFill>
            </p:spPr>
            <p:txBody>
              <a:bodyPr vert="horz" wrap="square" lIns="91440" tIns="45720" rIns="91440" bIns="45720" anchor="t">
                <a:prstTxWarp prst="textNoShape">
                  <a:avLst/>
                </a:prstTxWarp>
                <a:normAutofit/>
              </a:bodyPr>
              <a:lstStyle/>
              <a:p>
                <a:pPr marL="0" algn="l"/>
                <a:endParaRPr/>
              </a:p>
            </p:txBody>
          </p:sp>
          <p:sp>
            <p:nvSpPr>
              <p:cNvPr id="10" name="Freeform 10"/>
              <p:cNvSpPr/>
              <p:nvPr/>
            </p:nvSpPr>
            <p:spPr>
              <a:xfrm>
                <a:off x="5084763" y="-22225"/>
                <a:ext cx="1560512" cy="2028825"/>
              </a:xfrm>
              <a:custGeom>
                <a:avLst/>
                <a:gdLst/>
                <a:ahLst/>
                <a:cxnLst/>
                <a:rect l="l" t="t" r="r" b="b"/>
                <a:pathLst>
                  <a:path w="983" h="1278">
                    <a:moveTo>
                      <a:pt x="983" y="0"/>
                    </a:moveTo>
                    <a:lnTo>
                      <a:pt x="307" y="0"/>
                    </a:lnTo>
                    <a:lnTo>
                      <a:pt x="0" y="1278"/>
                    </a:lnTo>
                    <a:lnTo>
                      <a:pt x="675" y="1278"/>
                    </a:lnTo>
                    <a:lnTo>
                      <a:pt x="983" y="0"/>
                    </a:lnTo>
                  </a:path>
                </a:pathLst>
              </a:custGeom>
              <a:noFill/>
            </p:spPr>
            <p:txBody>
              <a:bodyPr vert="horz" wrap="square" lIns="91440" tIns="45720" rIns="91440" bIns="45720" anchor="t">
                <a:prstTxWarp prst="textNoShape">
                  <a:avLst/>
                </a:prstTxWarp>
                <a:normAutofit/>
              </a:bodyPr>
              <a:lstStyle/>
              <a:p>
                <a:pPr marL="0" algn="l"/>
                <a:endParaRPr/>
              </a:p>
            </p:txBody>
          </p:sp>
          <p:sp>
            <p:nvSpPr>
              <p:cNvPr id="11" name="Freeform 11"/>
              <p:cNvSpPr/>
              <p:nvPr/>
            </p:nvSpPr>
            <p:spPr>
              <a:xfrm>
                <a:off x="3832157" y="4000500"/>
                <a:ext cx="1743075" cy="2857500"/>
              </a:xfrm>
              <a:custGeom>
                <a:avLst/>
                <a:gdLst/>
                <a:ahLst/>
                <a:cxnLst/>
                <a:rect l="l" t="t" r="r" b="b"/>
                <a:pathLst>
                  <a:path w="1098" h="1800">
                    <a:moveTo>
                      <a:pt x="1098" y="0"/>
                    </a:moveTo>
                    <a:lnTo>
                      <a:pt x="423" y="0"/>
                    </a:lnTo>
                    <a:lnTo>
                      <a:pt x="0" y="1800"/>
                    </a:lnTo>
                    <a:lnTo>
                      <a:pt x="676" y="1800"/>
                    </a:lnTo>
                    <a:lnTo>
                      <a:pt x="1098" y="0"/>
                    </a:lnTo>
                    <a:close/>
                  </a:path>
                </a:pathLst>
              </a:custGeom>
              <a:solidFill>
                <a:schemeClr val="accent2">
                  <a:alpha val="40000"/>
                </a:schemeClr>
              </a:solidFill>
            </p:spPr>
            <p:txBody>
              <a:bodyPr vert="horz" wrap="square" lIns="91440" tIns="45720" rIns="91440" bIns="45720" anchor="t">
                <a:prstTxWarp prst="textNoShape">
                  <a:avLst/>
                </a:prstTxWarp>
                <a:normAutofit/>
              </a:bodyPr>
              <a:lstStyle/>
              <a:p>
                <a:pPr marL="0" algn="l"/>
                <a:endParaRPr/>
              </a:p>
            </p:txBody>
          </p:sp>
        </p:grpSp>
      </p:grpSp>
      <p:sp>
        <p:nvSpPr>
          <p:cNvPr id="12" name="AutoShape 12"/>
          <p:cNvSpPr>
            <a:spLocks noGrp="1"/>
          </p:cNvSpPr>
          <p:nvPr>
            <p:ph type="title"/>
          </p:nvPr>
        </p:nvSpPr>
        <p:spPr>
          <a:xfrm>
            <a:off x="7024912" y="2875002"/>
            <a:ext cx="4493987" cy="1200329"/>
          </a:xfrm>
        </p:spPr>
        <p:txBody>
          <a:bodyPr vert="horz" wrap="square" lIns="91440" tIns="45720" rIns="91440" bIns="45720" anchor="b">
            <a:spAutoFit/>
          </a:bodyPr>
          <a:lstStyle/>
          <a:p>
            <a:pPr algn="r">
              <a:lnSpc>
                <a:spcPct val="90000"/>
              </a:lnSpc>
              <a:spcBef>
                <a:spcPct val="0"/>
              </a:spcBef>
            </a:pPr>
            <a:r>
              <a:rPr lang="en-US" sz="4000" b="1" i="0" u="none" baseline="0">
                <a:solidFill>
                  <a:srgbClr val="000000"/>
                </a:solidFill>
                <a:latin typeface="Arial"/>
                <a:ea typeface="Arial"/>
              </a:rPr>
              <a:t>Click to edit Master title style</a:t>
            </a:r>
          </a:p>
        </p:txBody>
      </p:sp>
      <p:sp>
        <p:nvSpPr>
          <p:cNvPr id="13" name="AutoShape 13"/>
          <p:cNvSpPr>
            <a:spLocks noGrp="1"/>
          </p:cNvSpPr>
          <p:nvPr>
            <p:ph type="body" idx="1"/>
          </p:nvPr>
        </p:nvSpPr>
        <p:spPr>
          <a:xfrm>
            <a:off x="7024912" y="4075331"/>
            <a:ext cx="4493987" cy="258532"/>
          </a:xfrm>
        </p:spPr>
        <p:txBody>
          <a:bodyPr vert="horz" wrap="square" lIns="91440" tIns="45720" rIns="91440" bIns="45720" anchor="t">
            <a:spAutoFit/>
          </a:bodyPr>
          <a:lstStyle/>
          <a:p>
            <a:pPr marL="0" indent="0" algn="r">
              <a:lnSpc>
                <a:spcPct val="90000"/>
              </a:lnSpc>
              <a:spcBef>
                <a:spcPts val="1000"/>
              </a:spcBef>
            </a:pPr>
            <a:r>
              <a:rPr lang="en-US" sz="1200" b="0" i="0" u="none" baseline="0">
                <a:solidFill>
                  <a:srgbClr val="000000"/>
                </a:solidFill>
                <a:latin typeface="Arial"/>
                <a:ea typeface="Arial"/>
              </a:rPr>
              <a:t>Click to edit Master text styles</a:t>
            </a:r>
          </a:p>
        </p:txBody>
      </p:sp>
      <p:sp>
        <p:nvSpPr>
          <p:cNvPr id="14" name="AutoShape 14"/>
          <p:cNvSpPr>
            <a:spLocks noGrp="1"/>
          </p:cNvSpPr>
          <p:nvPr>
            <p:ph type="dt" sz="half" idx="10"/>
          </p:nvPr>
        </p:nvSpPr>
        <p:spPr>
          <a:xfrm>
            <a:off x="5504656" y="6438900"/>
            <a:ext cx="1802924" cy="215900"/>
          </a:xfrm>
        </p:spPr>
        <p:txBody>
          <a:bodyPr vert="horz" lIns="91440" tIns="45720" rIns="91440" bIns="45720" anchor="ctr">
            <a:normAutofit/>
          </a:bodyPr>
          <a:lstStyle/>
          <a:p>
            <a:pPr marL="0" algn="ctr"/>
            <a:r>
              <a:rPr lang="en-US" sz="1000" b="0" i="0" u="none" baseline="0">
                <a:solidFill>
                  <a:srgbClr val="FFFFFF"/>
                </a:solidFill>
                <a:latin typeface="Arial"/>
                <a:ea typeface="Arial"/>
              </a:rPr>
              <a:t>8/5/24</a:t>
            </a:r>
          </a:p>
        </p:txBody>
      </p:sp>
      <p:sp>
        <p:nvSpPr>
          <p:cNvPr id="15" name="AutoShape 15"/>
          <p:cNvSpPr>
            <a:spLocks noGrp="1"/>
          </p:cNvSpPr>
          <p:nvPr>
            <p:ph type="ftr" sz="quarter" idx="11"/>
          </p:nvPr>
        </p:nvSpPr>
        <p:spPr>
          <a:xfrm>
            <a:off x="660401" y="6438900"/>
            <a:ext cx="3992171" cy="215900"/>
          </a:xfrm>
        </p:spPr>
        <p:txBody>
          <a:bodyPr vert="horz" lIns="91440" tIns="45720" rIns="91440" bIns="45720" anchor="ctr">
            <a:normAutofit/>
          </a:bodyPr>
          <a:lstStyle/>
          <a:p>
            <a:pPr marL="0" algn="l"/>
            <a:endParaRPr/>
          </a:p>
        </p:txBody>
      </p:sp>
      <p:sp>
        <p:nvSpPr>
          <p:cNvPr id="16" name="AutoShape 16"/>
          <p:cNvSpPr>
            <a:spLocks noGrp="1"/>
          </p:cNvSpPr>
          <p:nvPr>
            <p:ph type="sldNum" sz="quarter" idx="12"/>
          </p:nvPr>
        </p:nvSpPr>
        <p:spPr>
          <a:xfrm>
            <a:off x="8857452" y="6438900"/>
            <a:ext cx="2661448" cy="215900"/>
          </a:xfrm>
        </p:spPr>
        <p:txBody>
          <a:bodyPr vert="horz" lIns="91440" tIns="45720" rIns="91440" bIns="45720" anchor="ctr">
            <a:normAutofit/>
          </a:bodyPr>
          <a:lstStyle/>
          <a:p>
            <a:pPr marL="0" algn="r"/>
            <a:fld id="{3386411A-70EE-422D-B97C-F56BEE3FF077}" type="slidenum">
              <a:rPr lang="en-US" sz="1000" b="0" i="0" u="none" baseline="0">
                <a:solidFill>
                  <a:srgbClr val="000000"/>
                </a:solidFill>
                <a:latin typeface="Arial"/>
                <a:ea typeface="Arial"/>
              </a:rPr>
              <a:t>‹#›</a:t>
            </a:fld>
            <a:endParaRPr lang="en-US" sz="1000" b="0" i="0" u="none" baseline="0">
              <a:solidFill>
                <a:srgbClr val="000000"/>
              </a:solidFill>
              <a:latin typeface="Arial"/>
              <a:ea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0"/>
            <a:ext cx="10858500" cy="1028700"/>
          </a:xfrm>
        </p:spPr>
        <p:txBody>
          <a:bodyPr vert="horz" lIns="91440" tIns="45720" rIns="91440" bIns="45720" anchor="b">
            <a:normAutofit/>
          </a:bodyPr>
          <a:lstStyle/>
          <a:p>
            <a:pPr algn="l">
              <a:lnSpc>
                <a:spcPct val="90000"/>
              </a:lnSpc>
              <a:spcBef>
                <a:spcPct val="0"/>
              </a:spcBef>
            </a:pPr>
            <a:r>
              <a:rPr lang="en-US" sz="2800" b="1" i="0" u="none" baseline="0">
                <a:solidFill>
                  <a:srgbClr val="000000"/>
                </a:solidFill>
                <a:latin typeface="Arial"/>
                <a:ea typeface="Arial"/>
              </a:rPr>
              <a:t>Click to edit Master title style</a:t>
            </a:r>
          </a:p>
        </p:txBody>
      </p:sp>
      <p:sp>
        <p:nvSpPr>
          <p:cNvPr id="3" name="AutoShape 3"/>
          <p:cNvSpPr>
            <a:spLocks noGrp="1"/>
          </p:cNvSpPr>
          <p:nvPr>
            <p:ph type="dt" sz="half" idx="10"/>
          </p:nvPr>
        </p:nvSpPr>
        <p:spPr>
          <a:xfrm>
            <a:off x="5504656" y="6438900"/>
            <a:ext cx="1802924" cy="215900"/>
          </a:xfrm>
        </p:spPr>
        <p:txBody>
          <a:bodyPr vert="horz" lIns="91440" tIns="45720" rIns="91440" bIns="45720" anchor="ctr">
            <a:normAutofit/>
          </a:bodyPr>
          <a:lstStyle/>
          <a:p>
            <a:pPr marL="0" algn="ctr"/>
            <a:r>
              <a:rPr lang="zh-CN" altLang="en-US" sz="1000" b="0" i="0" u="none" baseline="0">
                <a:solidFill>
                  <a:srgbClr val="000000">
                    <a:lumMod val="50000"/>
                    <a:lumOff val="50000"/>
                  </a:srgbClr>
                </a:solidFill>
                <a:latin typeface="Arial"/>
                <a:ea typeface="Arial"/>
              </a:rPr>
              <a:t>2024/8/5</a:t>
            </a:r>
          </a:p>
        </p:txBody>
      </p:sp>
      <p:sp>
        <p:nvSpPr>
          <p:cNvPr id="4" name="AutoShape 4"/>
          <p:cNvSpPr>
            <a:spLocks noGrp="1"/>
          </p:cNvSpPr>
          <p:nvPr>
            <p:ph type="ftr" sz="quarter" idx="11"/>
          </p:nvPr>
        </p:nvSpPr>
        <p:spPr>
          <a:xfrm>
            <a:off x="660401" y="6438900"/>
            <a:ext cx="3992171" cy="215900"/>
          </a:xfrm>
        </p:spPr>
        <p:txBody>
          <a:bodyPr vert="horz" lIns="91440" tIns="45720" rIns="91440" bIns="45720" anchor="ctr">
            <a:normAutofit/>
          </a:bodyPr>
          <a:lstStyle/>
          <a:p>
            <a:pPr marL="0" algn="l"/>
            <a:endParaRPr/>
          </a:p>
        </p:txBody>
      </p:sp>
      <p:sp>
        <p:nvSpPr>
          <p:cNvPr id="5" name="AutoShape 5"/>
          <p:cNvSpPr>
            <a:spLocks noGrp="1"/>
          </p:cNvSpPr>
          <p:nvPr>
            <p:ph type="sldNum" sz="quarter" idx="12"/>
          </p:nvPr>
        </p:nvSpPr>
        <p:spPr>
          <a:xfrm>
            <a:off x="8857452" y="6438900"/>
            <a:ext cx="2661448" cy="215900"/>
          </a:xfrm>
        </p:spPr>
        <p:txBody>
          <a:bodyPr vert="horz" lIns="91440" tIns="45720" rIns="91440" bIns="45720" anchor="ctr">
            <a:normAutofit/>
          </a:bodyPr>
          <a:lstStyle/>
          <a:p>
            <a:pPr marL="0" algn="r"/>
            <a:fld id="{3386411A-70EE-422D-B97C-F56BEE3FF077}" type="slidenum">
              <a:rPr lang="zh-CN" altLang="en-US" sz="1000" b="0" i="0" u="none" baseline="0">
                <a:solidFill>
                  <a:srgbClr val="000000">
                    <a:lumMod val="50000"/>
                    <a:lumOff val="50000"/>
                  </a:srgbClr>
                </a:solidFill>
                <a:latin typeface="Arial"/>
                <a:ea typeface="Arial"/>
              </a:rPr>
              <a:t>‹#›</a:t>
            </a:fld>
            <a:endParaRPr lang="zh-CN" altLang="en-US" sz="1000" b="0" i="0" u="none" baseline="0">
              <a:solidFill>
                <a:srgbClr val="000000">
                  <a:lumMod val="50000"/>
                  <a:lumOff val="50000"/>
                </a:srgbClr>
              </a:solidFill>
              <a:latin typeface="Arial"/>
              <a:ea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grpSp>
        <p:nvGrpSpPr>
          <p:cNvPr id="2" name="Group 2"/>
          <p:cNvGrpSpPr/>
          <p:nvPr/>
        </p:nvGrpSpPr>
        <p:grpSpPr>
          <a:xfrm>
            <a:off x="3832157" y="-22225"/>
            <a:ext cx="8359843" cy="6880225"/>
            <a:chOff x="3832157" y="-22225"/>
            <a:chExt cx="8359843" cy="6880225"/>
          </a:xfrm>
        </p:grpSpPr>
        <p:grpSp>
          <p:nvGrpSpPr>
            <p:cNvPr id="3" name="Group 3"/>
            <p:cNvGrpSpPr/>
            <p:nvPr/>
          </p:nvGrpSpPr>
          <p:grpSpPr>
            <a:xfrm>
              <a:off x="4548188" y="0"/>
              <a:ext cx="7643812" cy="6858000"/>
              <a:chOff x="4548188" y="0"/>
              <a:chExt cx="7643812" cy="6858000"/>
            </a:xfrm>
          </p:grpSpPr>
          <p:sp>
            <p:nvSpPr>
              <p:cNvPr id="4" name="Freeform 4"/>
              <p:cNvSpPr/>
              <p:nvPr/>
            </p:nvSpPr>
            <p:spPr>
              <a:xfrm>
                <a:off x="4548188" y="0"/>
                <a:ext cx="7643812" cy="6858000"/>
              </a:xfrm>
              <a:custGeom>
                <a:avLst/>
                <a:gdLst/>
                <a:ahLst/>
                <a:cxnLst/>
                <a:rect l="l" t="t" r="r" b="b"/>
                <a:pathLst>
                  <a:path w="4815" h="4320">
                    <a:moveTo>
                      <a:pt x="4815" y="4320"/>
                    </a:moveTo>
                    <a:lnTo>
                      <a:pt x="0" y="4320"/>
                    </a:lnTo>
                    <a:lnTo>
                      <a:pt x="1040" y="0"/>
                    </a:lnTo>
                    <a:lnTo>
                      <a:pt x="4815" y="0"/>
                    </a:lnTo>
                    <a:lnTo>
                      <a:pt x="4815" y="4320"/>
                    </a:lnTo>
                    <a:close/>
                  </a:path>
                </a:pathLst>
              </a:custGeom>
              <a:blipFill>
                <a:blip r:embed="rId2"/>
                <a:stretch>
                  <a:fillRect/>
                </a:stretch>
              </a:blipFill>
            </p:spPr>
            <p:txBody>
              <a:bodyPr vert="horz" wrap="square" lIns="91440" tIns="45720" rIns="91440" bIns="45720" anchor="t">
                <a:prstTxWarp prst="textNoShape">
                  <a:avLst/>
                </a:prstTxWarp>
                <a:normAutofit/>
              </a:bodyPr>
              <a:lstStyle/>
              <a:p>
                <a:pPr marL="0" algn="l"/>
                <a:endParaRPr/>
              </a:p>
            </p:txBody>
          </p:sp>
          <p:sp>
            <p:nvSpPr>
              <p:cNvPr id="5" name="Freeform 5"/>
              <p:cNvSpPr/>
              <p:nvPr/>
            </p:nvSpPr>
            <p:spPr>
              <a:xfrm>
                <a:off x="4548188" y="0"/>
                <a:ext cx="7643812" cy="6858000"/>
              </a:xfrm>
              <a:custGeom>
                <a:avLst/>
                <a:gdLst/>
                <a:ahLst/>
                <a:cxnLst/>
                <a:rect l="l" t="t" r="r" b="b"/>
                <a:pathLst>
                  <a:path w="4815" h="4320">
                    <a:moveTo>
                      <a:pt x="4815" y="4320"/>
                    </a:moveTo>
                    <a:lnTo>
                      <a:pt x="0" y="4320"/>
                    </a:lnTo>
                    <a:lnTo>
                      <a:pt x="1040" y="0"/>
                    </a:lnTo>
                    <a:lnTo>
                      <a:pt x="4815" y="0"/>
                    </a:lnTo>
                    <a:lnTo>
                      <a:pt x="4815" y="4320"/>
                    </a:lnTo>
                    <a:close/>
                  </a:path>
                </a:pathLst>
              </a:custGeom>
              <a:solidFill>
                <a:schemeClr val="accent4">
                  <a:alpha val="50000"/>
                </a:schemeClr>
              </a:solidFill>
            </p:spPr>
            <p:txBody>
              <a:bodyPr vert="horz" wrap="square" lIns="91440" tIns="45720" rIns="91440" bIns="45720" anchor="t">
                <a:prstTxWarp prst="textNoShape">
                  <a:avLst/>
                </a:prstTxWarp>
                <a:normAutofit/>
              </a:bodyPr>
              <a:lstStyle/>
              <a:p>
                <a:pPr marL="0" algn="l"/>
                <a:endParaRPr/>
              </a:p>
            </p:txBody>
          </p:sp>
        </p:grpSp>
        <p:grpSp>
          <p:nvGrpSpPr>
            <p:cNvPr id="6" name="Group 6"/>
            <p:cNvGrpSpPr/>
            <p:nvPr/>
          </p:nvGrpSpPr>
          <p:grpSpPr>
            <a:xfrm>
              <a:off x="3832157" y="-22225"/>
              <a:ext cx="3117918" cy="6880225"/>
              <a:chOff x="3832157" y="-22225"/>
              <a:chExt cx="3117918" cy="6880225"/>
            </a:xfrm>
          </p:grpSpPr>
          <p:sp>
            <p:nvSpPr>
              <p:cNvPr id="7" name="Freeform 7"/>
              <p:cNvSpPr/>
              <p:nvPr/>
            </p:nvSpPr>
            <p:spPr>
              <a:xfrm>
                <a:off x="6096000" y="0"/>
                <a:ext cx="854075" cy="3171825"/>
              </a:xfrm>
              <a:custGeom>
                <a:avLst/>
                <a:gdLst/>
                <a:ahLst/>
                <a:cxnLst/>
                <a:rect l="l" t="t" r="r" b="b"/>
                <a:pathLst>
                  <a:path w="538" h="1998">
                    <a:moveTo>
                      <a:pt x="64" y="1998"/>
                    </a:moveTo>
                    <a:lnTo>
                      <a:pt x="0" y="1998"/>
                    </a:lnTo>
                    <a:lnTo>
                      <a:pt x="474" y="0"/>
                    </a:lnTo>
                    <a:lnTo>
                      <a:pt x="538" y="0"/>
                    </a:lnTo>
                    <a:lnTo>
                      <a:pt x="64" y="1998"/>
                    </a:lnTo>
                    <a:close/>
                  </a:path>
                </a:pathLst>
              </a:custGeom>
              <a:solidFill>
                <a:srgbClr val="FFFFFF"/>
              </a:solidFill>
            </p:spPr>
            <p:txBody>
              <a:bodyPr vert="horz" wrap="square" lIns="91440" tIns="45720" rIns="91440" bIns="45720" anchor="t">
                <a:prstTxWarp prst="textNoShape">
                  <a:avLst/>
                </a:prstTxWarp>
                <a:normAutofit/>
              </a:bodyPr>
              <a:lstStyle/>
              <a:p>
                <a:pPr marL="0" algn="l"/>
                <a:endParaRPr/>
              </a:p>
            </p:txBody>
          </p:sp>
          <p:sp>
            <p:nvSpPr>
              <p:cNvPr id="8" name="Freeform 8"/>
              <p:cNvSpPr/>
              <p:nvPr/>
            </p:nvSpPr>
            <p:spPr>
              <a:xfrm>
                <a:off x="5269041" y="5100638"/>
                <a:ext cx="582612" cy="1757362"/>
              </a:xfrm>
              <a:custGeom>
                <a:avLst/>
                <a:gdLst/>
                <a:ahLst/>
                <a:cxnLst/>
                <a:rect l="l" t="t" r="r" b="b"/>
                <a:pathLst>
                  <a:path w="367" h="1107">
                    <a:moveTo>
                      <a:pt x="104" y="1107"/>
                    </a:moveTo>
                    <a:lnTo>
                      <a:pt x="0" y="1107"/>
                    </a:lnTo>
                    <a:lnTo>
                      <a:pt x="263" y="0"/>
                    </a:lnTo>
                    <a:lnTo>
                      <a:pt x="367" y="0"/>
                    </a:lnTo>
                    <a:lnTo>
                      <a:pt x="104" y="1107"/>
                    </a:lnTo>
                    <a:close/>
                  </a:path>
                </a:pathLst>
              </a:custGeom>
              <a:solidFill>
                <a:srgbClr val="FFFFFF"/>
              </a:solidFill>
            </p:spPr>
            <p:txBody>
              <a:bodyPr vert="horz" wrap="square" lIns="91440" tIns="45720" rIns="91440" bIns="45720" anchor="t">
                <a:prstTxWarp prst="textNoShape">
                  <a:avLst/>
                </a:prstTxWarp>
                <a:normAutofit/>
              </a:bodyPr>
              <a:lstStyle/>
              <a:p>
                <a:pPr marL="0" algn="l"/>
                <a:endParaRPr/>
              </a:p>
            </p:txBody>
          </p:sp>
          <p:sp>
            <p:nvSpPr>
              <p:cNvPr id="9" name="Freeform 9"/>
              <p:cNvSpPr/>
              <p:nvPr/>
            </p:nvSpPr>
            <p:spPr>
              <a:xfrm>
                <a:off x="5019392" y="474209"/>
                <a:ext cx="1560512" cy="2028825"/>
              </a:xfrm>
              <a:custGeom>
                <a:avLst/>
                <a:gdLst/>
                <a:ahLst/>
                <a:cxnLst/>
                <a:rect l="l" t="t" r="r" b="b"/>
                <a:pathLst>
                  <a:path w="983" h="1278">
                    <a:moveTo>
                      <a:pt x="983" y="0"/>
                    </a:moveTo>
                    <a:lnTo>
                      <a:pt x="307" y="0"/>
                    </a:lnTo>
                    <a:lnTo>
                      <a:pt x="0" y="1278"/>
                    </a:lnTo>
                    <a:lnTo>
                      <a:pt x="675" y="1278"/>
                    </a:lnTo>
                    <a:lnTo>
                      <a:pt x="983" y="0"/>
                    </a:lnTo>
                    <a:close/>
                  </a:path>
                </a:pathLst>
              </a:custGeom>
              <a:solidFill>
                <a:schemeClr val="accent1">
                  <a:alpha val="40000"/>
                </a:schemeClr>
              </a:solidFill>
            </p:spPr>
            <p:txBody>
              <a:bodyPr vert="horz" wrap="square" lIns="91440" tIns="45720" rIns="91440" bIns="45720" anchor="t">
                <a:prstTxWarp prst="textNoShape">
                  <a:avLst/>
                </a:prstTxWarp>
                <a:normAutofit/>
              </a:bodyPr>
              <a:lstStyle/>
              <a:p>
                <a:pPr marL="0" algn="l"/>
                <a:endParaRPr/>
              </a:p>
            </p:txBody>
          </p:sp>
          <p:sp>
            <p:nvSpPr>
              <p:cNvPr id="10" name="Freeform 10"/>
              <p:cNvSpPr/>
              <p:nvPr/>
            </p:nvSpPr>
            <p:spPr>
              <a:xfrm>
                <a:off x="5084763" y="-22225"/>
                <a:ext cx="1560512" cy="2028825"/>
              </a:xfrm>
              <a:custGeom>
                <a:avLst/>
                <a:gdLst/>
                <a:ahLst/>
                <a:cxnLst/>
                <a:rect l="l" t="t" r="r" b="b"/>
                <a:pathLst>
                  <a:path w="983" h="1278">
                    <a:moveTo>
                      <a:pt x="983" y="0"/>
                    </a:moveTo>
                    <a:lnTo>
                      <a:pt x="307" y="0"/>
                    </a:lnTo>
                    <a:lnTo>
                      <a:pt x="0" y="1278"/>
                    </a:lnTo>
                    <a:lnTo>
                      <a:pt x="675" y="1278"/>
                    </a:lnTo>
                    <a:lnTo>
                      <a:pt x="983" y="0"/>
                    </a:lnTo>
                  </a:path>
                </a:pathLst>
              </a:custGeom>
              <a:noFill/>
            </p:spPr>
            <p:txBody>
              <a:bodyPr vert="horz" wrap="square" lIns="91440" tIns="45720" rIns="91440" bIns="45720" anchor="t">
                <a:prstTxWarp prst="textNoShape">
                  <a:avLst/>
                </a:prstTxWarp>
                <a:normAutofit/>
              </a:bodyPr>
              <a:lstStyle/>
              <a:p>
                <a:pPr marL="0" algn="l"/>
                <a:endParaRPr/>
              </a:p>
            </p:txBody>
          </p:sp>
          <p:sp>
            <p:nvSpPr>
              <p:cNvPr id="11" name="Freeform 11"/>
              <p:cNvSpPr/>
              <p:nvPr/>
            </p:nvSpPr>
            <p:spPr>
              <a:xfrm>
                <a:off x="3832157" y="4000500"/>
                <a:ext cx="1743075" cy="2857500"/>
              </a:xfrm>
              <a:custGeom>
                <a:avLst/>
                <a:gdLst/>
                <a:ahLst/>
                <a:cxnLst/>
                <a:rect l="l" t="t" r="r" b="b"/>
                <a:pathLst>
                  <a:path w="1098" h="1800">
                    <a:moveTo>
                      <a:pt x="1098" y="0"/>
                    </a:moveTo>
                    <a:lnTo>
                      <a:pt x="423" y="0"/>
                    </a:lnTo>
                    <a:lnTo>
                      <a:pt x="0" y="1800"/>
                    </a:lnTo>
                    <a:lnTo>
                      <a:pt x="676" y="1800"/>
                    </a:lnTo>
                    <a:lnTo>
                      <a:pt x="1098" y="0"/>
                    </a:lnTo>
                    <a:close/>
                  </a:path>
                </a:pathLst>
              </a:custGeom>
              <a:solidFill>
                <a:schemeClr val="accent2">
                  <a:alpha val="40000"/>
                </a:schemeClr>
              </a:solidFill>
            </p:spPr>
            <p:txBody>
              <a:bodyPr vert="horz" wrap="square" lIns="91440" tIns="45720" rIns="91440" bIns="45720" anchor="t">
                <a:prstTxWarp prst="textNoShape">
                  <a:avLst/>
                </a:prstTxWarp>
                <a:normAutofit/>
              </a:bodyPr>
              <a:lstStyle/>
              <a:p>
                <a:pPr marL="0" algn="l"/>
                <a:endParaRPr/>
              </a:p>
            </p:txBody>
          </p:sp>
        </p:grpSp>
      </p:grpSp>
      <p:sp>
        <p:nvSpPr>
          <p:cNvPr id="12" name="AutoShape 12"/>
          <p:cNvSpPr>
            <a:spLocks noGrp="1"/>
          </p:cNvSpPr>
          <p:nvPr>
            <p:ph type="body" sz="quarter" idx="13"/>
          </p:nvPr>
        </p:nvSpPr>
        <p:spPr>
          <a:xfrm>
            <a:off x="660400" y="2422638"/>
            <a:ext cx="4608641" cy="2086725"/>
          </a:xfrm>
        </p:spPr>
        <p:txBody>
          <a:bodyPr vert="horz" wrap="square" lIns="91440" tIns="45720" rIns="91440" bIns="45720" anchor="b">
            <a:spAutoFit/>
          </a:bodyPr>
          <a:lstStyle/>
          <a:p>
            <a:pPr marL="228600" indent="-228600" algn="l">
              <a:lnSpc>
                <a:spcPct val="90000"/>
              </a:lnSpc>
              <a:spcBef>
                <a:spcPct val="0"/>
              </a:spcBef>
            </a:pPr>
            <a:r>
              <a:rPr lang="en-US" sz="4800" b="1" i="0" u="none" baseline="0">
                <a:solidFill>
                  <a:srgbClr val="000000"/>
                </a:solidFill>
                <a:latin typeface="Arial"/>
                <a:ea typeface="Arial"/>
              </a:rPr>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grpSp>
        <p:nvGrpSpPr>
          <p:cNvPr id="2" name="Group 2"/>
          <p:cNvGrpSpPr/>
          <p:nvPr/>
        </p:nvGrpSpPr>
        <p:grpSpPr>
          <a:xfrm>
            <a:off x="213587" y="0"/>
            <a:ext cx="893625" cy="1327150"/>
            <a:chOff x="10179556" y="0"/>
            <a:chExt cx="1685396" cy="2503034"/>
          </a:xfrm>
        </p:grpSpPr>
        <p:sp>
          <p:nvSpPr>
            <p:cNvPr id="3" name="Freeform 3"/>
            <p:cNvSpPr/>
            <p:nvPr/>
          </p:nvSpPr>
          <p:spPr>
            <a:xfrm>
              <a:off x="10304440" y="474209"/>
              <a:ext cx="1560512" cy="2028825"/>
            </a:xfrm>
            <a:custGeom>
              <a:avLst/>
              <a:gdLst/>
              <a:ahLst/>
              <a:cxnLst/>
              <a:rect l="l" t="t" r="r" b="b"/>
              <a:pathLst>
                <a:path w="983" h="1278">
                  <a:moveTo>
                    <a:pt x="983" y="0"/>
                  </a:moveTo>
                  <a:lnTo>
                    <a:pt x="307" y="0"/>
                  </a:lnTo>
                  <a:lnTo>
                    <a:pt x="0" y="1278"/>
                  </a:lnTo>
                  <a:lnTo>
                    <a:pt x="675" y="1278"/>
                  </a:lnTo>
                  <a:lnTo>
                    <a:pt x="983" y="0"/>
                  </a:lnTo>
                  <a:close/>
                </a:path>
              </a:pathLst>
            </a:custGeom>
            <a:solidFill>
              <a:schemeClr val="accent1">
                <a:alpha val="40000"/>
              </a:schemeClr>
            </a:solidFill>
          </p:spPr>
          <p:txBody>
            <a:bodyPr vert="horz" wrap="square" lIns="91440" tIns="45720" rIns="91440" bIns="45720" anchor="t">
              <a:prstTxWarp prst="textNoShape">
                <a:avLst/>
              </a:prstTxWarp>
              <a:normAutofit/>
            </a:bodyPr>
            <a:lstStyle/>
            <a:p>
              <a:pPr marL="0" algn="l"/>
              <a:endParaRPr/>
            </a:p>
          </p:txBody>
        </p:sp>
        <p:sp>
          <p:nvSpPr>
            <p:cNvPr id="4" name="Freeform 4"/>
            <p:cNvSpPr/>
            <p:nvPr/>
          </p:nvSpPr>
          <p:spPr>
            <a:xfrm>
              <a:off x="10179556" y="0"/>
              <a:ext cx="967523" cy="1590080"/>
            </a:xfrm>
            <a:custGeom>
              <a:avLst/>
              <a:gdLst/>
              <a:ahLst/>
              <a:cxnLst/>
              <a:rect l="l" t="t" r="r" b="b"/>
              <a:pathLst>
                <a:path w="718" h="1180">
                  <a:moveTo>
                    <a:pt x="718" y="0"/>
                  </a:moveTo>
                  <a:lnTo>
                    <a:pt x="311" y="0"/>
                  </a:lnTo>
                  <a:lnTo>
                    <a:pt x="0" y="1180"/>
                  </a:lnTo>
                  <a:lnTo>
                    <a:pt x="407" y="1180"/>
                  </a:lnTo>
                  <a:lnTo>
                    <a:pt x="718" y="0"/>
                  </a:lnTo>
                  <a:close/>
                </a:path>
              </a:pathLst>
            </a:custGeom>
            <a:solidFill>
              <a:schemeClr val="accent1">
                <a:alpha val="60000"/>
                <a:lumMod val="60000"/>
                <a:lumOff val="40000"/>
              </a:schemeClr>
            </a:solidFill>
          </p:spPr>
          <p:txBody>
            <a:bodyPr vert="horz" wrap="square" lIns="91440" tIns="45720" rIns="91440" bIns="45720" anchor="t">
              <a:prstTxWarp prst="textNoShape">
                <a:avLst/>
              </a:prstTxWarp>
              <a:normAutofit/>
            </a:bodyPr>
            <a:lstStyle/>
            <a:p>
              <a:pPr marL="0" algn="l"/>
              <a:endParaRPr/>
            </a:p>
          </p:txBody>
        </p:sp>
      </p:grpSp>
      <p:grpSp>
        <p:nvGrpSpPr>
          <p:cNvPr id="5" name="Group 5"/>
          <p:cNvGrpSpPr/>
          <p:nvPr/>
        </p:nvGrpSpPr>
        <p:grpSpPr>
          <a:xfrm>
            <a:off x="10447463" y="4814177"/>
            <a:ext cx="1497479" cy="2043823"/>
            <a:chOff x="10456858" y="0"/>
            <a:chExt cx="1833934" cy="2503034"/>
          </a:xfrm>
        </p:grpSpPr>
        <p:sp>
          <p:nvSpPr>
            <p:cNvPr id="6" name="Freeform 6"/>
            <p:cNvSpPr/>
            <p:nvPr/>
          </p:nvSpPr>
          <p:spPr>
            <a:xfrm>
              <a:off x="10456858" y="474208"/>
              <a:ext cx="1560513" cy="2028826"/>
            </a:xfrm>
            <a:custGeom>
              <a:avLst/>
              <a:gdLst/>
              <a:ahLst/>
              <a:cxnLst/>
              <a:rect l="l" t="t" r="r" b="b"/>
              <a:pathLst>
                <a:path w="983" h="1278">
                  <a:moveTo>
                    <a:pt x="983" y="0"/>
                  </a:moveTo>
                  <a:lnTo>
                    <a:pt x="307" y="0"/>
                  </a:lnTo>
                  <a:lnTo>
                    <a:pt x="0" y="1278"/>
                  </a:lnTo>
                  <a:lnTo>
                    <a:pt x="675" y="1278"/>
                  </a:lnTo>
                  <a:lnTo>
                    <a:pt x="983" y="0"/>
                  </a:lnTo>
                  <a:close/>
                </a:path>
              </a:pathLst>
            </a:custGeom>
            <a:solidFill>
              <a:schemeClr val="accent2">
                <a:alpha val="40000"/>
              </a:schemeClr>
            </a:solidFill>
          </p:spPr>
          <p:txBody>
            <a:bodyPr vert="horz" wrap="square" lIns="91440" tIns="45720" rIns="91440" bIns="45720" anchor="t">
              <a:prstTxWarp prst="textNoShape">
                <a:avLst/>
              </a:prstTxWarp>
              <a:normAutofit/>
            </a:bodyPr>
            <a:lstStyle/>
            <a:p>
              <a:pPr marL="0" algn="l"/>
              <a:endParaRPr/>
            </a:p>
          </p:txBody>
        </p:sp>
        <p:sp>
          <p:nvSpPr>
            <p:cNvPr id="7" name="Freeform 7"/>
            <p:cNvSpPr/>
            <p:nvPr/>
          </p:nvSpPr>
          <p:spPr>
            <a:xfrm>
              <a:off x="11323270" y="0"/>
              <a:ext cx="967522" cy="1590080"/>
            </a:xfrm>
            <a:custGeom>
              <a:avLst/>
              <a:gdLst/>
              <a:ahLst/>
              <a:cxnLst/>
              <a:rect l="l" t="t" r="r" b="b"/>
              <a:pathLst>
                <a:path w="718" h="1180">
                  <a:moveTo>
                    <a:pt x="718" y="0"/>
                  </a:moveTo>
                  <a:lnTo>
                    <a:pt x="311" y="0"/>
                  </a:lnTo>
                  <a:lnTo>
                    <a:pt x="0" y="1180"/>
                  </a:lnTo>
                  <a:lnTo>
                    <a:pt x="407" y="1180"/>
                  </a:lnTo>
                  <a:lnTo>
                    <a:pt x="718" y="0"/>
                  </a:lnTo>
                  <a:close/>
                </a:path>
              </a:pathLst>
            </a:custGeom>
            <a:solidFill>
              <a:schemeClr val="accent2">
                <a:alpha val="60000"/>
              </a:schemeClr>
            </a:solidFill>
          </p:spPr>
          <p:txBody>
            <a:bodyPr vert="horz" wrap="square" lIns="91440" tIns="45720" rIns="91440" bIns="45720" anchor="t">
              <a:prstTxWarp prst="textNoShape">
                <a:avLst/>
              </a:prstTxWarp>
              <a:normAutofit/>
            </a:bodyPr>
            <a:lstStyle/>
            <a:p>
              <a:pPr marL="0" algn="l"/>
              <a:endParaRPr/>
            </a:p>
          </p:txBody>
        </p:sp>
      </p:grpSp>
      <p:sp>
        <p:nvSpPr>
          <p:cNvPr id="8" name="AutoShape 8"/>
          <p:cNvSpPr>
            <a:spLocks noGrp="1"/>
          </p:cNvSpPr>
          <p:nvPr>
            <p:ph type="title"/>
          </p:nvPr>
        </p:nvSpPr>
        <p:spPr>
          <a:xfrm>
            <a:off x="660400" y="0"/>
            <a:ext cx="10858500" cy="1028700"/>
          </a:xfrm>
          <a:prstGeom prst="rect">
            <a:avLst/>
          </a:prstGeom>
        </p:spPr>
        <p:txBody>
          <a:bodyPr vert="horz" lIns="91440" tIns="45720" rIns="91440" bIns="45720" anchor="b">
            <a:normAutofit/>
          </a:bodyPr>
          <a:lstStyle/>
          <a:p>
            <a:pPr algn="l">
              <a:lnSpc>
                <a:spcPct val="90000"/>
              </a:lnSpc>
              <a:spcBef>
                <a:spcPct val="0"/>
              </a:spcBef>
            </a:pPr>
            <a:r>
              <a:rPr lang="en-US" sz="2800" b="1" i="0" u="none" baseline="0">
                <a:solidFill>
                  <a:srgbClr val="000000"/>
                </a:solidFill>
                <a:latin typeface="Arial"/>
                <a:ea typeface="Arial"/>
              </a:rPr>
              <a:t>Click to edit Master title style</a:t>
            </a:r>
          </a:p>
        </p:txBody>
      </p:sp>
      <p:sp>
        <p:nvSpPr>
          <p:cNvPr id="9" name="AutoShape 9"/>
          <p:cNvSpPr>
            <a:spLocks noGrp="1"/>
          </p:cNvSpPr>
          <p:nvPr>
            <p:ph type="body" idx="1"/>
          </p:nvPr>
        </p:nvSpPr>
        <p:spPr>
          <a:xfrm>
            <a:off x="660400" y="1130300"/>
            <a:ext cx="10858500" cy="5003800"/>
          </a:xfrm>
          <a:prstGeom prst="rect">
            <a:avLst/>
          </a:prstGeom>
        </p:spPr>
        <p:txBody>
          <a:bodyPr vert="horz" lIns="91440" tIns="45720" rIns="91440" bIns="45720" anchor="t">
            <a:normAutofit/>
          </a:bodyPr>
          <a:lstStyle/>
          <a:p>
            <a:pPr marL="228600" indent="-228600" algn="l">
              <a:lnSpc>
                <a:spcPct val="90000"/>
              </a:lnSpc>
              <a:spcBef>
                <a:spcPts val="1000"/>
              </a:spcBef>
            </a:pPr>
            <a:r>
              <a:rPr lang="en-US" sz="1800" b="0" i="0" u="none" baseline="0">
                <a:solidFill>
                  <a:srgbClr val="000000"/>
                </a:solidFill>
                <a:latin typeface="Arial"/>
                <a:ea typeface="Arial"/>
              </a:rPr>
              <a:t>Click to edit Master text styles</a:t>
            </a:r>
          </a:p>
          <a:p>
            <a:pPr marL="685800" lvl="1" indent="-228600" algn="l">
              <a:lnSpc>
                <a:spcPct val="90000"/>
              </a:lnSpc>
              <a:spcBef>
                <a:spcPts val="500"/>
              </a:spcBef>
            </a:pPr>
            <a:r>
              <a:rPr lang="en-US" sz="1600" b="0" i="0" u="none" baseline="0">
                <a:solidFill>
                  <a:srgbClr val="000000"/>
                </a:solidFill>
                <a:latin typeface="Arial"/>
                <a:ea typeface="Arial"/>
              </a:rPr>
              <a:t>Second level</a:t>
            </a:r>
          </a:p>
          <a:p>
            <a:pPr marL="1143000" lvl="2" indent="-228600" algn="l">
              <a:lnSpc>
                <a:spcPct val="90000"/>
              </a:lnSpc>
              <a:spcBef>
                <a:spcPts val="500"/>
              </a:spcBef>
            </a:pPr>
            <a:r>
              <a:rPr lang="en-US" sz="1400" b="0" i="0" u="none" baseline="0">
                <a:solidFill>
                  <a:srgbClr val="000000"/>
                </a:solidFill>
                <a:latin typeface="Arial"/>
                <a:ea typeface="Arial"/>
              </a:rPr>
              <a:t>Third level</a:t>
            </a:r>
          </a:p>
          <a:p>
            <a:pPr marL="1600200" lvl="3" indent="-228600" algn="l">
              <a:lnSpc>
                <a:spcPct val="90000"/>
              </a:lnSpc>
              <a:spcBef>
                <a:spcPts val="500"/>
              </a:spcBef>
            </a:pPr>
            <a:r>
              <a:rPr lang="en-US" sz="1200" b="0" i="0" u="none" baseline="0">
                <a:solidFill>
                  <a:srgbClr val="000000"/>
                </a:solidFill>
                <a:latin typeface="Arial"/>
                <a:ea typeface="Arial"/>
              </a:rPr>
              <a:t>Fourth level</a:t>
            </a:r>
          </a:p>
          <a:p>
            <a:pPr marL="2057400" lvl="4" indent="-228600" algn="l">
              <a:lnSpc>
                <a:spcPct val="90000"/>
              </a:lnSpc>
              <a:spcBef>
                <a:spcPts val="500"/>
              </a:spcBef>
            </a:pPr>
            <a:r>
              <a:rPr lang="en-US" sz="1200" b="0" i="0" u="none" baseline="0">
                <a:solidFill>
                  <a:srgbClr val="000000"/>
                </a:solidFill>
                <a:latin typeface="Arial"/>
                <a:ea typeface="Arial"/>
              </a:rPr>
              <a:t>Fifth level</a:t>
            </a:r>
          </a:p>
        </p:txBody>
      </p:sp>
      <p:sp>
        <p:nvSpPr>
          <p:cNvPr id="10" name="AutoShape 10"/>
          <p:cNvSpPr>
            <a:spLocks noGrp="1"/>
          </p:cNvSpPr>
          <p:nvPr>
            <p:ph type="ftr" sz="quarter" idx="3"/>
          </p:nvPr>
        </p:nvSpPr>
        <p:spPr>
          <a:xfrm>
            <a:off x="660401" y="6438900"/>
            <a:ext cx="3992171" cy="215900"/>
          </a:xfrm>
          <a:prstGeom prst="rect">
            <a:avLst/>
          </a:prstGeom>
        </p:spPr>
        <p:txBody>
          <a:bodyPr vert="horz" lIns="91440" tIns="45720" rIns="91440" bIns="45720" anchor="ctr">
            <a:normAutofit/>
          </a:bodyPr>
          <a:lstStyle/>
          <a:p>
            <a:pPr marL="0" algn="l"/>
            <a:endParaRPr/>
          </a:p>
        </p:txBody>
      </p:sp>
      <p:sp>
        <p:nvSpPr>
          <p:cNvPr id="11" name="AutoShape 11"/>
          <p:cNvSpPr>
            <a:spLocks noGrp="1"/>
          </p:cNvSpPr>
          <p:nvPr>
            <p:ph type="dt" sz="half" idx="2"/>
          </p:nvPr>
        </p:nvSpPr>
        <p:spPr>
          <a:xfrm>
            <a:off x="5504656" y="6438900"/>
            <a:ext cx="1802924" cy="215900"/>
          </a:xfrm>
          <a:prstGeom prst="rect">
            <a:avLst/>
          </a:prstGeom>
        </p:spPr>
        <p:txBody>
          <a:bodyPr vert="horz" lIns="91440" tIns="45720" rIns="91440" bIns="45720" anchor="ctr">
            <a:normAutofit/>
          </a:bodyPr>
          <a:lstStyle/>
          <a:p>
            <a:pPr marL="0" algn="l"/>
            <a:r>
              <a:rPr lang="zh-CN" altLang="en-US" sz="1800" b="0" i="0" u="none" baseline="0">
                <a:solidFill>
                  <a:srgbClr val="000000"/>
                </a:solidFill>
                <a:latin typeface="Arial"/>
                <a:ea typeface="Arial"/>
              </a:rPr>
              <a:t>2024/8/5</a:t>
            </a:r>
          </a:p>
        </p:txBody>
      </p:sp>
      <p:sp>
        <p:nvSpPr>
          <p:cNvPr id="12" name="AutoShape 12"/>
          <p:cNvSpPr>
            <a:spLocks noGrp="1"/>
          </p:cNvSpPr>
          <p:nvPr>
            <p:ph type="sldNum" sz="quarter" idx="4"/>
          </p:nvPr>
        </p:nvSpPr>
        <p:spPr>
          <a:xfrm>
            <a:off x="8857452" y="6438900"/>
            <a:ext cx="2661448" cy="215900"/>
          </a:xfrm>
          <a:prstGeom prst="rect">
            <a:avLst/>
          </a:prstGeom>
        </p:spPr>
        <p:txBody>
          <a:bodyPr vert="horz" lIns="91440" tIns="45720" rIns="91440" bIns="45720" anchor="ctr">
            <a:normAutofit/>
          </a:bodyPr>
          <a:lstStyle/>
          <a:p>
            <a:pPr marL="0" algn="l"/>
            <a:fld id="{3386411A-70EE-422D-B97C-F56BEE3FF077}" type="slidenum">
              <a:rPr lang="en-US" sz="1800" b="0" i="0" u="none" baseline="0">
                <a:solidFill>
                  <a:srgbClr val="000000"/>
                </a:solidFill>
                <a:latin typeface="Arial"/>
                <a:ea typeface="Arial"/>
              </a:rPr>
              <a:t>‹#›</a:t>
            </a:fld>
            <a:endParaRPr lang="en-US" sz="1800" b="0" i="0" u="none" baseline="0">
              <a:solidFill>
                <a:srgbClr val="000000"/>
              </a:solidFill>
              <a:latin typeface="Arial"/>
              <a:ea typeface="Arial"/>
            </a:endParaRP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Lst>
  <p:hf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6.xml"/><Relationship Id="rId4" Type="http://schemas.openxmlformats.org/officeDocument/2006/relationships/image" Target="../media/image28.jpeg"/></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6.xml"/><Relationship Id="rId4" Type="http://schemas.openxmlformats.org/officeDocument/2006/relationships/image" Target="../media/image28.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6.xml"/><Relationship Id="rId4" Type="http://schemas.openxmlformats.org/officeDocument/2006/relationships/image" Target="../media/image28.jpeg"/></Relationships>
</file>

<file path=ppt/slides/_rels/slide3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6.xml"/><Relationship Id="rId4" Type="http://schemas.openxmlformats.org/officeDocument/2006/relationships/image" Target="../media/image28.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6.xml"/><Relationship Id="rId4" Type="http://schemas.openxmlformats.org/officeDocument/2006/relationships/image" Target="../media/image28.jpeg"/></Relationships>
</file>

<file path=ppt/slides/_rels/slide3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6.xml"/><Relationship Id="rId4" Type="http://schemas.openxmlformats.org/officeDocument/2006/relationships/image" Target="../media/image28.jpeg"/></Relationships>
</file>

<file path=ppt/slides/_rels/slide3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6.xml"/><Relationship Id="rId4" Type="http://schemas.openxmlformats.org/officeDocument/2006/relationships/image" Target="../media/image28.jpeg"/></Relationships>
</file>

<file path=ppt/slides/_rels/slide3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6.xml"/><Relationship Id="rId4" Type="http://schemas.openxmlformats.org/officeDocument/2006/relationships/image" Target="../media/image28.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alpha val="4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ctrTitle"/>
          </p:nvPr>
        </p:nvSpPr>
        <p:spPr>
          <a:xfrm>
            <a:off x="609600" y="609600"/>
            <a:ext cx="6045200" cy="2431435"/>
          </a:xfrm>
        </p:spPr>
        <p:txBody>
          <a:bodyPr vert="horz" lIns="91440" tIns="45720" rIns="91440" bIns="45720" anchor="b">
            <a:noAutofit/>
          </a:bodyPr>
          <a:lstStyle/>
          <a:p>
            <a:pPr algn="l">
              <a:lnSpc>
                <a:spcPct val="100000"/>
              </a:lnSpc>
              <a:spcBef>
                <a:spcPct val="0"/>
              </a:spcBef>
            </a:pPr>
            <a:r>
              <a:rPr lang="zh-CN" altLang="en-US" sz="4800" b="1" u="none" baseline="0" dirty="0">
                <a:solidFill>
                  <a:schemeClr val="accent1"/>
                </a:solidFill>
                <a:latin typeface="Cooper Black" panose="0208090404030B020404" pitchFamily="18" charset="0"/>
                <a:ea typeface="微软雅黑"/>
                <a:cs typeface="MV Boli" panose="02000500030200090000" pitchFamily="2" charset="0"/>
              </a:rPr>
              <a:t>Hotel Booking &amp; Cancellation Behaviour Analysis</a:t>
            </a:r>
          </a:p>
        </p:txBody>
      </p:sp>
      <p:sp>
        <p:nvSpPr>
          <p:cNvPr id="6" name="Rounded Rectangle 5"/>
          <p:cNvSpPr/>
          <p:nvPr/>
        </p:nvSpPr>
        <p:spPr>
          <a:xfrm>
            <a:off x="457200" y="4191000"/>
            <a:ext cx="3276600" cy="762000"/>
          </a:xfrm>
          <a:prstGeom prst="roundRect">
            <a:avLst>
              <a:gd name="adj" fmla="val 50000"/>
            </a:avLst>
          </a:prstGeom>
          <a:solidFill>
            <a:schemeClr val="accent1">
              <a:alpha val="2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smtClean="0">
                <a:solidFill>
                  <a:schemeClr val="tx1"/>
                </a:solidFill>
              </a:rPr>
              <a:t>Name :- AYUSH DASH</a:t>
            </a:r>
            <a:endParaRPr lang="en-IN" b="1" i="1" dirty="0">
              <a:solidFill>
                <a:schemeClr val="tx1"/>
              </a:solidFill>
            </a:endParaRPr>
          </a:p>
        </p:txBody>
      </p:sp>
      <p:sp>
        <p:nvSpPr>
          <p:cNvPr id="7" name="Rounded Rectangle 6"/>
          <p:cNvSpPr/>
          <p:nvPr/>
        </p:nvSpPr>
        <p:spPr>
          <a:xfrm>
            <a:off x="490182" y="5181600"/>
            <a:ext cx="3276600" cy="762000"/>
          </a:xfrm>
          <a:prstGeom prst="roundRect">
            <a:avLst>
              <a:gd name="adj" fmla="val 50000"/>
            </a:avLst>
          </a:prstGeom>
          <a:solidFill>
            <a:schemeClr val="accent1">
              <a:alpha val="2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smtClean="0">
                <a:solidFill>
                  <a:schemeClr val="tx1"/>
                </a:solidFill>
              </a:rPr>
              <a:t>Data :- </a:t>
            </a:r>
            <a:r>
              <a:rPr lang="en-US" b="1" i="1" dirty="0" smtClean="0">
                <a:solidFill>
                  <a:schemeClr val="tx1"/>
                </a:solidFill>
              </a:rPr>
              <a:t>11</a:t>
            </a:r>
            <a:r>
              <a:rPr lang="en-US" b="1" i="1" baseline="30000" dirty="0" smtClean="0">
                <a:solidFill>
                  <a:schemeClr val="tx1"/>
                </a:solidFill>
              </a:rPr>
              <a:t>th</a:t>
            </a:r>
            <a:r>
              <a:rPr lang="en-US" b="1" i="1" dirty="0" smtClean="0">
                <a:solidFill>
                  <a:schemeClr val="tx1"/>
                </a:solidFill>
              </a:rPr>
              <a:t> August, </a:t>
            </a:r>
            <a:r>
              <a:rPr lang="en-US" b="1" i="1" dirty="0" smtClean="0">
                <a:solidFill>
                  <a:schemeClr val="tx1"/>
                </a:solidFill>
              </a:rPr>
              <a:t>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TextBox 2"/>
          <p:cNvSpPr txBox="1"/>
          <p:nvPr/>
        </p:nvSpPr>
        <p:spPr>
          <a:xfrm>
            <a:off x="6390052" y="2439520"/>
            <a:ext cx="2601547" cy="646331"/>
          </a:xfrm>
          <a:prstGeom prst="rect">
            <a:avLst/>
          </a:prstGeom>
          <a:noFill/>
        </p:spPr>
        <p:txBody>
          <a:bodyPr vert="horz" wrap="square" lIns="91440" tIns="45720" rIns="91440" bIns="45720" rtlCol="0" anchor="t">
            <a:spAutoFit/>
          </a:bodyPr>
          <a:lstStyle/>
          <a:p>
            <a:pPr marL="0" algn="l">
              <a:defRPr/>
            </a:pPr>
            <a:r>
              <a:rPr lang="zh-CN" altLang="en-US" sz="1800" b="1" i="0" u="none" baseline="0" dirty="0">
                <a:solidFill>
                  <a:srgbClr val="000000"/>
                </a:solidFill>
                <a:latin typeface="微软雅黑"/>
                <a:ea typeface="微软雅黑"/>
              </a:rPr>
              <a:t>Demand &amp; Seasonality Analysis</a:t>
            </a:r>
            <a:endParaRPr lang="en-US" sz="1100" dirty="0"/>
          </a:p>
        </p:txBody>
      </p:sp>
      <p:sp>
        <p:nvSpPr>
          <p:cNvPr id="3" name="TextBox 3"/>
          <p:cNvSpPr txBox="1"/>
          <p:nvPr/>
        </p:nvSpPr>
        <p:spPr>
          <a:xfrm>
            <a:off x="6390053" y="1701589"/>
            <a:ext cx="1601906" cy="707886"/>
          </a:xfrm>
          <a:prstGeom prst="rect">
            <a:avLst/>
          </a:prstGeom>
          <a:noFill/>
        </p:spPr>
        <p:txBody>
          <a:bodyPr vert="horz" wrap="square" lIns="91440" tIns="45720" rIns="91440" bIns="45720" rtlCol="0" anchor="t">
            <a:spAutoFit/>
          </a:bodyPr>
          <a:lstStyle/>
          <a:p>
            <a:pPr marL="0" algn="l">
              <a:defRPr/>
            </a:pPr>
            <a:r>
              <a:rPr lang="en-US" sz="4000" b="1" i="0" u="none" baseline="0">
                <a:solidFill>
                  <a:srgbClr val="000000"/>
                </a:solidFill>
                <a:latin typeface="Arial"/>
                <a:ea typeface="Arial"/>
              </a:rPr>
              <a:t>03.</a:t>
            </a:r>
            <a:endParaRPr lang="en-US" sz="1100"/>
          </a:p>
        </p:txBody>
      </p:sp>
      <p:sp>
        <p:nvSpPr>
          <p:cNvPr id="4" name="AutoShape 4"/>
          <p:cNvSpPr/>
          <p:nvPr/>
        </p:nvSpPr>
        <p:spPr>
          <a:xfrm>
            <a:off x="6477000" y="3024295"/>
            <a:ext cx="1601907" cy="151240"/>
          </a:xfrm>
          <a:prstGeom prst="rect">
            <a:avLst/>
          </a:prstGeom>
          <a:solidFill>
            <a:schemeClr val="accent3"/>
          </a:solidFill>
          <a:ln cap="rnd" cmpd="sng">
            <a:prstDash val="solid"/>
          </a:ln>
        </p:spPr>
        <p:txBody>
          <a:bodyPr rot="0" vert="horz" wrap="square" lIns="91440" tIns="45720" rIns="91440" bIns="45720" anchor="ctr">
            <a:prstTxWarp prst="textNoShape">
              <a:avLst/>
            </a:prstTxWarp>
            <a:normAutofit fontScale="25000" lnSpcReduction="20000"/>
          </a:bodyPr>
          <a:lstStyle/>
          <a:p>
            <a:pPr marL="0" algn="ctr"/>
            <a:endParaRPr/>
          </a:p>
        </p:txBody>
      </p:sp>
      <p:sp>
        <p:nvSpPr>
          <p:cNvPr id="5" name="TextBox 5"/>
          <p:cNvSpPr txBox="1"/>
          <p:nvPr/>
        </p:nvSpPr>
        <p:spPr>
          <a:xfrm>
            <a:off x="1014220" y="2439520"/>
            <a:ext cx="2948180" cy="584775"/>
          </a:xfrm>
          <a:prstGeom prst="rect">
            <a:avLst/>
          </a:prstGeom>
          <a:noFill/>
        </p:spPr>
        <p:txBody>
          <a:bodyPr vert="horz" wrap="square" lIns="91440" tIns="45720" rIns="91440" bIns="45720" rtlCol="0" anchor="t">
            <a:spAutoFit/>
          </a:bodyPr>
          <a:lstStyle/>
          <a:p>
            <a:pPr marL="0" algn="l">
              <a:defRPr/>
            </a:pPr>
            <a:r>
              <a:rPr lang="zh-CN" altLang="en-US" sz="1600" b="1" i="0" u="none" baseline="0" dirty="0">
                <a:solidFill>
                  <a:srgbClr val="000000"/>
                </a:solidFill>
                <a:latin typeface="微软雅黑"/>
                <a:ea typeface="微软雅黑"/>
              </a:rPr>
              <a:t>Executive Summary &amp; Business Context</a:t>
            </a:r>
            <a:endParaRPr lang="en-US" sz="1050" dirty="0"/>
          </a:p>
        </p:txBody>
      </p:sp>
      <p:sp>
        <p:nvSpPr>
          <p:cNvPr id="6" name="TextBox 6"/>
          <p:cNvSpPr txBox="1"/>
          <p:nvPr/>
        </p:nvSpPr>
        <p:spPr>
          <a:xfrm>
            <a:off x="1014221" y="1701589"/>
            <a:ext cx="1601906" cy="707886"/>
          </a:xfrm>
          <a:prstGeom prst="rect">
            <a:avLst/>
          </a:prstGeom>
          <a:noFill/>
        </p:spPr>
        <p:txBody>
          <a:bodyPr vert="horz" wrap="square" lIns="91440" tIns="45720" rIns="91440" bIns="45720" rtlCol="0" anchor="t">
            <a:spAutoFit/>
          </a:bodyPr>
          <a:lstStyle/>
          <a:p>
            <a:pPr marL="0" algn="l">
              <a:defRPr/>
            </a:pPr>
            <a:r>
              <a:rPr lang="en-US" sz="4000" b="1" i="0" u="none" baseline="0">
                <a:solidFill>
                  <a:srgbClr val="000000"/>
                </a:solidFill>
                <a:latin typeface="Arial"/>
                <a:ea typeface="Arial"/>
              </a:rPr>
              <a:t>01.</a:t>
            </a:r>
            <a:endParaRPr lang="en-US" sz="1100"/>
          </a:p>
        </p:txBody>
      </p:sp>
      <p:sp>
        <p:nvSpPr>
          <p:cNvPr id="7" name="AutoShape 7"/>
          <p:cNvSpPr/>
          <p:nvPr/>
        </p:nvSpPr>
        <p:spPr>
          <a:xfrm>
            <a:off x="1150239" y="3059964"/>
            <a:ext cx="1601907" cy="151240"/>
          </a:xfrm>
          <a:prstGeom prst="rect">
            <a:avLst/>
          </a:prstGeom>
          <a:solidFill>
            <a:schemeClr val="accent1"/>
          </a:solidFill>
          <a:ln cap="rnd" cmpd="sng">
            <a:prstDash val="solid"/>
          </a:ln>
        </p:spPr>
        <p:txBody>
          <a:bodyPr rot="0" vert="horz" wrap="square" lIns="91440" tIns="45720" rIns="91440" bIns="45720" anchor="ctr">
            <a:prstTxWarp prst="textNoShape">
              <a:avLst/>
            </a:prstTxWarp>
            <a:normAutofit fontScale="25000" lnSpcReduction="20000"/>
          </a:bodyPr>
          <a:lstStyle/>
          <a:p>
            <a:pPr marL="0" algn="ctr"/>
            <a:endParaRPr/>
          </a:p>
        </p:txBody>
      </p:sp>
      <p:sp>
        <p:nvSpPr>
          <p:cNvPr id="8" name="TextBox 8"/>
          <p:cNvSpPr txBox="1"/>
          <p:nvPr/>
        </p:nvSpPr>
        <p:spPr>
          <a:xfrm>
            <a:off x="3702136" y="2439520"/>
            <a:ext cx="2241463" cy="646331"/>
          </a:xfrm>
          <a:prstGeom prst="rect">
            <a:avLst/>
          </a:prstGeom>
          <a:noFill/>
        </p:spPr>
        <p:txBody>
          <a:bodyPr vert="horz" wrap="square" lIns="91440" tIns="45720" rIns="91440" bIns="45720" rtlCol="0" anchor="t">
            <a:spAutoFit/>
          </a:bodyPr>
          <a:lstStyle/>
          <a:p>
            <a:pPr marL="0" algn="l">
              <a:defRPr/>
            </a:pPr>
            <a:r>
              <a:rPr lang="zh-CN" altLang="en-US" sz="1800" b="1" i="0" u="none" baseline="0" dirty="0">
                <a:solidFill>
                  <a:srgbClr val="000000"/>
                </a:solidFill>
                <a:latin typeface="微软雅黑"/>
                <a:ea typeface="微软雅黑"/>
              </a:rPr>
              <a:t>Data Foundation &amp; Methodology</a:t>
            </a:r>
            <a:endParaRPr lang="en-US" sz="1100" dirty="0"/>
          </a:p>
        </p:txBody>
      </p:sp>
      <p:sp>
        <p:nvSpPr>
          <p:cNvPr id="9" name="TextBox 9"/>
          <p:cNvSpPr txBox="1"/>
          <p:nvPr/>
        </p:nvSpPr>
        <p:spPr>
          <a:xfrm>
            <a:off x="3702137" y="1701589"/>
            <a:ext cx="1601906" cy="707886"/>
          </a:xfrm>
          <a:prstGeom prst="rect">
            <a:avLst/>
          </a:prstGeom>
          <a:noFill/>
        </p:spPr>
        <p:txBody>
          <a:bodyPr vert="horz" wrap="square" lIns="91440" tIns="45720" rIns="91440" bIns="45720" rtlCol="0" anchor="t">
            <a:spAutoFit/>
          </a:bodyPr>
          <a:lstStyle/>
          <a:p>
            <a:pPr marL="0" algn="l">
              <a:defRPr/>
            </a:pPr>
            <a:r>
              <a:rPr lang="en-US" sz="4000" b="1" i="0" u="none" baseline="0">
                <a:solidFill>
                  <a:srgbClr val="000000"/>
                </a:solidFill>
                <a:latin typeface="Arial"/>
                <a:ea typeface="Arial"/>
              </a:rPr>
              <a:t>02.</a:t>
            </a:r>
            <a:endParaRPr lang="en-US" sz="1100"/>
          </a:p>
        </p:txBody>
      </p:sp>
      <p:sp>
        <p:nvSpPr>
          <p:cNvPr id="10" name="AutoShape 10"/>
          <p:cNvSpPr/>
          <p:nvPr/>
        </p:nvSpPr>
        <p:spPr>
          <a:xfrm>
            <a:off x="3702137" y="3048080"/>
            <a:ext cx="1601907" cy="151240"/>
          </a:xfrm>
          <a:prstGeom prst="rect">
            <a:avLst/>
          </a:prstGeom>
          <a:solidFill>
            <a:schemeClr val="accent2"/>
          </a:solidFill>
          <a:ln cap="rnd" cmpd="sng">
            <a:prstDash val="solid"/>
          </a:ln>
        </p:spPr>
        <p:txBody>
          <a:bodyPr rot="0" vert="horz" wrap="square" lIns="91440" tIns="45720" rIns="91440" bIns="45720" anchor="ctr">
            <a:prstTxWarp prst="textNoShape">
              <a:avLst/>
            </a:prstTxWarp>
            <a:normAutofit fontScale="25000" lnSpcReduction="20000"/>
          </a:bodyPr>
          <a:lstStyle/>
          <a:p>
            <a:pPr marL="0" algn="ctr"/>
            <a:endParaRPr/>
          </a:p>
        </p:txBody>
      </p:sp>
      <p:sp>
        <p:nvSpPr>
          <p:cNvPr id="11" name="TextBox 11"/>
          <p:cNvSpPr txBox="1"/>
          <p:nvPr/>
        </p:nvSpPr>
        <p:spPr>
          <a:xfrm>
            <a:off x="1014221" y="1081208"/>
            <a:ext cx="1873945" cy="369332"/>
          </a:xfrm>
          <a:prstGeom prst="rect">
            <a:avLst/>
          </a:prstGeom>
          <a:noFill/>
        </p:spPr>
        <p:txBody>
          <a:bodyPr vert="horz" wrap="square" lIns="91440" tIns="45720" rIns="91440" bIns="45720" rtlCol="0" anchor="ctr">
            <a:spAutoFit/>
          </a:bodyPr>
          <a:lstStyle/>
          <a:p>
            <a:pPr marL="0" algn="l">
              <a:defRPr/>
            </a:pPr>
            <a:r>
              <a:rPr lang="en-US" sz="1800" b="1" i="0" u="none" baseline="0">
                <a:solidFill>
                  <a:srgbClr val="000000"/>
                </a:solidFill>
                <a:latin typeface="Arial"/>
                <a:ea typeface="Arial"/>
              </a:rPr>
              <a:t>CONTENTS</a:t>
            </a:r>
            <a:endParaRPr lang="en-US" sz="1100"/>
          </a:p>
        </p:txBody>
      </p:sp>
      <p:sp>
        <p:nvSpPr>
          <p:cNvPr id="12" name="TextBox 12"/>
          <p:cNvSpPr txBox="1"/>
          <p:nvPr/>
        </p:nvSpPr>
        <p:spPr>
          <a:xfrm>
            <a:off x="1014221" y="282437"/>
            <a:ext cx="7367779" cy="830997"/>
          </a:xfrm>
          <a:prstGeom prst="rect">
            <a:avLst/>
          </a:prstGeom>
          <a:noFill/>
        </p:spPr>
        <p:txBody>
          <a:bodyPr vert="horz" wrap="square" lIns="91440" tIns="45720" rIns="91440" bIns="45720" rtlCol="0" anchor="ctr">
            <a:spAutoFit/>
          </a:bodyPr>
          <a:lstStyle/>
          <a:p>
            <a:pPr marL="0" algn="l">
              <a:defRPr/>
            </a:pPr>
            <a:r>
              <a:rPr lang="zh-CN" altLang="en-US" sz="4800" b="1" i="0" u="none" baseline="0" dirty="0">
                <a:solidFill>
                  <a:schemeClr val="accent1"/>
                </a:solidFill>
                <a:latin typeface="微软雅黑"/>
                <a:ea typeface="微软雅黑"/>
              </a:rPr>
              <a:t>Table of Contents</a:t>
            </a:r>
            <a:endParaRPr lang="en-US" sz="1100" dirty="0"/>
          </a:p>
        </p:txBody>
      </p:sp>
      <p:sp>
        <p:nvSpPr>
          <p:cNvPr id="13" name="TextBox 13"/>
          <p:cNvSpPr txBox="1"/>
          <p:nvPr/>
        </p:nvSpPr>
        <p:spPr>
          <a:xfrm>
            <a:off x="3540542" y="5006498"/>
            <a:ext cx="2315136" cy="646331"/>
          </a:xfrm>
          <a:prstGeom prst="rect">
            <a:avLst/>
          </a:prstGeom>
          <a:noFill/>
        </p:spPr>
        <p:txBody>
          <a:bodyPr vert="horz" wrap="square" lIns="91440" tIns="45720" rIns="91440" bIns="45720" rtlCol="0" anchor="t">
            <a:spAutoFit/>
          </a:bodyPr>
          <a:lstStyle>
            <a:defPPr>
              <a:defRPr lang="en-US"/>
            </a:defPPr>
            <a:lvl1pPr>
              <a:defRPr b="1" i="0" u="none" baseline="0">
                <a:solidFill>
                  <a:srgbClr val="000000"/>
                </a:solidFill>
                <a:latin typeface="微软雅黑"/>
                <a:ea typeface="微软雅黑"/>
              </a:defRPr>
            </a:lvl1pPr>
          </a:lstStyle>
          <a:p>
            <a:r>
              <a:rPr lang="zh-CN" altLang="en-US" dirty="0"/>
              <a:t>Cancellation Risk Analysis</a:t>
            </a:r>
            <a:endParaRPr lang="en-US" dirty="0"/>
          </a:p>
        </p:txBody>
      </p:sp>
      <p:sp>
        <p:nvSpPr>
          <p:cNvPr id="14" name="TextBox 14"/>
          <p:cNvSpPr txBox="1"/>
          <p:nvPr/>
        </p:nvSpPr>
        <p:spPr>
          <a:xfrm>
            <a:off x="3628465" y="4264678"/>
            <a:ext cx="1601906" cy="707886"/>
          </a:xfrm>
          <a:prstGeom prst="rect">
            <a:avLst/>
          </a:prstGeom>
          <a:noFill/>
        </p:spPr>
        <p:txBody>
          <a:bodyPr vert="horz" wrap="square" lIns="91440" tIns="45720" rIns="91440" bIns="45720" rtlCol="0" anchor="t">
            <a:spAutoFit/>
          </a:bodyPr>
          <a:lstStyle/>
          <a:p>
            <a:pPr marL="0" algn="l">
              <a:defRPr/>
            </a:pPr>
            <a:r>
              <a:rPr lang="en-US" sz="4000" b="1" i="0" u="none" baseline="0">
                <a:solidFill>
                  <a:srgbClr val="000000"/>
                </a:solidFill>
                <a:latin typeface="Arial"/>
                <a:ea typeface="Arial"/>
              </a:rPr>
              <a:t>04.</a:t>
            </a:r>
            <a:endParaRPr lang="en-US" sz="1100"/>
          </a:p>
        </p:txBody>
      </p:sp>
      <p:sp>
        <p:nvSpPr>
          <p:cNvPr id="15" name="AutoShape 15"/>
          <p:cNvSpPr/>
          <p:nvPr/>
        </p:nvSpPr>
        <p:spPr>
          <a:xfrm>
            <a:off x="3628464" y="5652829"/>
            <a:ext cx="1601907" cy="151240"/>
          </a:xfrm>
          <a:prstGeom prst="rect">
            <a:avLst/>
          </a:prstGeom>
          <a:solidFill>
            <a:schemeClr val="accent1"/>
          </a:solidFill>
          <a:ln cap="rnd" cmpd="sng">
            <a:prstDash val="solid"/>
          </a:ln>
        </p:spPr>
        <p:txBody>
          <a:bodyPr rot="0" vert="horz" wrap="square" lIns="91440" tIns="45720" rIns="91440" bIns="45720" anchor="ctr">
            <a:prstTxWarp prst="textNoShape">
              <a:avLst/>
            </a:prstTxWarp>
            <a:normAutofit fontScale="25000" lnSpcReduction="20000"/>
          </a:bodyPr>
          <a:lstStyle/>
          <a:p>
            <a:pPr marL="0" algn="ctr"/>
            <a:endParaRPr/>
          </a:p>
        </p:txBody>
      </p:sp>
      <p:sp>
        <p:nvSpPr>
          <p:cNvPr id="16" name="TextBox 16"/>
          <p:cNvSpPr txBox="1"/>
          <p:nvPr/>
        </p:nvSpPr>
        <p:spPr>
          <a:xfrm>
            <a:off x="6316380" y="5002609"/>
            <a:ext cx="3894420" cy="646331"/>
          </a:xfrm>
          <a:prstGeom prst="rect">
            <a:avLst/>
          </a:prstGeom>
          <a:noFill/>
        </p:spPr>
        <p:txBody>
          <a:bodyPr vert="horz" wrap="square" lIns="91440" tIns="45720" rIns="91440" bIns="45720" rtlCol="0" anchor="t">
            <a:spAutoFit/>
          </a:bodyPr>
          <a:lstStyle/>
          <a:p>
            <a:pPr marL="0" algn="l">
              <a:defRPr/>
            </a:pPr>
            <a:r>
              <a:rPr lang="zh-CN" altLang="en-US" sz="1800" b="1" i="0" u="none" baseline="0" dirty="0">
                <a:solidFill>
                  <a:srgbClr val="000000"/>
                </a:solidFill>
                <a:latin typeface="微软雅黑"/>
                <a:ea typeface="微软雅黑"/>
              </a:rPr>
              <a:t>Customer Insights &amp; Strategic Recommendations</a:t>
            </a:r>
            <a:endParaRPr lang="en-US" sz="1100" dirty="0"/>
          </a:p>
        </p:txBody>
      </p:sp>
      <p:sp>
        <p:nvSpPr>
          <p:cNvPr id="17" name="TextBox 17"/>
          <p:cNvSpPr txBox="1"/>
          <p:nvPr/>
        </p:nvSpPr>
        <p:spPr>
          <a:xfrm>
            <a:off x="6316381" y="4264678"/>
            <a:ext cx="1601906" cy="707886"/>
          </a:xfrm>
          <a:prstGeom prst="rect">
            <a:avLst/>
          </a:prstGeom>
          <a:noFill/>
        </p:spPr>
        <p:txBody>
          <a:bodyPr vert="horz" wrap="square" lIns="91440" tIns="45720" rIns="91440" bIns="45720" rtlCol="0" anchor="t">
            <a:spAutoFit/>
          </a:bodyPr>
          <a:lstStyle/>
          <a:p>
            <a:pPr marL="0" algn="l">
              <a:defRPr/>
            </a:pPr>
            <a:r>
              <a:rPr lang="en-US" sz="4000" b="1" i="0" u="none" baseline="0" dirty="0">
                <a:solidFill>
                  <a:srgbClr val="000000"/>
                </a:solidFill>
                <a:latin typeface="Arial"/>
                <a:ea typeface="Arial"/>
              </a:rPr>
              <a:t>05.</a:t>
            </a:r>
            <a:endParaRPr lang="en-US" sz="1100" dirty="0"/>
          </a:p>
        </p:txBody>
      </p:sp>
      <p:sp>
        <p:nvSpPr>
          <p:cNvPr id="18" name="AutoShape 18"/>
          <p:cNvSpPr/>
          <p:nvPr/>
        </p:nvSpPr>
        <p:spPr>
          <a:xfrm>
            <a:off x="6390053" y="5648940"/>
            <a:ext cx="1601907" cy="151240"/>
          </a:xfrm>
          <a:prstGeom prst="rect">
            <a:avLst/>
          </a:prstGeom>
          <a:solidFill>
            <a:schemeClr val="accent2"/>
          </a:solidFill>
          <a:ln cap="rnd" cmpd="sng">
            <a:prstDash val="solid"/>
          </a:ln>
        </p:spPr>
        <p:txBody>
          <a:bodyPr rot="0" vert="horz" wrap="square" lIns="91440" tIns="45720" rIns="91440" bIns="45720" anchor="ctr">
            <a:prstTxWarp prst="textNoShape">
              <a:avLst/>
            </a:prstTxWarp>
            <a:normAutofit fontScale="25000" lnSpcReduction="20000"/>
          </a:bodyPr>
          <a:lstStyle/>
          <a:p>
            <a:pPr marL="0"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7024912" y="3429000"/>
            <a:ext cx="4493987" cy="646331"/>
          </a:xfrm>
        </p:spPr>
        <p:txBody>
          <a:bodyPr vert="horz" lIns="91440" tIns="45720" rIns="91440" bIns="45720" anchor="t">
            <a:normAutofit fontScale="90000"/>
          </a:bodyPr>
          <a:lstStyle/>
          <a:p>
            <a:pPr algn="r">
              <a:lnSpc>
                <a:spcPct val="90000"/>
              </a:lnSpc>
              <a:spcBef>
                <a:spcPct val="0"/>
              </a:spcBef>
            </a:pPr>
            <a:r>
              <a:rPr lang="zh-CN" altLang="en-US" sz="2854" b="1" i="0" u="none" baseline="0">
                <a:solidFill>
                  <a:srgbClr val="000000"/>
                </a:solidFill>
                <a:latin typeface="微软雅黑"/>
                <a:ea typeface="微软雅黑"/>
              </a:rPr>
              <a:t>Executive Summary &amp; Business Context</a:t>
            </a:r>
          </a:p>
        </p:txBody>
      </p:sp>
      <p:sp>
        <p:nvSpPr>
          <p:cNvPr id="3" name="TextBox 3"/>
          <p:cNvSpPr txBox="1"/>
          <p:nvPr/>
        </p:nvSpPr>
        <p:spPr>
          <a:xfrm>
            <a:off x="7024914" y="2533370"/>
            <a:ext cx="4493986" cy="840230"/>
          </a:xfrm>
          <a:prstGeom prst="rect">
            <a:avLst/>
          </a:prstGeom>
        </p:spPr>
        <p:txBody>
          <a:bodyPr vert="horz" wrap="square" lIns="91440" tIns="45720" rIns="91440" bIns="45720" rtlCol="0" anchor="b">
            <a:spAutoFit/>
          </a:bodyPr>
          <a:lstStyle/>
          <a:p>
            <a:pPr marL="0" algn="r">
              <a:lnSpc>
                <a:spcPct val="90000"/>
              </a:lnSpc>
              <a:spcBef>
                <a:spcPct val="0"/>
              </a:spcBef>
              <a:defRPr/>
            </a:pPr>
            <a:r>
              <a:rPr lang="en-GB" sz="5400" b="1" i="0" u="none" baseline="0">
                <a:solidFill>
                  <a:srgbClr val="000000"/>
                </a:solidFill>
                <a:latin typeface="Arial"/>
                <a:ea typeface="Arial"/>
              </a:rPr>
              <a:t>01</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0"/>
            <a:ext cx="10858500" cy="1028700"/>
          </a:xfrm>
        </p:spPr>
        <p:txBody>
          <a:bodyPr vert="horz" lIns="91440" tIns="45720" rIns="91440" bIns="45720" anchor="b">
            <a:normAutofit/>
          </a:bodyPr>
          <a:lstStyle/>
          <a:p>
            <a:pPr algn="l">
              <a:lnSpc>
                <a:spcPct val="90000"/>
              </a:lnSpc>
              <a:spcBef>
                <a:spcPct val="0"/>
              </a:spcBef>
            </a:pPr>
            <a:r>
              <a:rPr lang="zh-CN" altLang="en-US" sz="2800" b="1" i="0" u="none" baseline="0">
                <a:solidFill>
                  <a:srgbClr val="000000"/>
                </a:solidFill>
                <a:latin typeface="微软雅黑"/>
                <a:ea typeface="微软雅黑"/>
              </a:rPr>
              <a:t>Project Overview</a:t>
            </a:r>
          </a:p>
        </p:txBody>
      </p:sp>
      <p:sp>
        <p:nvSpPr>
          <p:cNvPr id="3" name="AutoShape 3"/>
          <p:cNvSpPr/>
          <p:nvPr/>
        </p:nvSpPr>
        <p:spPr>
          <a:xfrm>
            <a:off x="6434933" y="0"/>
            <a:ext cx="5757065" cy="6858000"/>
          </a:xfrm>
          <a:prstGeom prst="roundRect">
            <a:avLst>
              <a:gd name="adj" fmla="val 0"/>
            </a:avLst>
          </a:prstGeom>
          <a:blipFill>
            <a:blip r:embed="rId2"/>
            <a:stretch>
              <a:fillRect t="-24658" b="-24566"/>
            </a:stretch>
          </a:blipFill>
          <a:ln cap="flat">
            <a:prstDash val="solid"/>
          </a:ln>
        </p:spPr>
        <p:txBody>
          <a:bodyPr rot="0" vert="horz" wrap="square" lIns="91440" tIns="45720" rIns="91440" bIns="45720" anchor="ctr">
            <a:prstTxWarp prst="textNoShape">
              <a:avLst/>
            </a:prstTxWarp>
            <a:noAutofit/>
          </a:bodyPr>
          <a:lstStyle/>
          <a:p>
            <a:pPr marL="0" algn="ctr"/>
            <a:endParaRPr/>
          </a:p>
        </p:txBody>
      </p:sp>
      <p:cxnSp>
        <p:nvCxnSpPr>
          <p:cNvPr id="4" name="Connector 4"/>
          <p:cNvCxnSpPr/>
          <p:nvPr/>
        </p:nvCxnSpPr>
        <p:spPr>
          <a:xfrm>
            <a:off x="941952" y="2149929"/>
            <a:ext cx="0" cy="4708071"/>
          </a:xfrm>
          <a:prstGeom prst="line">
            <a:avLst/>
          </a:prstGeom>
          <a:ln w="6350" cap="flat" cmpd="sng">
            <a:solidFill>
              <a:srgbClr val="778495">
                <a:alpha val="50000"/>
              </a:srgbClr>
            </a:solidFill>
            <a:prstDash val="solid"/>
          </a:ln>
        </p:spPr>
      </p:cxnSp>
      <p:sp>
        <p:nvSpPr>
          <p:cNvPr id="5" name="AutoShape 5"/>
          <p:cNvSpPr/>
          <p:nvPr/>
        </p:nvSpPr>
        <p:spPr>
          <a:xfrm>
            <a:off x="1238512" y="1970315"/>
            <a:ext cx="5002430" cy="338555"/>
          </a:xfrm>
          <a:prstGeom prst="rect">
            <a:avLst/>
          </a:prstGeom>
          <a:noFill/>
          <a:ln cap="flat" cmpd="sng">
            <a:prstDash val="solid"/>
          </a:ln>
        </p:spPr>
        <p:txBody>
          <a:bodyPr vert="horz" wrap="square" lIns="91440" tIns="45720" rIns="91440" bIns="45720" anchor="b">
            <a:spAutoFit/>
          </a:bodyPr>
          <a:lstStyle/>
          <a:p>
            <a:pPr marL="0" algn="l"/>
            <a:r>
              <a:rPr lang="en-US" sz="1600" b="1" i="0" u="none" baseline="0">
                <a:solidFill>
                  <a:schemeClr val="accent1"/>
                </a:solidFill>
                <a:latin typeface="+mn-ea"/>
                <a:ea typeface="+mn-ea"/>
              </a:rPr>
              <a:t>Purpose of the Analysis</a:t>
            </a:r>
          </a:p>
        </p:txBody>
      </p:sp>
      <p:sp>
        <p:nvSpPr>
          <p:cNvPr id="6" name="AutoShape 6"/>
          <p:cNvSpPr/>
          <p:nvPr/>
        </p:nvSpPr>
        <p:spPr>
          <a:xfrm>
            <a:off x="1238512" y="2318393"/>
            <a:ext cx="5002427" cy="1346522"/>
          </a:xfrm>
          <a:prstGeom prst="rect">
            <a:avLst/>
          </a:prstGeom>
          <a:noFill/>
          <a:ln cap="flat" cmpd="sng">
            <a:prstDash val="solid"/>
          </a:ln>
        </p:spPr>
        <p:txBody>
          <a:bodyPr vert="horz" wrap="square" lIns="91440" tIns="45720" rIns="91440" bIns="45720" anchor="t">
            <a:spAutoFit/>
          </a:bodyPr>
          <a:lstStyle/>
          <a:p>
            <a:pPr marL="0" algn="just">
              <a:lnSpc>
                <a:spcPct val="150000"/>
              </a:lnSpc>
            </a:pPr>
            <a:r>
              <a:rPr lang="zh-CN" altLang="en-US" sz="1400" b="0" i="0" u="none" baseline="0" dirty="0">
                <a:solidFill>
                  <a:srgbClr val="000000"/>
                </a:solidFill>
                <a:latin typeface="微软雅黑"/>
                <a:ea typeface="微软雅黑"/>
              </a:rPr>
              <a:t>This project examines hotel booking behaviour from 2017–2019 to uncover patterns in hotel type preference, seasonal demand, cancellation behaviour, stay duration, booking lead time, and revenue performance.</a:t>
            </a:r>
          </a:p>
        </p:txBody>
      </p:sp>
      <p:sp>
        <p:nvSpPr>
          <p:cNvPr id="7" name="AutoShape 7"/>
          <p:cNvSpPr/>
          <p:nvPr/>
        </p:nvSpPr>
        <p:spPr>
          <a:xfrm>
            <a:off x="871327" y="2068966"/>
            <a:ext cx="141249" cy="141249"/>
          </a:xfrm>
          <a:prstGeom prst="ellipse">
            <a:avLst/>
          </a:prstGeom>
          <a:solidFill>
            <a:srgbClr val="FFFFFF"/>
          </a:solidFill>
          <a:ln w="38100" cap="flat" cmpd="sng">
            <a:solidFill>
              <a:schemeClr val="accent1"/>
            </a:solidFill>
            <a:prstDash val="solid"/>
          </a:ln>
        </p:spPr>
        <p:txBody>
          <a:bodyPr vert="horz" lIns="91440" tIns="45720" rIns="91440" bIns="45720" anchor="ctr">
            <a:normAutofit fontScale="25000" lnSpcReduction="20000"/>
          </a:bodyPr>
          <a:lstStyle/>
          <a:p>
            <a:pPr marL="0" algn="ctr"/>
            <a:endParaRPr/>
          </a:p>
        </p:txBody>
      </p:sp>
      <p:sp>
        <p:nvSpPr>
          <p:cNvPr id="8" name="AutoShape 8"/>
          <p:cNvSpPr/>
          <p:nvPr/>
        </p:nvSpPr>
        <p:spPr>
          <a:xfrm>
            <a:off x="1238512" y="4049955"/>
            <a:ext cx="5002430" cy="338555"/>
          </a:xfrm>
          <a:prstGeom prst="rect">
            <a:avLst/>
          </a:prstGeom>
          <a:noFill/>
          <a:ln cap="flat" cmpd="sng">
            <a:prstDash val="solid"/>
          </a:ln>
        </p:spPr>
        <p:txBody>
          <a:bodyPr vert="horz" wrap="square" lIns="91440" tIns="45720" rIns="91440" bIns="45720" anchor="b">
            <a:spAutoFit/>
          </a:bodyPr>
          <a:lstStyle/>
          <a:p>
            <a:pPr marL="0" algn="l"/>
            <a:r>
              <a:rPr lang="en-US" sz="1600" b="1" i="0" u="none" baseline="0">
                <a:solidFill>
                  <a:schemeClr val="accent1"/>
                </a:solidFill>
                <a:latin typeface="+mn-ea"/>
                <a:ea typeface="+mn-ea"/>
              </a:rPr>
              <a:t>Core Analytical Dimensions</a:t>
            </a:r>
          </a:p>
        </p:txBody>
      </p:sp>
      <p:sp>
        <p:nvSpPr>
          <p:cNvPr id="9" name="AutoShape 9"/>
          <p:cNvSpPr/>
          <p:nvPr/>
        </p:nvSpPr>
        <p:spPr>
          <a:xfrm>
            <a:off x="1238512" y="4398033"/>
            <a:ext cx="5002427" cy="1346522"/>
          </a:xfrm>
          <a:prstGeom prst="rect">
            <a:avLst/>
          </a:prstGeom>
          <a:noFill/>
          <a:ln cap="flat" cmpd="sng">
            <a:prstDash val="solid"/>
          </a:ln>
        </p:spPr>
        <p:txBody>
          <a:bodyPr vert="horz" wrap="square" lIns="91440" tIns="45720" rIns="91440" bIns="45720" anchor="t">
            <a:spAutoFit/>
          </a:bodyPr>
          <a:lstStyle/>
          <a:p>
            <a:pPr marL="0" algn="just">
              <a:lnSpc>
                <a:spcPct val="150000"/>
              </a:lnSpc>
            </a:pPr>
            <a:r>
              <a:rPr lang="zh-CN" altLang="en-US" sz="1400" b="0" i="0" u="none" baseline="0" dirty="0">
                <a:solidFill>
                  <a:srgbClr val="000000"/>
                </a:solidFill>
                <a:latin typeface="微软雅黑"/>
                <a:ea typeface="微软雅黑"/>
              </a:rPr>
              <a:t>The study focuses on six key areas: hotel type preference, seasonal booking demand, cancellation behaviour, stay duration, booking lead time, and revenue/ADR patterns.</a:t>
            </a:r>
          </a:p>
        </p:txBody>
      </p:sp>
      <p:sp>
        <p:nvSpPr>
          <p:cNvPr id="10" name="AutoShape 10"/>
          <p:cNvSpPr/>
          <p:nvPr/>
        </p:nvSpPr>
        <p:spPr>
          <a:xfrm>
            <a:off x="871327" y="4148606"/>
            <a:ext cx="141249" cy="141249"/>
          </a:xfrm>
          <a:prstGeom prst="ellipse">
            <a:avLst/>
          </a:prstGeom>
          <a:solidFill>
            <a:srgbClr val="FFFFFF"/>
          </a:solidFill>
          <a:ln w="38100" cap="flat" cmpd="sng">
            <a:solidFill>
              <a:schemeClr val="accent1"/>
            </a:solidFill>
            <a:prstDash val="solid"/>
          </a:ln>
        </p:spPr>
        <p:txBody>
          <a:bodyPr vert="horz" lIns="91440" tIns="45720" rIns="91440" bIns="45720" anchor="ctr">
            <a:normAutofit fontScale="25000" lnSpcReduction="20000"/>
          </a:bodyPr>
          <a:lstStyle/>
          <a:p>
            <a:pPr marL="0"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0"/>
            <a:ext cx="10858500" cy="1028700"/>
          </a:xfrm>
        </p:spPr>
        <p:txBody>
          <a:bodyPr vert="horz" lIns="91440" tIns="45720" rIns="91440" bIns="45720" anchor="b">
            <a:normAutofit/>
          </a:bodyPr>
          <a:lstStyle/>
          <a:p>
            <a:pPr algn="l">
              <a:lnSpc>
                <a:spcPct val="90000"/>
              </a:lnSpc>
              <a:spcBef>
                <a:spcPct val="0"/>
              </a:spcBef>
            </a:pPr>
            <a:r>
              <a:rPr lang="zh-CN" altLang="en-US" sz="2800" b="1" i="0" u="none" baseline="0">
                <a:solidFill>
                  <a:srgbClr val="000000"/>
                </a:solidFill>
                <a:latin typeface="微软雅黑"/>
                <a:ea typeface="微软雅黑"/>
              </a:rPr>
              <a:t>Key Findings at a Glance</a:t>
            </a:r>
          </a:p>
        </p:txBody>
      </p:sp>
      <p:pic>
        <p:nvPicPr>
          <p:cNvPr id="3" name="image4.png"/>
          <p:cNvPicPr>
            <a:picLocks noChangeAspect="1"/>
          </p:cNvPicPr>
          <p:nvPr/>
        </p:nvPicPr>
        <p:blipFill>
          <a:blip r:embed="rId2"/>
          <a:srcRect/>
          <a:stretch>
            <a:fillRect/>
          </a:stretch>
        </p:blipFill>
        <p:spPr>
          <a:xfrm rot="156584">
            <a:off x="7827890" y="1837100"/>
            <a:ext cx="2817227" cy="3269375"/>
          </a:xfrm>
          <a:prstGeom prst="rect">
            <a:avLst/>
          </a:prstGeom>
        </p:spPr>
      </p:pic>
      <p:cxnSp>
        <p:nvCxnSpPr>
          <p:cNvPr id="4" name="Connector 4"/>
          <p:cNvCxnSpPr/>
          <p:nvPr/>
        </p:nvCxnSpPr>
        <p:spPr>
          <a:xfrm>
            <a:off x="1929834" y="2647743"/>
            <a:ext cx="2747932" cy="0"/>
          </a:xfrm>
          <a:prstGeom prst="line">
            <a:avLst/>
          </a:prstGeom>
          <a:ln w="6350" cap="flat" cmpd="sng">
            <a:solidFill>
              <a:srgbClr val="000000">
                <a:lumMod val="85000"/>
                <a:lumOff val="15000"/>
              </a:srgbClr>
            </a:solidFill>
            <a:prstDash val="solid"/>
          </a:ln>
        </p:spPr>
      </p:cxnSp>
      <p:cxnSp>
        <p:nvCxnSpPr>
          <p:cNvPr id="5" name="Connector 5"/>
          <p:cNvCxnSpPr/>
          <p:nvPr/>
        </p:nvCxnSpPr>
        <p:spPr>
          <a:xfrm>
            <a:off x="5412621" y="2644686"/>
            <a:ext cx="2747932" cy="0"/>
          </a:xfrm>
          <a:prstGeom prst="line">
            <a:avLst/>
          </a:prstGeom>
          <a:ln w="6350" cap="flat" cmpd="sng">
            <a:solidFill>
              <a:srgbClr val="000000">
                <a:lumMod val="85000"/>
                <a:lumOff val="15000"/>
              </a:srgbClr>
            </a:solidFill>
            <a:prstDash val="solid"/>
          </a:ln>
        </p:spPr>
      </p:cxnSp>
      <p:grpSp>
        <p:nvGrpSpPr>
          <p:cNvPr id="6" name="Group 6"/>
          <p:cNvGrpSpPr/>
          <p:nvPr/>
        </p:nvGrpSpPr>
        <p:grpSpPr>
          <a:xfrm>
            <a:off x="1616668" y="2288059"/>
            <a:ext cx="245558" cy="237417"/>
            <a:chOff x="1101969" y="1465385"/>
            <a:chExt cx="679206" cy="567843"/>
          </a:xfrm>
          <a:solidFill>
            <a:schemeClr val="accent1"/>
          </a:solidFill>
        </p:grpSpPr>
        <p:sp>
          <p:nvSpPr>
            <p:cNvPr id="7" name="AutoShape 7"/>
            <p:cNvSpPr/>
            <p:nvPr/>
          </p:nvSpPr>
          <p:spPr>
            <a:xfrm>
              <a:off x="1101969" y="1465385"/>
              <a:ext cx="269631" cy="567843"/>
            </a:xfrm>
            <a:prstGeom prst="rect">
              <a:avLst/>
            </a:prstGeom>
            <a:grpFill/>
            <a:ln cap="flat" cmpd="sng">
              <a:prstDash val="solid"/>
            </a:ln>
          </p:spPr>
          <p:txBody>
            <a:bodyPr vert="horz" lIns="91440" tIns="45720" rIns="91440" bIns="45720" anchor="ctr">
              <a:normAutofit fontScale="62500" lnSpcReduction="20000"/>
            </a:bodyPr>
            <a:lstStyle/>
            <a:p>
              <a:pPr marL="0" algn="ctr"/>
              <a:endParaRPr/>
            </a:p>
          </p:txBody>
        </p:sp>
        <p:sp>
          <p:nvSpPr>
            <p:cNvPr id="8" name="AutoShape 8"/>
            <p:cNvSpPr/>
            <p:nvPr/>
          </p:nvSpPr>
          <p:spPr>
            <a:xfrm>
              <a:off x="1473444" y="1465385"/>
              <a:ext cx="117231" cy="567843"/>
            </a:xfrm>
            <a:prstGeom prst="rect">
              <a:avLst/>
            </a:prstGeom>
            <a:grpFill/>
            <a:ln cap="flat" cmpd="sng">
              <a:prstDash val="solid"/>
            </a:ln>
          </p:spPr>
          <p:txBody>
            <a:bodyPr vert="horz" lIns="91440" tIns="45720" rIns="91440" bIns="45720" anchor="ctr">
              <a:normAutofit fontScale="62500" lnSpcReduction="20000"/>
            </a:bodyPr>
            <a:lstStyle/>
            <a:p>
              <a:pPr marL="0" algn="ctr"/>
              <a:endParaRPr/>
            </a:p>
          </p:txBody>
        </p:sp>
        <p:sp>
          <p:nvSpPr>
            <p:cNvPr id="9" name="AutoShape 9"/>
            <p:cNvSpPr/>
            <p:nvPr/>
          </p:nvSpPr>
          <p:spPr>
            <a:xfrm>
              <a:off x="1663944" y="1465385"/>
              <a:ext cx="117231" cy="567843"/>
            </a:xfrm>
            <a:prstGeom prst="rect">
              <a:avLst/>
            </a:prstGeom>
            <a:grpFill/>
            <a:ln cap="flat" cmpd="sng">
              <a:prstDash val="solid"/>
            </a:ln>
          </p:spPr>
          <p:txBody>
            <a:bodyPr vert="horz" lIns="91440" tIns="45720" rIns="91440" bIns="45720" anchor="ctr">
              <a:normAutofit fontScale="62500" lnSpcReduction="20000"/>
            </a:bodyPr>
            <a:lstStyle/>
            <a:p>
              <a:pPr marL="0" algn="ctr"/>
              <a:endParaRPr/>
            </a:p>
          </p:txBody>
        </p:sp>
      </p:grpSp>
      <p:grpSp>
        <p:nvGrpSpPr>
          <p:cNvPr id="10" name="Group 10"/>
          <p:cNvGrpSpPr/>
          <p:nvPr/>
        </p:nvGrpSpPr>
        <p:grpSpPr>
          <a:xfrm>
            <a:off x="5090881" y="2288059"/>
            <a:ext cx="245558" cy="237417"/>
            <a:chOff x="1101969" y="1465385"/>
            <a:chExt cx="679206" cy="567843"/>
          </a:xfrm>
          <a:solidFill>
            <a:schemeClr val="accent1"/>
          </a:solidFill>
        </p:grpSpPr>
        <p:sp>
          <p:nvSpPr>
            <p:cNvPr id="11" name="AutoShape 11"/>
            <p:cNvSpPr/>
            <p:nvPr/>
          </p:nvSpPr>
          <p:spPr>
            <a:xfrm>
              <a:off x="1101969" y="1465385"/>
              <a:ext cx="269631" cy="567843"/>
            </a:xfrm>
            <a:prstGeom prst="rect">
              <a:avLst/>
            </a:prstGeom>
            <a:grpFill/>
            <a:ln cap="flat" cmpd="sng">
              <a:prstDash val="solid"/>
            </a:ln>
          </p:spPr>
          <p:txBody>
            <a:bodyPr vert="horz" lIns="91440" tIns="45720" rIns="91440" bIns="45720" anchor="ctr">
              <a:normAutofit fontScale="62500" lnSpcReduction="20000"/>
            </a:bodyPr>
            <a:lstStyle/>
            <a:p>
              <a:pPr marL="0" algn="ctr"/>
              <a:endParaRPr/>
            </a:p>
          </p:txBody>
        </p:sp>
        <p:sp>
          <p:nvSpPr>
            <p:cNvPr id="12" name="AutoShape 12"/>
            <p:cNvSpPr/>
            <p:nvPr/>
          </p:nvSpPr>
          <p:spPr>
            <a:xfrm>
              <a:off x="1473444" y="1465385"/>
              <a:ext cx="117231" cy="567843"/>
            </a:xfrm>
            <a:prstGeom prst="rect">
              <a:avLst/>
            </a:prstGeom>
            <a:grpFill/>
            <a:ln cap="flat" cmpd="sng">
              <a:prstDash val="solid"/>
            </a:ln>
          </p:spPr>
          <p:txBody>
            <a:bodyPr vert="horz" lIns="91440" tIns="45720" rIns="91440" bIns="45720" anchor="ctr">
              <a:normAutofit fontScale="62500" lnSpcReduction="20000"/>
            </a:bodyPr>
            <a:lstStyle/>
            <a:p>
              <a:pPr marL="0" algn="ctr"/>
              <a:endParaRPr/>
            </a:p>
          </p:txBody>
        </p:sp>
        <p:sp>
          <p:nvSpPr>
            <p:cNvPr id="13" name="AutoShape 13"/>
            <p:cNvSpPr/>
            <p:nvPr/>
          </p:nvSpPr>
          <p:spPr>
            <a:xfrm>
              <a:off x="1663944" y="1465385"/>
              <a:ext cx="117231" cy="567843"/>
            </a:xfrm>
            <a:prstGeom prst="rect">
              <a:avLst/>
            </a:prstGeom>
            <a:grpFill/>
            <a:ln cap="flat" cmpd="sng">
              <a:prstDash val="solid"/>
            </a:ln>
          </p:spPr>
          <p:txBody>
            <a:bodyPr vert="horz" lIns="91440" tIns="45720" rIns="91440" bIns="45720" anchor="ctr">
              <a:normAutofit fontScale="62500" lnSpcReduction="20000"/>
            </a:bodyPr>
            <a:lstStyle/>
            <a:p>
              <a:pPr marL="0" algn="ctr"/>
              <a:endParaRPr/>
            </a:p>
          </p:txBody>
        </p:sp>
      </p:grpSp>
      <p:sp>
        <p:nvSpPr>
          <p:cNvPr id="14" name="TextBox 14"/>
          <p:cNvSpPr txBox="1"/>
          <p:nvPr/>
        </p:nvSpPr>
        <p:spPr>
          <a:xfrm>
            <a:off x="1929833" y="2277764"/>
            <a:ext cx="2703035" cy="338554"/>
          </a:xfrm>
          <a:prstGeom prst="rect">
            <a:avLst/>
          </a:prstGeom>
          <a:noFill/>
        </p:spPr>
        <p:txBody>
          <a:bodyPr vert="horz" wrap="square" lIns="91440" tIns="45720" rIns="91440" bIns="45720" rtlCol="0" anchor="b">
            <a:spAutoFit/>
          </a:bodyPr>
          <a:lstStyle/>
          <a:p>
            <a:pPr marL="0" algn="ctr">
              <a:defRPr/>
            </a:pPr>
            <a:r>
              <a:rPr lang="en-US" sz="1600" b="1" i="0" u="none" baseline="0">
                <a:solidFill>
                  <a:srgbClr val="000000"/>
                </a:solidFill>
                <a:latin typeface="+mn-ea"/>
                <a:ea typeface="+mn-ea"/>
              </a:rPr>
              <a:t>Headline Statistics</a:t>
            </a:r>
            <a:endParaRPr lang="en-US" sz="1100"/>
          </a:p>
        </p:txBody>
      </p:sp>
      <p:sp>
        <p:nvSpPr>
          <p:cNvPr id="15" name="TextBox 15"/>
          <p:cNvSpPr txBox="1"/>
          <p:nvPr/>
        </p:nvSpPr>
        <p:spPr>
          <a:xfrm>
            <a:off x="5451328" y="2215309"/>
            <a:ext cx="2703035" cy="338554"/>
          </a:xfrm>
          <a:prstGeom prst="rect">
            <a:avLst/>
          </a:prstGeom>
          <a:noFill/>
        </p:spPr>
        <p:txBody>
          <a:bodyPr vert="horz" wrap="square" lIns="91440" tIns="45720" rIns="91440" bIns="45720" rtlCol="0" anchor="b">
            <a:spAutoFit/>
          </a:bodyPr>
          <a:lstStyle/>
          <a:p>
            <a:pPr marL="0" algn="ctr">
              <a:defRPr/>
            </a:pPr>
            <a:r>
              <a:rPr lang="en-US" sz="1600" b="1" i="0" u="none" baseline="0">
                <a:solidFill>
                  <a:srgbClr val="000000"/>
                </a:solidFill>
                <a:latin typeface="+mn-ea"/>
                <a:ea typeface="+mn-ea"/>
              </a:rPr>
              <a:t>Critical Risk Pattern</a:t>
            </a:r>
            <a:endParaRPr lang="en-US" sz="1100"/>
          </a:p>
        </p:txBody>
      </p:sp>
      <p:sp>
        <p:nvSpPr>
          <p:cNvPr id="16" name="TextBox 16"/>
          <p:cNvSpPr txBox="1"/>
          <p:nvPr/>
        </p:nvSpPr>
        <p:spPr>
          <a:xfrm>
            <a:off x="1940518" y="2885397"/>
            <a:ext cx="2747932" cy="1670073"/>
          </a:xfrm>
          <a:prstGeom prst="rect">
            <a:avLst/>
          </a:prstGeom>
          <a:noFill/>
        </p:spPr>
        <p:txBody>
          <a:bodyPr vert="horz" wrap="square" lIns="91440" tIns="45720" rIns="91440" bIns="45720" rtlCol="0" anchor="t">
            <a:spAutoFit/>
          </a:bodyPr>
          <a:lstStyle/>
          <a:p>
            <a:pPr marL="0" algn="just">
              <a:lnSpc>
                <a:spcPct val="150000"/>
              </a:lnSpc>
              <a:defRPr/>
            </a:pPr>
            <a:r>
              <a:rPr lang="en-US" sz="1400" b="0" i="0" u="none" baseline="0">
                <a:solidFill>
                  <a:srgbClr val="3A3A3A"/>
                </a:solidFill>
                <a:latin typeface="+mn-ea"/>
                <a:ea typeface="+mn-ea"/>
              </a:rPr>
              <a:t>City Hotel accounts for 66.4% of all bookings, while the overall cancellation rate stands at 37.0%. The average booking lead time is 104 days, and October records the highest monthly booking volume.</a:t>
            </a:r>
            <a:endParaRPr lang="en-US" sz="1100"/>
          </a:p>
        </p:txBody>
      </p:sp>
      <p:sp>
        <p:nvSpPr>
          <p:cNvPr id="17" name="TextBox 17"/>
          <p:cNvSpPr txBox="1"/>
          <p:nvPr/>
        </p:nvSpPr>
        <p:spPr>
          <a:xfrm>
            <a:off x="5412620" y="2885396"/>
            <a:ext cx="2741743" cy="1670073"/>
          </a:xfrm>
          <a:prstGeom prst="rect">
            <a:avLst/>
          </a:prstGeom>
          <a:noFill/>
        </p:spPr>
        <p:txBody>
          <a:bodyPr vert="horz" wrap="square" lIns="91440" tIns="45720" rIns="91440" bIns="45720" rtlCol="0" anchor="t">
            <a:spAutoFit/>
          </a:bodyPr>
          <a:lstStyle/>
          <a:p>
            <a:pPr marL="0" algn="just">
              <a:lnSpc>
                <a:spcPct val="150000"/>
              </a:lnSpc>
              <a:defRPr/>
            </a:pPr>
            <a:r>
              <a:rPr lang="en-US" sz="1400" b="0" i="0" u="none" baseline="0">
                <a:solidFill>
                  <a:srgbClr val="3A3A3A"/>
                </a:solidFill>
                <a:latin typeface="+mn-ea"/>
                <a:ea typeface="+mn-ea"/>
              </a:rPr>
              <a:t>Bookings made 180+ days in advance show approximately 57% cancellation, compared with only 9.6% for bookings made 0–7 days before arrival—a 47.4 percentage-point gap.</a:t>
            </a:r>
            <a:endParaRPr lang="en-US" sz="1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anim calcmode="lin" valueType="num">
                                      <p:cBhvr>
                                        <p:cTn id="6" dur="1000" fill="hold"/>
                                        <p:tgtEl>
                                          <p:spTgt spid="3"/>
                                        </p:tgtEl>
                                        <p:attrNameLst>
                                          <p:attrName>ppt_x</p:attrName>
                                        </p:attrNameLst>
                                      </p:cBhvr>
                                      <p:tavLst>
                                        <p:tav tm="0">
                                          <p:val>
                                            <p:strVal val="#ppt_x"/>
                                          </p:val>
                                        </p:tav>
                                        <p:tav tm="100000">
                                          <p:val>
                                            <p:strVal val="#ppt_x"/>
                                          </p:val>
                                        </p:tav>
                                      </p:tavLst>
                                    </p:anim>
                                    <p:anim calcmode="lin" valueType="num">
                                      <p:cBhvr>
                                        <p:cTn id="7" dur="1000" fill="hold"/>
                                        <p:tgtEl>
                                          <p:spTgt spid="3"/>
                                        </p:tgtEl>
                                        <p:attrNameLst>
                                          <p:attrName>ppt_y</p:attrName>
                                        </p:attrNameLst>
                                      </p:cBhvr>
                                      <p:tavLst>
                                        <p:tav tm="0">
                                          <p:val>
                                            <p:strVal val="#ppt_y+.1"/>
                                          </p:val>
                                        </p:tav>
                                        <p:tav tm="100000">
                                          <p:val>
                                            <p:strVal val="#ppt_y"/>
                                          </p:val>
                                        </p:tav>
                                      </p:tavLst>
                                    </p:anim>
                                    <p:animEffect transition="in" filter="fade">
                                      <p:cBhvr>
                                        <p:cTn id="8" dur="1000"/>
                                        <p:tgtEl>
                                          <p:spTgt spid="3"/>
                                        </p:tgtEl>
                                      </p:cBhvr>
                                    </p:animEffect>
                                    <p:set>
                                      <p:cBhvr>
                                        <p:cTn id="9" dur="1" fill="hold">
                                          <p:stCondLst>
                                            <p:cond delay="0"/>
                                          </p:stCondLst>
                                        </p:cTn>
                                        <p:tgtEl>
                                          <p:spTgt spid="3"/>
                                        </p:tgtEl>
                                        <p:attrNameLst>
                                          <p:attrName>style.visibility</p:attrName>
                                        </p:attrNameLst>
                                      </p:cBhvr>
                                      <p:to>
                                        <p:strVal val="visible"/>
                                      </p:to>
                                    </p:set>
                                  </p:childTnLst>
                                </p:cTn>
                              </p:par>
                              <p:par>
                                <p:cTn id="10" presetID="42" presetClass="entr" presetSubtype="0" fill="hold" nodeType="withEffect">
                                  <p:stCondLst>
                                    <p:cond delay="0"/>
                                  </p:stCondLst>
                                  <p:childTnLst>
                                    <p:anim calcmode="lin" valueType="num">
                                      <p:cBhvr>
                                        <p:cTn id="11" dur="1000" fill="hold"/>
                                        <p:tgtEl>
                                          <p:spTgt spid="6"/>
                                        </p:tgtEl>
                                        <p:attrNameLst>
                                          <p:attrName>ppt_x</p:attrName>
                                        </p:attrNameLst>
                                      </p:cBhvr>
                                      <p:tavLst>
                                        <p:tav tm="0">
                                          <p:val>
                                            <p:strVal val="#ppt_x"/>
                                          </p:val>
                                        </p:tav>
                                        <p:tav tm="100000">
                                          <p:val>
                                            <p:strVal val="#ppt_x"/>
                                          </p:val>
                                        </p:tav>
                                      </p:tavLst>
                                    </p:anim>
                                    <p:anim calcmode="lin" valueType="num">
                                      <p:cBhvr>
                                        <p:cTn id="12" dur="1000" fill="hold"/>
                                        <p:tgtEl>
                                          <p:spTgt spid="6"/>
                                        </p:tgtEl>
                                        <p:attrNameLst>
                                          <p:attrName>ppt_y</p:attrName>
                                        </p:attrNameLst>
                                      </p:cBhvr>
                                      <p:tavLst>
                                        <p:tav tm="0">
                                          <p:val>
                                            <p:strVal val="#ppt_y+.1"/>
                                          </p:val>
                                        </p:tav>
                                        <p:tav tm="100000">
                                          <p:val>
                                            <p:strVal val="#ppt_y"/>
                                          </p:val>
                                        </p:tav>
                                      </p:tavLst>
                                    </p:anim>
                                    <p:animEffect transition="in" filter="fade">
                                      <p:cBhvr>
                                        <p:cTn id="13" dur="1000"/>
                                        <p:tgtEl>
                                          <p:spTgt spid="6"/>
                                        </p:tgtEl>
                                      </p:cBhvr>
                                    </p:animEffect>
                                    <p:set>
                                      <p:cBhvr>
                                        <p:cTn id="14" dur="1" fill="hold">
                                          <p:stCondLst>
                                            <p:cond delay="0"/>
                                          </p:stCondLst>
                                        </p:cTn>
                                        <p:tgtEl>
                                          <p:spTgt spid="6"/>
                                        </p:tgtEl>
                                        <p:attrNameLst>
                                          <p:attrName>style.visibility</p:attrName>
                                        </p:attrNameLst>
                                      </p:cBhvr>
                                      <p:to>
                                        <p:strVal val="visible"/>
                                      </p:to>
                                    </p:set>
                                  </p:childTnLst>
                                </p:cTn>
                              </p:par>
                              <p:par>
                                <p:cTn id="15" presetID="42" presetClass="entr" presetSubtype="0" fill="hold" nodeType="withEffect">
                                  <p:stCondLst>
                                    <p:cond delay="0"/>
                                  </p:stCondLst>
                                  <p:childTnLst>
                                    <p:anim calcmode="lin" valueType="num">
                                      <p:cBhvr>
                                        <p:cTn id="16" dur="1000" fill="hold"/>
                                        <p:tgtEl>
                                          <p:spTgt spid="10"/>
                                        </p:tgtEl>
                                        <p:attrNameLst>
                                          <p:attrName>ppt_x</p:attrName>
                                        </p:attrNameLst>
                                      </p:cBhvr>
                                      <p:tavLst>
                                        <p:tav tm="0">
                                          <p:val>
                                            <p:strVal val="#ppt_x"/>
                                          </p:val>
                                        </p:tav>
                                        <p:tav tm="100000">
                                          <p:val>
                                            <p:strVal val="#ppt_x"/>
                                          </p:val>
                                        </p:tav>
                                      </p:tavLst>
                                    </p:anim>
                                    <p:anim calcmode="lin" valueType="num">
                                      <p:cBhvr>
                                        <p:cTn id="17" dur="1000" fill="hold"/>
                                        <p:tgtEl>
                                          <p:spTgt spid="10"/>
                                        </p:tgtEl>
                                        <p:attrNameLst>
                                          <p:attrName>ppt_y</p:attrName>
                                        </p:attrNameLst>
                                      </p:cBhvr>
                                      <p:tavLst>
                                        <p:tav tm="0">
                                          <p:val>
                                            <p:strVal val="#ppt_y+.1"/>
                                          </p:val>
                                        </p:tav>
                                        <p:tav tm="100000">
                                          <p:val>
                                            <p:strVal val="#ppt_y"/>
                                          </p:val>
                                        </p:tav>
                                      </p:tavLst>
                                    </p:anim>
                                    <p:animEffect transition="in" filter="fade">
                                      <p:cBhvr>
                                        <p:cTn id="18" dur="1000"/>
                                        <p:tgtEl>
                                          <p:spTgt spid="10"/>
                                        </p:tgtEl>
                                      </p:cBhvr>
                                    </p:animEffect>
                                    <p:set>
                                      <p:cBhvr>
                                        <p:cTn id="19" dur="1" fill="hold">
                                          <p:stCondLst>
                                            <p:cond delay="0"/>
                                          </p:stCondLst>
                                        </p:cTn>
                                        <p:tgtEl>
                                          <p:spTgt spid="10"/>
                                        </p:tgtEl>
                                        <p:attrNameLst>
                                          <p:attrName>style.visibility</p:attrName>
                                        </p:attrNameLst>
                                      </p:cBhvr>
                                      <p:to>
                                        <p:strVal val="visible"/>
                                      </p:to>
                                    </p:set>
                                  </p:childTnLst>
                                </p:cTn>
                              </p:par>
                              <p:par>
                                <p:cTn id="20" presetID="14" presetClass="entr" presetSubtype="10" fill="hold" grpId="0" nodeType="withEffect">
                                  <p:stCondLst>
                                    <p:cond delay="0"/>
                                  </p:stCondLst>
                                  <p:childTnLst>
                                    <p:animEffect transition="in" filter="randombar(horizontal)">
                                      <p:cBhvr>
                                        <p:cTn id="21" dur="500"/>
                                        <p:tgtEl>
                                          <p:spTgt spid="14"/>
                                        </p:tgtEl>
                                      </p:cBhvr>
                                    </p:animEffect>
                                    <p:set>
                                      <p:cBhvr>
                                        <p:cTn id="22" dur="1" fill="hold">
                                          <p:stCondLst>
                                            <p:cond delay="0"/>
                                          </p:stCondLst>
                                        </p:cTn>
                                        <p:tgtEl>
                                          <p:spTgt spid="14"/>
                                        </p:tgtEl>
                                        <p:attrNameLst>
                                          <p:attrName>style.visibility</p:attrName>
                                        </p:attrNameLst>
                                      </p:cBhvr>
                                      <p:to>
                                        <p:strVal val="visible"/>
                                      </p:to>
                                    </p:set>
                                  </p:childTnLst>
                                </p:cTn>
                              </p:par>
                              <p:par>
                                <p:cTn id="23" presetID="14" presetClass="entr" presetSubtype="10" fill="hold" grpId="0" nodeType="withEffect">
                                  <p:stCondLst>
                                    <p:cond delay="0"/>
                                  </p:stCondLst>
                                  <p:childTnLst>
                                    <p:animEffect transition="in" filter="randombar(horizontal)">
                                      <p:cBhvr>
                                        <p:cTn id="24" dur="500"/>
                                        <p:tgtEl>
                                          <p:spTgt spid="15"/>
                                        </p:tgtEl>
                                      </p:cBhvr>
                                    </p:animEffect>
                                    <p:set>
                                      <p:cBhvr>
                                        <p:cTn id="25" dur="1" fill="hold">
                                          <p:stCondLst>
                                            <p:cond delay="0"/>
                                          </p:stCondLst>
                                        </p:cTn>
                                        <p:tgtEl>
                                          <p:spTgt spid="15"/>
                                        </p:tgtEl>
                                        <p:attrNameLst>
                                          <p:attrName>style.visibility</p:attrName>
                                        </p:attrNameLst>
                                      </p:cBhvr>
                                      <p:to>
                                        <p:strVal val="visible"/>
                                      </p:to>
                                    </p:set>
                                  </p:childTnLst>
                                </p:cTn>
                              </p:par>
                              <p:par>
                                <p:cTn id="26" presetID="14" presetClass="entr" presetSubtype="10" fill="hold" grpId="0" nodeType="withEffect">
                                  <p:stCondLst>
                                    <p:cond delay="0"/>
                                  </p:stCondLst>
                                  <p:childTnLst>
                                    <p:animEffect transition="in" filter="randombar(horizontal)">
                                      <p:cBhvr>
                                        <p:cTn id="27" dur="500"/>
                                        <p:tgtEl>
                                          <p:spTgt spid="16"/>
                                        </p:tgtEl>
                                      </p:cBhvr>
                                    </p:animEffect>
                                    <p:set>
                                      <p:cBhvr>
                                        <p:cTn id="28" dur="1" fill="hold">
                                          <p:stCondLst>
                                            <p:cond delay="0"/>
                                          </p:stCondLst>
                                        </p:cTn>
                                        <p:tgtEl>
                                          <p:spTgt spid="16"/>
                                        </p:tgtEl>
                                        <p:attrNameLst>
                                          <p:attrName>style.visibility</p:attrName>
                                        </p:attrNameLst>
                                      </p:cBhvr>
                                      <p:to>
                                        <p:strVal val="visible"/>
                                      </p:to>
                                    </p:set>
                                  </p:childTnLst>
                                </p:cTn>
                              </p:par>
                              <p:par>
                                <p:cTn id="29" presetID="14" presetClass="entr" presetSubtype="10" fill="hold" grpId="0" nodeType="withEffect">
                                  <p:stCondLst>
                                    <p:cond delay="0"/>
                                  </p:stCondLst>
                                  <p:childTnLst>
                                    <p:animEffect transition="in" filter="randombar(horizontal)">
                                      <p:cBhvr>
                                        <p:cTn id="30" dur="500"/>
                                        <p:tgtEl>
                                          <p:spTgt spid="17"/>
                                        </p:tgtEl>
                                      </p:cBhvr>
                                    </p:animEffect>
                                    <p:set>
                                      <p:cBhvr>
                                        <p:cTn id="31"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0"/>
            <a:ext cx="10858500" cy="1028700"/>
          </a:xfrm>
        </p:spPr>
        <p:txBody>
          <a:bodyPr vert="horz" lIns="91440" tIns="45720" rIns="91440" bIns="45720" anchor="b">
            <a:normAutofit/>
          </a:bodyPr>
          <a:lstStyle/>
          <a:p>
            <a:pPr algn="l">
              <a:lnSpc>
                <a:spcPct val="90000"/>
              </a:lnSpc>
              <a:spcBef>
                <a:spcPct val="0"/>
              </a:spcBef>
            </a:pPr>
            <a:r>
              <a:rPr lang="zh-CN" altLang="en-US" sz="2800" b="1" i="0" u="none" baseline="0" dirty="0">
                <a:solidFill>
                  <a:srgbClr val="000000"/>
                </a:solidFill>
                <a:latin typeface="微软雅黑"/>
                <a:ea typeface="微软雅黑"/>
              </a:rPr>
              <a:t>Business Problem Statement</a:t>
            </a:r>
          </a:p>
        </p:txBody>
      </p:sp>
      <p:sp>
        <p:nvSpPr>
          <p:cNvPr id="3" name="AutoShape 3"/>
          <p:cNvSpPr/>
          <p:nvPr/>
        </p:nvSpPr>
        <p:spPr>
          <a:xfrm>
            <a:off x="663095" y="1431379"/>
            <a:ext cx="10855805" cy="2017123"/>
          </a:xfrm>
          <a:prstGeom prst="rect">
            <a:avLst/>
          </a:prstGeom>
          <a:gradFill>
            <a:gsLst>
              <a:gs pos="0">
                <a:srgbClr val="FFFFFF">
                  <a:alpha val="0"/>
                </a:srgbClr>
              </a:gs>
              <a:gs pos="100000">
                <a:srgbClr val="FFFFFF"/>
              </a:gs>
            </a:gsLst>
          </a:gradFill>
          <a:ln w="12700" cap="flat" cmpd="sng">
            <a:gradFill>
              <a:gsLst>
                <a:gs pos="50000">
                  <a:srgbClr val="0063DF">
                    <a:alpha val="0"/>
                  </a:srgbClr>
                </a:gs>
                <a:gs pos="100000">
                  <a:srgbClr val="0063DF"/>
                </a:gs>
              </a:gsLst>
            </a:gradFill>
            <a:prstDash val="solid"/>
          </a:ln>
        </p:spPr>
        <p:txBody>
          <a:bodyPr vert="horz" lIns="91440" tIns="45720" rIns="91440" bIns="45720" anchor="ctr">
            <a:normAutofit/>
          </a:bodyPr>
          <a:lstStyle/>
          <a:p>
            <a:pPr marL="0" algn="ctr"/>
            <a:endParaRPr/>
          </a:p>
        </p:txBody>
      </p:sp>
      <p:sp>
        <p:nvSpPr>
          <p:cNvPr id="4" name="AutoShape 4"/>
          <p:cNvSpPr/>
          <p:nvPr/>
        </p:nvSpPr>
        <p:spPr>
          <a:xfrm flipH="1">
            <a:off x="663095" y="3713236"/>
            <a:ext cx="10855805" cy="2017122"/>
          </a:xfrm>
          <a:prstGeom prst="rect">
            <a:avLst/>
          </a:prstGeom>
          <a:gradFill>
            <a:gsLst>
              <a:gs pos="0">
                <a:srgbClr val="FFFFFF">
                  <a:alpha val="0"/>
                </a:srgbClr>
              </a:gs>
              <a:gs pos="100000">
                <a:srgbClr val="FFFFFF"/>
              </a:gs>
            </a:gsLst>
          </a:gradFill>
          <a:ln w="12700" cap="flat" cmpd="sng">
            <a:gradFill>
              <a:gsLst>
                <a:gs pos="50000">
                  <a:srgbClr val="0063DF">
                    <a:alpha val="0"/>
                  </a:srgbClr>
                </a:gs>
                <a:gs pos="100000">
                  <a:srgbClr val="0063DF"/>
                </a:gs>
              </a:gsLst>
            </a:gradFill>
            <a:prstDash val="solid"/>
          </a:ln>
        </p:spPr>
        <p:txBody>
          <a:bodyPr rot="0" vert="horz" wrap="square" lIns="91440" tIns="45720" rIns="91440" bIns="45720" anchor="ctr">
            <a:prstTxWarp prst="textNoShape">
              <a:avLst/>
            </a:prstTxWarp>
            <a:noAutofit/>
          </a:bodyPr>
          <a:lstStyle/>
          <a:p>
            <a:pPr marL="0" algn="ctr"/>
            <a:endParaRPr/>
          </a:p>
        </p:txBody>
      </p:sp>
      <p:sp>
        <p:nvSpPr>
          <p:cNvPr id="5" name="AutoShape 5"/>
          <p:cNvSpPr/>
          <p:nvPr/>
        </p:nvSpPr>
        <p:spPr>
          <a:xfrm flipH="1">
            <a:off x="11518900" y="1431379"/>
            <a:ext cx="45719" cy="2017123"/>
          </a:xfrm>
          <a:prstGeom prst="rect">
            <a:avLst/>
          </a:prstGeom>
          <a:solidFill>
            <a:schemeClr val="accent1"/>
          </a:solidFill>
          <a:ln cap="flat" cmpd="sng">
            <a:prstDash val="solid"/>
          </a:ln>
        </p:spPr>
        <p:txBody>
          <a:bodyPr vert="horz" lIns="91440" tIns="45720" rIns="91440" bIns="45720" anchor="ctr">
            <a:normAutofit/>
          </a:bodyPr>
          <a:lstStyle/>
          <a:p>
            <a:pPr marL="0" algn="ctr"/>
            <a:endParaRPr/>
          </a:p>
        </p:txBody>
      </p:sp>
      <p:sp>
        <p:nvSpPr>
          <p:cNvPr id="6" name="AutoShape 6"/>
          <p:cNvSpPr/>
          <p:nvPr/>
        </p:nvSpPr>
        <p:spPr>
          <a:xfrm flipH="1">
            <a:off x="650240" y="3713234"/>
            <a:ext cx="45719" cy="2017123"/>
          </a:xfrm>
          <a:prstGeom prst="rect">
            <a:avLst/>
          </a:prstGeom>
          <a:solidFill>
            <a:schemeClr val="accent1"/>
          </a:solidFill>
          <a:ln cap="flat" cmpd="sng">
            <a:prstDash val="solid"/>
          </a:ln>
        </p:spPr>
        <p:txBody>
          <a:bodyPr vert="horz" lIns="91440" tIns="45720" rIns="91440" bIns="45720" anchor="ctr">
            <a:normAutofit/>
          </a:bodyPr>
          <a:lstStyle/>
          <a:p>
            <a:pPr marL="0" algn="ctr"/>
            <a:endParaRPr/>
          </a:p>
        </p:txBody>
      </p:sp>
      <p:sp>
        <p:nvSpPr>
          <p:cNvPr id="7" name="AutoShape 7"/>
          <p:cNvSpPr/>
          <p:nvPr/>
        </p:nvSpPr>
        <p:spPr>
          <a:xfrm>
            <a:off x="4377012" y="2324287"/>
            <a:ext cx="6799846" cy="700576"/>
          </a:xfrm>
          <a:prstGeom prst="rect">
            <a:avLst/>
          </a:prstGeom>
        </p:spPr>
        <p:txBody>
          <a:bodyPr vert="horz" wrap="square" lIns="91440" tIns="45720" rIns="91440" bIns="45720" anchor="t">
            <a:spAutoFit/>
          </a:bodyPr>
          <a:lstStyle/>
          <a:p>
            <a:pPr marL="0" algn="just">
              <a:lnSpc>
                <a:spcPct val="150000"/>
              </a:lnSpc>
              <a:spcAft>
                <a:spcPts val="600"/>
              </a:spcAft>
            </a:pPr>
            <a:r>
              <a:rPr lang="en-US" sz="1400" b="0" i="0" u="none" baseline="0" dirty="0">
                <a:solidFill>
                  <a:srgbClr val="303030"/>
                </a:solidFill>
                <a:latin typeface="+mn-ea"/>
                <a:ea typeface="+mn-ea"/>
              </a:rPr>
              <a:t>How can historical hotel booking data be used to understand demand patterns and identify booking characteristics associated with cancellation risk?</a:t>
            </a:r>
          </a:p>
        </p:txBody>
      </p:sp>
      <p:sp>
        <p:nvSpPr>
          <p:cNvPr id="8" name="AutoShape 8"/>
          <p:cNvSpPr/>
          <p:nvPr/>
        </p:nvSpPr>
        <p:spPr>
          <a:xfrm>
            <a:off x="4377012" y="1862622"/>
            <a:ext cx="6799846" cy="338554"/>
          </a:xfrm>
          <a:prstGeom prst="rect">
            <a:avLst/>
          </a:prstGeom>
        </p:spPr>
        <p:txBody>
          <a:bodyPr vert="horz" wrap="square" lIns="90000" tIns="45720" rIns="91440" bIns="45720" anchor="t">
            <a:spAutoFit/>
          </a:bodyPr>
          <a:lstStyle/>
          <a:p>
            <a:pPr marL="0" algn="l"/>
            <a:r>
              <a:rPr lang="en-US" sz="1600" b="1" i="0" u="none" baseline="0">
                <a:solidFill>
                  <a:schemeClr val="accent1"/>
                </a:solidFill>
                <a:latin typeface="+mn-ea"/>
                <a:ea typeface="+mn-ea"/>
              </a:rPr>
              <a:t>Problem Definition</a:t>
            </a:r>
          </a:p>
        </p:txBody>
      </p:sp>
      <p:sp>
        <p:nvSpPr>
          <p:cNvPr id="9" name="AutoShape 9"/>
          <p:cNvSpPr/>
          <p:nvPr/>
        </p:nvSpPr>
        <p:spPr>
          <a:xfrm>
            <a:off x="4331293" y="1031625"/>
            <a:ext cx="747469" cy="830997"/>
          </a:xfrm>
          <a:prstGeom prst="rect">
            <a:avLst/>
          </a:prstGeom>
        </p:spPr>
        <p:txBody>
          <a:bodyPr vert="horz" wrap="none" lIns="90000" tIns="45720" rIns="91440" bIns="45720" anchor="t">
            <a:spAutoFit/>
          </a:bodyPr>
          <a:lstStyle/>
          <a:p>
            <a:pPr marL="0" algn="l"/>
            <a:r>
              <a:rPr lang="en-US" sz="4800" i="0" u="none" baseline="0" dirty="0" smtClean="0">
                <a:gradFill>
                  <a:gsLst>
                    <a:gs pos="0">
                      <a:srgbClr val="0063DF"/>
                    </a:gs>
                    <a:gs pos="63000">
                      <a:srgbClr val="0063DF">
                        <a:alpha val="0"/>
                      </a:srgbClr>
                    </a:gs>
                  </a:gsLst>
                  <a:lin ang="5400000"/>
                </a:gradFill>
                <a:latin typeface="Impact" panose="020B0806030902050204" pitchFamily="34" charset="0"/>
                <a:ea typeface="字魂59号-创粗黑"/>
              </a:rPr>
              <a:t>01</a:t>
            </a:r>
            <a:endParaRPr lang="en-US" sz="4800" i="0" u="none" baseline="0" dirty="0">
              <a:gradFill>
                <a:gsLst>
                  <a:gs pos="0">
                    <a:srgbClr val="0063DF"/>
                  </a:gs>
                  <a:gs pos="63000">
                    <a:srgbClr val="0063DF">
                      <a:alpha val="0"/>
                    </a:srgbClr>
                  </a:gs>
                </a:gsLst>
                <a:lin ang="5400000"/>
              </a:gradFill>
              <a:latin typeface="Impact" panose="020B0806030902050204" pitchFamily="34" charset="0"/>
              <a:ea typeface="字魂59号-创粗黑"/>
            </a:endParaRPr>
          </a:p>
        </p:txBody>
      </p:sp>
      <p:sp>
        <p:nvSpPr>
          <p:cNvPr id="10" name="AutoShape 10"/>
          <p:cNvSpPr/>
          <p:nvPr/>
        </p:nvSpPr>
        <p:spPr>
          <a:xfrm>
            <a:off x="1100567" y="4581554"/>
            <a:ext cx="6651854" cy="700576"/>
          </a:xfrm>
          <a:prstGeom prst="rect">
            <a:avLst/>
          </a:prstGeom>
        </p:spPr>
        <p:txBody>
          <a:bodyPr vert="horz" wrap="square" lIns="91440" tIns="45720" rIns="0" bIns="45720" anchor="t">
            <a:spAutoFit/>
          </a:bodyPr>
          <a:lstStyle/>
          <a:p>
            <a:pPr marL="0" algn="just">
              <a:lnSpc>
                <a:spcPct val="150000"/>
              </a:lnSpc>
              <a:spcAft>
                <a:spcPts val="600"/>
              </a:spcAft>
            </a:pPr>
            <a:r>
              <a:rPr lang="en-US" sz="1400" b="0" i="0" u="none" baseline="0">
                <a:solidFill>
                  <a:srgbClr val="303030"/>
                </a:solidFill>
                <a:latin typeface="+mn-ea"/>
                <a:ea typeface="+mn-ea"/>
              </a:rPr>
              <a:t>Hotels need to understand customer booking behaviour to improve occupancy planning, revenue management, pricing decisions, staffing, inventory allocation, cancellation management, and customer retention.</a:t>
            </a:r>
          </a:p>
        </p:txBody>
      </p:sp>
      <p:sp>
        <p:nvSpPr>
          <p:cNvPr id="11" name="AutoShape 11"/>
          <p:cNvSpPr/>
          <p:nvPr/>
        </p:nvSpPr>
        <p:spPr>
          <a:xfrm>
            <a:off x="1100568" y="4119889"/>
            <a:ext cx="6651854" cy="338554"/>
          </a:xfrm>
          <a:prstGeom prst="rect">
            <a:avLst/>
          </a:prstGeom>
        </p:spPr>
        <p:txBody>
          <a:bodyPr vert="horz" wrap="square" lIns="90000" tIns="45720" rIns="0" bIns="45720" anchor="t">
            <a:spAutoFit/>
          </a:bodyPr>
          <a:lstStyle/>
          <a:p>
            <a:pPr marL="0" algn="r"/>
            <a:r>
              <a:rPr lang="en-US" sz="1600" b="1" i="0" u="none" baseline="0">
                <a:solidFill>
                  <a:schemeClr val="accent1"/>
                </a:solidFill>
                <a:latin typeface="+mn-ea"/>
                <a:ea typeface="+mn-ea"/>
              </a:rPr>
              <a:t>Why This Analysis Matters</a:t>
            </a:r>
          </a:p>
        </p:txBody>
      </p:sp>
      <p:sp>
        <p:nvSpPr>
          <p:cNvPr id="12" name="AutoShape 12"/>
          <p:cNvSpPr/>
          <p:nvPr/>
        </p:nvSpPr>
        <p:spPr>
          <a:xfrm>
            <a:off x="6999971" y="3297735"/>
            <a:ext cx="730478" cy="830997"/>
          </a:xfrm>
          <a:prstGeom prst="rect">
            <a:avLst/>
          </a:prstGeom>
        </p:spPr>
        <p:txBody>
          <a:bodyPr vert="horz" wrap="none" lIns="90000" tIns="45720" rIns="0" bIns="45720" anchor="t">
            <a:spAutoFit/>
          </a:bodyPr>
          <a:lstStyle/>
          <a:p>
            <a:pPr marL="0" algn="l"/>
            <a:r>
              <a:rPr lang="en-US" sz="4800" b="1" i="0" u="none" baseline="0" dirty="0">
                <a:gradFill>
                  <a:gsLst>
                    <a:gs pos="0">
                      <a:srgbClr val="0063DF"/>
                    </a:gs>
                    <a:gs pos="63000">
                      <a:srgbClr val="0063DF">
                        <a:alpha val="0"/>
                      </a:srgbClr>
                    </a:gs>
                  </a:gsLst>
                  <a:lin ang="5400000"/>
                </a:gradFill>
                <a:latin typeface="Impact" panose="020B0806030902050204" pitchFamily="34" charset="0"/>
                <a:ea typeface="字魂59号-创粗黑"/>
              </a:rPr>
              <a:t>02</a:t>
            </a:r>
          </a:p>
        </p:txBody>
      </p:sp>
      <p:pic>
        <p:nvPicPr>
          <p:cNvPr id="13" name="image7.jpeg"/>
          <p:cNvPicPr>
            <a:picLocks noChangeAspect="1"/>
          </p:cNvPicPr>
          <p:nvPr/>
        </p:nvPicPr>
        <p:blipFill>
          <a:blip r:embed="rId2"/>
          <a:srcRect/>
          <a:stretch>
            <a:fillRect/>
          </a:stretch>
        </p:blipFill>
        <p:spPr>
          <a:xfrm>
            <a:off x="673100" y="1431380"/>
            <a:ext cx="3361871" cy="2017122"/>
          </a:xfrm>
          <a:prstGeom prst="rect">
            <a:avLst/>
          </a:prstGeom>
        </p:spPr>
      </p:pic>
      <p:pic>
        <p:nvPicPr>
          <p:cNvPr id="14" name="image8.jpeg"/>
          <p:cNvPicPr>
            <a:picLocks noChangeAspect="1"/>
          </p:cNvPicPr>
          <p:nvPr/>
        </p:nvPicPr>
        <p:blipFill>
          <a:blip r:embed="rId3"/>
          <a:srcRect/>
          <a:stretch>
            <a:fillRect/>
          </a:stretch>
        </p:blipFill>
        <p:spPr>
          <a:xfrm>
            <a:off x="8157029" y="3713236"/>
            <a:ext cx="3361871" cy="201712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animEffect transition="in" filter="wipe(down)">
                                      <p:cBhvr>
                                        <p:cTn id="6" dur="500"/>
                                        <p:tgtEl>
                                          <p:spTgt spid="4"/>
                                        </p:tgtEl>
                                      </p:cBhvr>
                                    </p:animEffect>
                                    <p:set>
                                      <p:cBhvr>
                                        <p:cTn id="7" dur="1" fill="hold">
                                          <p:stCondLst>
                                            <p:cond delay="0"/>
                                          </p:stCondLst>
                                        </p:cTn>
                                        <p:tgtEl>
                                          <p:spTgt spid="4"/>
                                        </p:tgtEl>
                                        <p:attrNameLst>
                                          <p:attrName>style.visibility</p:attrName>
                                        </p:attrNameLst>
                                      </p:cBhvr>
                                      <p:to>
                                        <p:strVal val="visible"/>
                                      </p:to>
                                    </p:set>
                                  </p:childTnLst>
                                </p:cTn>
                              </p:par>
                              <p:par>
                                <p:cTn id="8" presetID="22" presetClass="entr" presetSubtype="4" fill="hold" grpId="0" nodeType="withEffect">
                                  <p:stCondLst>
                                    <p:cond delay="0"/>
                                  </p:stCondLst>
                                  <p:childTnLst>
                                    <p:animEffect transition="in" filter="wipe(down)">
                                      <p:cBhvr>
                                        <p:cTn id="9" dur="500"/>
                                        <p:tgtEl>
                                          <p:spTgt spid="6"/>
                                        </p:tgtEl>
                                      </p:cBhvr>
                                    </p:animEffect>
                                    <p:set>
                                      <p:cBhvr>
                                        <p:cTn id="10" dur="1" fill="hold">
                                          <p:stCondLst>
                                            <p:cond delay="0"/>
                                          </p:stCondLst>
                                        </p:cTn>
                                        <p:tgtEl>
                                          <p:spTgt spid="6"/>
                                        </p:tgtEl>
                                        <p:attrNameLst>
                                          <p:attrName>style.visibility</p:attrName>
                                        </p:attrNameLst>
                                      </p:cBhvr>
                                      <p:to>
                                        <p:strVal val="visible"/>
                                      </p:to>
                                    </p:set>
                                  </p:childTnLst>
                                </p:cTn>
                              </p:par>
                              <p:par>
                                <p:cTn id="11" presetID="22" presetClass="entr" presetSubtype="4" fill="hold" grpId="0" nodeType="withEffect">
                                  <p:stCondLst>
                                    <p:cond delay="0"/>
                                  </p:stCondLst>
                                  <p:childTnLst>
                                    <p:animEffect transition="in" filter="wipe(down)">
                                      <p:cBhvr>
                                        <p:cTn id="12" dur="500"/>
                                        <p:tgtEl>
                                          <p:spTgt spid="10"/>
                                        </p:tgtEl>
                                      </p:cBhvr>
                                    </p:animEffect>
                                    <p:set>
                                      <p:cBhvr>
                                        <p:cTn id="13" dur="1" fill="hold">
                                          <p:stCondLst>
                                            <p:cond delay="0"/>
                                          </p:stCondLst>
                                        </p:cTn>
                                        <p:tgtEl>
                                          <p:spTgt spid="10"/>
                                        </p:tgtEl>
                                        <p:attrNameLst>
                                          <p:attrName>style.visibility</p:attrName>
                                        </p:attrNameLst>
                                      </p:cBhvr>
                                      <p:to>
                                        <p:strVal val="visible"/>
                                      </p:to>
                                    </p:set>
                                  </p:childTnLst>
                                </p:cTn>
                              </p:par>
                              <p:par>
                                <p:cTn id="14" presetID="22" presetClass="entr" presetSubtype="4" fill="hold" grpId="0" nodeType="withEffect">
                                  <p:stCondLst>
                                    <p:cond delay="0"/>
                                  </p:stCondLst>
                                  <p:childTnLst>
                                    <p:animEffect transition="in" filter="wipe(down)">
                                      <p:cBhvr>
                                        <p:cTn id="15" dur="500"/>
                                        <p:tgtEl>
                                          <p:spTgt spid="11"/>
                                        </p:tgtEl>
                                      </p:cBhvr>
                                    </p:animEffect>
                                    <p:set>
                                      <p:cBhvr>
                                        <p:cTn id="16" dur="1" fill="hold">
                                          <p:stCondLst>
                                            <p:cond delay="0"/>
                                          </p:stCondLst>
                                        </p:cTn>
                                        <p:tgtEl>
                                          <p:spTgt spid="11"/>
                                        </p:tgtEl>
                                        <p:attrNameLst>
                                          <p:attrName>style.visibility</p:attrName>
                                        </p:attrNameLst>
                                      </p:cBhvr>
                                      <p:to>
                                        <p:strVal val="visible"/>
                                      </p:to>
                                    </p:set>
                                  </p:childTnLst>
                                </p:cTn>
                              </p:par>
                              <p:par>
                                <p:cTn id="17" presetID="22" presetClass="entr" presetSubtype="4" fill="hold" grpId="0" nodeType="withEffect">
                                  <p:stCondLst>
                                    <p:cond delay="0"/>
                                  </p:stCondLst>
                                  <p:childTnLst>
                                    <p:animEffect transition="in" filter="wipe(down)">
                                      <p:cBhvr>
                                        <p:cTn id="18" dur="500"/>
                                        <p:tgtEl>
                                          <p:spTgt spid="12"/>
                                        </p:tgtEl>
                                      </p:cBhvr>
                                    </p:animEffect>
                                    <p:set>
                                      <p:cBhvr>
                                        <p:cTn id="19" dur="1" fill="hold">
                                          <p:stCondLst>
                                            <p:cond delay="0"/>
                                          </p:stCondLst>
                                        </p:cTn>
                                        <p:tgtEl>
                                          <p:spTgt spid="12"/>
                                        </p:tgtEl>
                                        <p:attrNameLst>
                                          <p:attrName>style.visibility</p:attrName>
                                        </p:attrNameLst>
                                      </p:cBhvr>
                                      <p:to>
                                        <p:strVal val="visible"/>
                                      </p:to>
                                    </p:set>
                                  </p:childTnLst>
                                </p:cTn>
                              </p:par>
                              <p:par>
                                <p:cTn id="20" presetID="22" presetClass="entr" presetSubtype="4" fill="hold" grpId="0" nodeType="withEffect">
                                  <p:stCondLst>
                                    <p:cond delay="0"/>
                                  </p:stCondLst>
                                  <p:childTnLst>
                                    <p:animEffect transition="in" filter="wipe(down)">
                                      <p:cBhvr>
                                        <p:cTn id="21" dur="500"/>
                                        <p:tgtEl>
                                          <p:spTgt spid="3"/>
                                        </p:tgtEl>
                                      </p:cBhvr>
                                    </p:animEffect>
                                    <p:set>
                                      <p:cBhvr>
                                        <p:cTn id="22" dur="1" fill="hold">
                                          <p:stCondLst>
                                            <p:cond delay="0"/>
                                          </p:stCondLst>
                                        </p:cTn>
                                        <p:tgtEl>
                                          <p:spTgt spid="3"/>
                                        </p:tgtEl>
                                        <p:attrNameLst>
                                          <p:attrName>style.visibility</p:attrName>
                                        </p:attrNameLst>
                                      </p:cBhvr>
                                      <p:to>
                                        <p:strVal val="visible"/>
                                      </p:to>
                                    </p:set>
                                  </p:childTnLst>
                                </p:cTn>
                              </p:par>
                              <p:par>
                                <p:cTn id="23" presetID="22" presetClass="entr" presetSubtype="4" fill="hold" grpId="0" nodeType="withEffect">
                                  <p:stCondLst>
                                    <p:cond delay="0"/>
                                  </p:stCondLst>
                                  <p:childTnLst>
                                    <p:animEffect transition="in" filter="wipe(down)">
                                      <p:cBhvr>
                                        <p:cTn id="24" dur="500"/>
                                        <p:tgtEl>
                                          <p:spTgt spid="5"/>
                                        </p:tgtEl>
                                      </p:cBhvr>
                                    </p:animEffect>
                                    <p:set>
                                      <p:cBhvr>
                                        <p:cTn id="25" dur="1" fill="hold">
                                          <p:stCondLst>
                                            <p:cond delay="0"/>
                                          </p:stCondLst>
                                        </p:cTn>
                                        <p:tgtEl>
                                          <p:spTgt spid="5"/>
                                        </p:tgtEl>
                                        <p:attrNameLst>
                                          <p:attrName>style.visibility</p:attrName>
                                        </p:attrNameLst>
                                      </p:cBhvr>
                                      <p:to>
                                        <p:strVal val="visible"/>
                                      </p:to>
                                    </p:set>
                                  </p:childTnLst>
                                </p:cTn>
                              </p:par>
                              <p:par>
                                <p:cTn id="26" presetID="22" presetClass="entr" presetSubtype="4" fill="hold" grpId="0" nodeType="withEffect">
                                  <p:stCondLst>
                                    <p:cond delay="0"/>
                                  </p:stCondLst>
                                  <p:childTnLst>
                                    <p:animEffect transition="in" filter="wipe(down)">
                                      <p:cBhvr>
                                        <p:cTn id="27" dur="500"/>
                                        <p:tgtEl>
                                          <p:spTgt spid="7"/>
                                        </p:tgtEl>
                                      </p:cBhvr>
                                    </p:animEffect>
                                    <p:set>
                                      <p:cBhvr>
                                        <p:cTn id="28" dur="1" fill="hold">
                                          <p:stCondLst>
                                            <p:cond delay="0"/>
                                          </p:stCondLst>
                                        </p:cTn>
                                        <p:tgtEl>
                                          <p:spTgt spid="7"/>
                                        </p:tgtEl>
                                        <p:attrNameLst>
                                          <p:attrName>style.visibility</p:attrName>
                                        </p:attrNameLst>
                                      </p:cBhvr>
                                      <p:to>
                                        <p:strVal val="visible"/>
                                      </p:to>
                                    </p:set>
                                  </p:childTnLst>
                                </p:cTn>
                              </p:par>
                              <p:par>
                                <p:cTn id="29" presetID="22" presetClass="entr" presetSubtype="4" fill="hold" grpId="0" nodeType="withEffect">
                                  <p:stCondLst>
                                    <p:cond delay="0"/>
                                  </p:stCondLst>
                                  <p:childTnLst>
                                    <p:animEffect transition="in" filter="wipe(down)">
                                      <p:cBhvr>
                                        <p:cTn id="30" dur="500"/>
                                        <p:tgtEl>
                                          <p:spTgt spid="8"/>
                                        </p:tgtEl>
                                      </p:cBhvr>
                                    </p:animEffect>
                                    <p:set>
                                      <p:cBhvr>
                                        <p:cTn id="31" dur="1" fill="hold">
                                          <p:stCondLst>
                                            <p:cond delay="0"/>
                                          </p:stCondLst>
                                        </p:cTn>
                                        <p:tgtEl>
                                          <p:spTgt spid="8"/>
                                        </p:tgtEl>
                                        <p:attrNameLst>
                                          <p:attrName>style.visibility</p:attrName>
                                        </p:attrNameLst>
                                      </p:cBhvr>
                                      <p:to>
                                        <p:strVal val="visible"/>
                                      </p:to>
                                    </p:set>
                                  </p:childTnLst>
                                </p:cTn>
                              </p:par>
                              <p:par>
                                <p:cTn id="32" presetID="22" presetClass="entr" presetSubtype="4" fill="hold" grpId="0" nodeType="withEffect">
                                  <p:stCondLst>
                                    <p:cond delay="0"/>
                                  </p:stCondLst>
                                  <p:childTnLst>
                                    <p:animEffect transition="in" filter="wipe(down)">
                                      <p:cBhvr>
                                        <p:cTn id="33" dur="500"/>
                                        <p:tgtEl>
                                          <p:spTgt spid="9"/>
                                        </p:tgtEl>
                                      </p:cBhvr>
                                    </p:animEffect>
                                    <p:set>
                                      <p:cBhvr>
                                        <p:cTn id="3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p:bldP spid="8" grpId="0"/>
      <p:bldP spid="9" grpId="0"/>
      <p:bldP spid="10" grpId="0"/>
      <p:bldP spid="11"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0"/>
            <a:ext cx="10858500" cy="1028700"/>
          </a:xfrm>
        </p:spPr>
        <p:txBody>
          <a:bodyPr vert="horz" lIns="91440" tIns="45720" rIns="91440" bIns="45720" anchor="b">
            <a:normAutofit/>
          </a:bodyPr>
          <a:lstStyle/>
          <a:p>
            <a:pPr algn="l">
              <a:lnSpc>
                <a:spcPct val="90000"/>
              </a:lnSpc>
              <a:spcBef>
                <a:spcPct val="0"/>
              </a:spcBef>
            </a:pPr>
            <a:r>
              <a:rPr lang="zh-CN" altLang="en-US" sz="2800" b="1" i="0" u="none" baseline="0">
                <a:solidFill>
                  <a:srgbClr val="000000"/>
                </a:solidFill>
                <a:latin typeface="微软雅黑"/>
                <a:ea typeface="微软雅黑"/>
              </a:rPr>
              <a:t>Project Objectives</a:t>
            </a:r>
          </a:p>
        </p:txBody>
      </p:sp>
      <p:sp>
        <p:nvSpPr>
          <p:cNvPr id="3" name="AutoShape 3"/>
          <p:cNvSpPr/>
          <p:nvPr/>
        </p:nvSpPr>
        <p:spPr>
          <a:xfrm>
            <a:off x="666750" y="1363436"/>
            <a:ext cx="10858500" cy="1926635"/>
          </a:xfrm>
          <a:prstGeom prst="rect">
            <a:avLst/>
          </a:prstGeom>
          <a:solidFill>
            <a:srgbClr val="778495">
              <a:alpha val="15000"/>
            </a:srgbClr>
          </a:solidFill>
          <a:ln cap="flat" cmpd="sng">
            <a:prstDash val="solid"/>
          </a:ln>
        </p:spPr>
        <p:txBody>
          <a:bodyPr vert="horz" lIns="91440" tIns="45720" rIns="91440" bIns="45720" anchor="ctr">
            <a:normAutofit/>
          </a:bodyPr>
          <a:lstStyle/>
          <a:p>
            <a:pPr marL="0" algn="ctr"/>
            <a:endParaRPr/>
          </a:p>
        </p:txBody>
      </p:sp>
      <p:sp>
        <p:nvSpPr>
          <p:cNvPr id="4" name="AutoShape 4"/>
          <p:cNvSpPr/>
          <p:nvPr/>
        </p:nvSpPr>
        <p:spPr>
          <a:xfrm>
            <a:off x="1123950" y="1614352"/>
            <a:ext cx="1440000" cy="1440000"/>
          </a:xfrm>
          <a:prstGeom prst="ellipse">
            <a:avLst/>
          </a:prstGeom>
          <a:blipFill>
            <a:blip r:embed="rId2"/>
            <a:srcRect/>
            <a:stretch>
              <a:fillRect l="-25250" r="-24810"/>
            </a:stretch>
          </a:blipFill>
          <a:ln cap="flat">
            <a:prstDash val="solid"/>
          </a:ln>
        </p:spPr>
        <p:txBody>
          <a:bodyPr rot="0" vert="horz" wrap="square" lIns="91440" tIns="45720" rIns="91440" bIns="45720" anchor="ctr">
            <a:prstTxWarp prst="textNoShape">
              <a:avLst/>
            </a:prstTxWarp>
            <a:noAutofit/>
          </a:bodyPr>
          <a:lstStyle/>
          <a:p>
            <a:pPr marL="0" algn="ctr"/>
            <a:endParaRPr/>
          </a:p>
        </p:txBody>
      </p:sp>
      <p:sp>
        <p:nvSpPr>
          <p:cNvPr id="5" name="AutoShape 5"/>
          <p:cNvSpPr/>
          <p:nvPr/>
        </p:nvSpPr>
        <p:spPr>
          <a:xfrm>
            <a:off x="2750185" y="1614353"/>
            <a:ext cx="6089920" cy="1185324"/>
          </a:xfrm>
          <a:prstGeom prst="rect">
            <a:avLst/>
          </a:prstGeom>
          <a:noFill/>
          <a:ln cap="flat" cmpd="sng">
            <a:prstDash val="solid"/>
          </a:ln>
        </p:spPr>
        <p:txBody>
          <a:bodyPr vert="horz" wrap="square" lIns="91440" tIns="45720" rIns="91440" bIns="45720" anchor="t">
            <a:spAutoFit/>
          </a:bodyPr>
          <a:lstStyle/>
          <a:p>
            <a:pPr marL="0" algn="just">
              <a:lnSpc>
                <a:spcPct val="130000"/>
              </a:lnSpc>
            </a:pPr>
            <a:r>
              <a:rPr lang="zh-CN" altLang="en-US" sz="1400" b="0" i="0" u="none" baseline="0" dirty="0">
                <a:solidFill>
                  <a:srgbClr val="000000"/>
                </a:solidFill>
                <a:latin typeface="微软雅黑"/>
                <a:ea typeface="微软雅黑"/>
              </a:rPr>
              <a:t>The project aims to analyze hotel booking demand, compare City Hotel and Resort Hotel performance, identify seasonal booking patterns, measure cancellation behaviour, and evaluate relationships between stay duration, lead time, and cancellation.</a:t>
            </a:r>
          </a:p>
        </p:txBody>
      </p:sp>
      <p:cxnSp>
        <p:nvCxnSpPr>
          <p:cNvPr id="6" name="Connector 6"/>
          <p:cNvCxnSpPr/>
          <p:nvPr/>
        </p:nvCxnSpPr>
        <p:spPr>
          <a:xfrm flipH="1">
            <a:off x="9119504" y="1614353"/>
            <a:ext cx="1" cy="1424801"/>
          </a:xfrm>
          <a:prstGeom prst="line">
            <a:avLst/>
          </a:prstGeom>
          <a:ln w="12700" cap="flat" cmpd="sng">
            <a:solidFill>
              <a:schemeClr val="accent1"/>
            </a:solidFill>
            <a:prstDash val="solid"/>
          </a:ln>
        </p:spPr>
      </p:cxnSp>
      <p:sp>
        <p:nvSpPr>
          <p:cNvPr id="7" name="AutoShape 7"/>
          <p:cNvSpPr/>
          <p:nvPr/>
        </p:nvSpPr>
        <p:spPr>
          <a:xfrm>
            <a:off x="666750" y="3567929"/>
            <a:ext cx="10858500" cy="1926635"/>
          </a:xfrm>
          <a:prstGeom prst="rect">
            <a:avLst/>
          </a:prstGeom>
          <a:solidFill>
            <a:srgbClr val="778495">
              <a:alpha val="15000"/>
            </a:srgbClr>
          </a:solidFill>
          <a:ln cap="flat" cmpd="sng">
            <a:prstDash val="solid"/>
          </a:ln>
        </p:spPr>
        <p:txBody>
          <a:bodyPr vert="horz" lIns="91440" tIns="45720" rIns="91440" bIns="45720" anchor="ctr">
            <a:normAutofit/>
          </a:bodyPr>
          <a:lstStyle/>
          <a:p>
            <a:pPr marL="0" algn="ctr"/>
            <a:endParaRPr/>
          </a:p>
        </p:txBody>
      </p:sp>
      <p:sp>
        <p:nvSpPr>
          <p:cNvPr id="8" name="AutoShape 8"/>
          <p:cNvSpPr/>
          <p:nvPr/>
        </p:nvSpPr>
        <p:spPr>
          <a:xfrm>
            <a:off x="1123950" y="3818845"/>
            <a:ext cx="1440000" cy="1440000"/>
          </a:xfrm>
          <a:prstGeom prst="ellipse">
            <a:avLst/>
          </a:prstGeom>
          <a:blipFill>
            <a:blip r:embed="rId3"/>
            <a:srcRect/>
            <a:stretch>
              <a:fillRect l="-25250" r="-24810"/>
            </a:stretch>
          </a:blipFill>
          <a:ln cap="flat">
            <a:prstDash val="solid"/>
          </a:ln>
        </p:spPr>
        <p:txBody>
          <a:bodyPr rot="0" vert="horz" wrap="square" lIns="91440" tIns="45720" rIns="91440" bIns="45720" anchor="ctr">
            <a:prstTxWarp prst="textNoShape">
              <a:avLst/>
            </a:prstTxWarp>
            <a:noAutofit/>
          </a:bodyPr>
          <a:lstStyle/>
          <a:p>
            <a:pPr marL="0" algn="ctr"/>
            <a:endParaRPr/>
          </a:p>
        </p:txBody>
      </p:sp>
      <p:sp>
        <p:nvSpPr>
          <p:cNvPr id="9" name="AutoShape 9"/>
          <p:cNvSpPr/>
          <p:nvPr/>
        </p:nvSpPr>
        <p:spPr>
          <a:xfrm>
            <a:off x="2750185" y="3818846"/>
            <a:ext cx="6089920" cy="904863"/>
          </a:xfrm>
          <a:prstGeom prst="rect">
            <a:avLst/>
          </a:prstGeom>
          <a:noFill/>
          <a:ln cap="flat" cmpd="sng">
            <a:prstDash val="solid"/>
          </a:ln>
        </p:spPr>
        <p:txBody>
          <a:bodyPr vert="horz" wrap="square" lIns="91440" tIns="45720" rIns="91440" bIns="45720" anchor="t">
            <a:spAutoFit/>
          </a:bodyPr>
          <a:lstStyle/>
          <a:p>
            <a:pPr marL="0" algn="just">
              <a:lnSpc>
                <a:spcPct val="130000"/>
              </a:lnSpc>
            </a:pPr>
            <a:r>
              <a:rPr lang="zh-CN" altLang="en-US" sz="1400" b="0" i="0" u="none" baseline="0" dirty="0">
                <a:solidFill>
                  <a:srgbClr val="000000"/>
                </a:solidFill>
                <a:latin typeface="微软雅黑"/>
                <a:ea typeface="微软雅黑"/>
              </a:rPr>
              <a:t>A data-driven hotel business analysis that converts booking data into actionable insights and strategic recommendations for hotel management.</a:t>
            </a:r>
          </a:p>
        </p:txBody>
      </p:sp>
      <p:sp>
        <p:nvSpPr>
          <p:cNvPr id="10" name="AutoShape 10"/>
          <p:cNvSpPr/>
          <p:nvPr/>
        </p:nvSpPr>
        <p:spPr>
          <a:xfrm>
            <a:off x="9210361" y="3860133"/>
            <a:ext cx="2249717" cy="338554"/>
          </a:xfrm>
          <a:prstGeom prst="rect">
            <a:avLst/>
          </a:prstGeom>
          <a:noFill/>
          <a:ln cap="flat" cmpd="sng">
            <a:prstDash val="solid"/>
          </a:ln>
        </p:spPr>
        <p:txBody>
          <a:bodyPr vert="horz" wrap="square" lIns="91440" tIns="45720" rIns="91440" bIns="45720" anchor="t">
            <a:spAutoFit/>
          </a:bodyPr>
          <a:lstStyle/>
          <a:p>
            <a:pPr marL="0" algn="l"/>
            <a:r>
              <a:rPr lang="zh-CN" altLang="en-US" sz="1600" b="1" i="0" u="none" baseline="0">
                <a:solidFill>
                  <a:srgbClr val="000000"/>
                </a:solidFill>
                <a:latin typeface="微软雅黑"/>
                <a:ea typeface="微软雅黑"/>
              </a:rPr>
              <a:t>Main Deliverable</a:t>
            </a:r>
          </a:p>
        </p:txBody>
      </p:sp>
      <p:cxnSp>
        <p:nvCxnSpPr>
          <p:cNvPr id="11" name="Connector 11"/>
          <p:cNvCxnSpPr/>
          <p:nvPr/>
        </p:nvCxnSpPr>
        <p:spPr>
          <a:xfrm flipH="1">
            <a:off x="9119504" y="3818846"/>
            <a:ext cx="1" cy="1424801"/>
          </a:xfrm>
          <a:prstGeom prst="line">
            <a:avLst/>
          </a:prstGeom>
          <a:ln w="12700" cap="flat" cmpd="sng">
            <a:solidFill>
              <a:schemeClr val="accent1"/>
            </a:solidFill>
            <a:prstDash val="solid"/>
          </a:ln>
        </p:spPr>
      </p:cxnSp>
      <p:sp>
        <p:nvSpPr>
          <p:cNvPr id="12" name="AutoShape 12"/>
          <p:cNvSpPr/>
          <p:nvPr/>
        </p:nvSpPr>
        <p:spPr>
          <a:xfrm>
            <a:off x="9210361" y="1630945"/>
            <a:ext cx="2249717" cy="338554"/>
          </a:xfrm>
          <a:prstGeom prst="rect">
            <a:avLst/>
          </a:prstGeom>
          <a:noFill/>
          <a:ln cap="flat" cmpd="sng">
            <a:prstDash val="solid"/>
          </a:ln>
        </p:spPr>
        <p:txBody>
          <a:bodyPr vert="horz" wrap="square" lIns="91440" tIns="45720" rIns="91440" bIns="45720" anchor="t">
            <a:spAutoFit/>
          </a:bodyPr>
          <a:lstStyle/>
          <a:p>
            <a:pPr marL="0" algn="l"/>
            <a:r>
              <a:rPr lang="zh-CN" altLang="en-US" sz="1600" b="1" i="0" u="none" baseline="0">
                <a:solidFill>
                  <a:srgbClr val="000000"/>
                </a:solidFill>
                <a:latin typeface="微软雅黑"/>
                <a:ea typeface="微软雅黑"/>
              </a:rPr>
              <a:t>Analytical Goals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TextBox 2"/>
          <p:cNvSpPr txBox="1"/>
          <p:nvPr/>
        </p:nvSpPr>
        <p:spPr>
          <a:xfrm>
            <a:off x="660400" y="0"/>
            <a:ext cx="10858500" cy="1028700"/>
          </a:xfrm>
          <a:prstGeom prst="rect">
            <a:avLst/>
          </a:prstGeom>
        </p:spPr>
        <p:txBody>
          <a:bodyPr vert="horz" lIns="91440" tIns="45720" rIns="91440" bIns="45720" rtlCol="0" anchor="b">
            <a:normAutofit/>
          </a:bodyPr>
          <a:lstStyle/>
          <a:p>
            <a:pPr marL="0" algn="l">
              <a:lnSpc>
                <a:spcPct val="90000"/>
              </a:lnSpc>
              <a:spcBef>
                <a:spcPct val="0"/>
              </a:spcBef>
              <a:defRPr/>
            </a:pPr>
            <a:r>
              <a:rPr lang="zh-CN" altLang="en-US" sz="2800" b="1" i="0" u="none" baseline="0">
                <a:solidFill>
                  <a:srgbClr val="000000"/>
                </a:solidFill>
                <a:latin typeface="微软雅黑"/>
                <a:ea typeface="微软雅黑"/>
              </a:rPr>
              <a:t>Three Core Business Questions</a:t>
            </a:r>
            <a:endParaRPr lang="en-US" sz="1100"/>
          </a:p>
        </p:txBody>
      </p:sp>
      <p:sp>
        <p:nvSpPr>
          <p:cNvPr id="3" name="AutoShape 3"/>
          <p:cNvSpPr/>
          <p:nvPr/>
        </p:nvSpPr>
        <p:spPr>
          <a:xfrm>
            <a:off x="1102788" y="1425844"/>
            <a:ext cx="4213981" cy="2641600"/>
          </a:xfrm>
          <a:prstGeom prst="roundRect">
            <a:avLst>
              <a:gd name="adj" fmla="val 4500"/>
            </a:avLst>
          </a:prstGeom>
          <a:blipFill>
            <a:blip r:embed="rId2"/>
            <a:srcRect/>
            <a:stretch>
              <a:fillRect t="-3189" b="-3160"/>
            </a:stretch>
          </a:blipFill>
          <a:ln cap="flat" cmpd="sng">
            <a:noFill/>
            <a:prstDash val="solid"/>
            <a:miter lim="800000"/>
          </a:ln>
          <a:effectLst/>
        </p:spPr>
        <p:txBody>
          <a:bodyPr rot="0" vert="horz" wrap="square" lIns="91440" tIns="45720" rIns="91440" bIns="45720" anchor="ctr">
            <a:prstTxWarp prst="textNoShape">
              <a:avLst/>
            </a:prstTxWarp>
            <a:noAutofit/>
          </a:bodyPr>
          <a:lstStyle/>
          <a:p>
            <a:pPr marL="0" algn="ctr"/>
            <a:endParaRPr/>
          </a:p>
        </p:txBody>
      </p:sp>
      <p:sp>
        <p:nvSpPr>
          <p:cNvPr id="4" name="AutoShape 4"/>
          <p:cNvSpPr/>
          <p:nvPr/>
        </p:nvSpPr>
        <p:spPr>
          <a:xfrm>
            <a:off x="2089550" y="3479776"/>
            <a:ext cx="3635130" cy="2641600"/>
          </a:xfrm>
          <a:prstGeom prst="roundRect">
            <a:avLst>
              <a:gd name="adj" fmla="val 7400"/>
            </a:avLst>
          </a:prstGeom>
          <a:solidFill>
            <a:srgbClr val="FFFFFF"/>
          </a:solidFill>
          <a:ln cap="rnd">
            <a:noFill/>
            <a:prstDash val="solid"/>
          </a:ln>
          <a:effectLst>
            <a:outerShdw blurRad="254000" dist="127000" algn="ctr" rotWithShape="0">
              <a:schemeClr val="bg1">
                <a:alpha val="20000"/>
                <a:lumMod val="65000"/>
              </a:schemeClr>
            </a:outerShdw>
          </a:effectLst>
        </p:spPr>
        <p:txBody>
          <a:bodyPr rot="0" vert="horz" wrap="square" lIns="91440" tIns="45720" rIns="91440" bIns="45720" anchor="ctr">
            <a:prstTxWarp prst="textNoShape">
              <a:avLst/>
            </a:prstTxWarp>
            <a:normAutofit/>
          </a:bodyPr>
          <a:lstStyle/>
          <a:p>
            <a:pPr marL="0" algn="ctr"/>
            <a:endParaRPr/>
          </a:p>
        </p:txBody>
      </p:sp>
      <p:sp>
        <p:nvSpPr>
          <p:cNvPr id="5" name="TextBox 5"/>
          <p:cNvSpPr txBox="1"/>
          <p:nvPr/>
        </p:nvSpPr>
        <p:spPr>
          <a:xfrm>
            <a:off x="2123474" y="3685533"/>
            <a:ext cx="2613750" cy="338554"/>
          </a:xfrm>
          <a:prstGeom prst="rect">
            <a:avLst/>
          </a:prstGeom>
          <a:noFill/>
        </p:spPr>
        <p:txBody>
          <a:bodyPr vert="horz" wrap="square" lIns="91440" tIns="45720" rIns="91440" bIns="45720" rtlCol="0" anchor="t">
            <a:spAutoFit/>
          </a:bodyPr>
          <a:lstStyle/>
          <a:p>
            <a:pPr marL="0" algn="l">
              <a:defRPr/>
            </a:pPr>
            <a:r>
              <a:rPr lang="zh-CN" altLang="en-US" sz="1600" b="1" i="0" u="none" baseline="0">
                <a:solidFill>
                  <a:schemeClr val="dk1">
                    <a:lumMod val="100000"/>
                  </a:schemeClr>
                </a:solidFill>
                <a:latin typeface="微软雅黑"/>
                <a:ea typeface="微软雅黑"/>
              </a:rPr>
              <a:t>Primary Questions</a:t>
            </a:r>
            <a:endParaRPr lang="en-US" sz="1100"/>
          </a:p>
        </p:txBody>
      </p:sp>
      <p:sp>
        <p:nvSpPr>
          <p:cNvPr id="6" name="TextBox 6"/>
          <p:cNvSpPr txBox="1"/>
          <p:nvPr/>
        </p:nvSpPr>
        <p:spPr>
          <a:xfrm>
            <a:off x="2123476" y="4091824"/>
            <a:ext cx="3601204" cy="2031325"/>
          </a:xfrm>
          <a:prstGeom prst="rect">
            <a:avLst/>
          </a:prstGeom>
          <a:noFill/>
        </p:spPr>
        <p:txBody>
          <a:bodyPr vert="horz" wrap="square" lIns="91440" tIns="45720" rIns="91440" bIns="45720" rtlCol="0" anchor="t">
            <a:spAutoFit/>
          </a:bodyPr>
          <a:lstStyle/>
          <a:p>
            <a:pPr marL="0" marR="0" indent="0" algn="just" fontAlgn="auto">
              <a:lnSpc>
                <a:spcPct val="150000"/>
              </a:lnSpc>
              <a:spcBef>
                <a:spcPct val="0"/>
              </a:spcBef>
              <a:spcAft>
                <a:spcPct val="0"/>
              </a:spcAft>
              <a:defRPr/>
            </a:pPr>
            <a:r>
              <a:rPr lang="zh-CN" altLang="en-US" sz="1400" b="0" i="0" u="none" baseline="0" dirty="0">
                <a:ln/>
                <a:solidFill>
                  <a:schemeClr val="dk1">
                    <a:lumMod val="100000"/>
                  </a:schemeClr>
                </a:solidFill>
                <a:effectLst/>
                <a:latin typeface="微软雅黑"/>
                <a:ea typeface="微软雅黑"/>
              </a:rPr>
              <a:t>The project brief defines three primary questions: Which hotel type do customers book most often? Does length of stay affect cancellation rate? Does booking lead time affect cancellation rate?</a:t>
            </a:r>
            <a:endParaRPr lang="en-US" sz="1100" dirty="0"/>
          </a:p>
        </p:txBody>
      </p:sp>
      <p:sp>
        <p:nvSpPr>
          <p:cNvPr id="7" name="TextBox 7"/>
          <p:cNvSpPr txBox="1"/>
          <p:nvPr/>
        </p:nvSpPr>
        <p:spPr>
          <a:xfrm>
            <a:off x="4759333" y="3511905"/>
            <a:ext cx="892251" cy="764813"/>
          </a:xfrm>
          <a:prstGeom prst="rect">
            <a:avLst/>
          </a:prstGeom>
          <a:noFill/>
        </p:spPr>
        <p:txBody>
          <a:bodyPr vert="horz" wrap="square" lIns="91440" tIns="45720" rIns="91440" bIns="45720" rtlCol="0" anchor="t">
            <a:spAutoFit/>
          </a:bodyPr>
          <a:lstStyle/>
          <a:p>
            <a:pPr marL="0" algn="l">
              <a:defRPr/>
            </a:pPr>
            <a:r>
              <a:rPr lang="en-US" sz="4400" b="1" i="0" u="none" baseline="0" dirty="0">
                <a:solidFill>
                  <a:srgbClr val="000000"/>
                </a:solidFill>
                <a:latin typeface="微软雅黑"/>
                <a:ea typeface="微软雅黑"/>
              </a:rPr>
              <a:t>01</a:t>
            </a:r>
            <a:endParaRPr lang="en-US" sz="1100" dirty="0"/>
          </a:p>
        </p:txBody>
      </p:sp>
      <p:sp>
        <p:nvSpPr>
          <p:cNvPr id="8" name="AutoShape 8"/>
          <p:cNvSpPr/>
          <p:nvPr/>
        </p:nvSpPr>
        <p:spPr>
          <a:xfrm>
            <a:off x="6537480" y="1425844"/>
            <a:ext cx="4213981" cy="2641600"/>
          </a:xfrm>
          <a:prstGeom prst="roundRect">
            <a:avLst>
              <a:gd name="adj" fmla="val 4500"/>
            </a:avLst>
          </a:prstGeom>
          <a:blipFill>
            <a:blip r:embed="rId3"/>
            <a:srcRect/>
            <a:stretch>
              <a:fillRect t="-56620" b="-56078"/>
            </a:stretch>
          </a:blipFill>
          <a:ln cap="flat" cmpd="sng">
            <a:noFill/>
            <a:prstDash val="solid"/>
            <a:miter lim="800000"/>
          </a:ln>
          <a:effectLst/>
        </p:spPr>
        <p:txBody>
          <a:bodyPr rot="0" vert="horz" wrap="square" lIns="91440" tIns="45720" rIns="91440" bIns="45720" anchor="ctr">
            <a:prstTxWarp prst="textNoShape">
              <a:avLst/>
            </a:prstTxWarp>
            <a:noAutofit/>
          </a:bodyPr>
          <a:lstStyle/>
          <a:p>
            <a:pPr marL="0" algn="ctr"/>
            <a:endParaRPr/>
          </a:p>
        </p:txBody>
      </p:sp>
      <p:sp>
        <p:nvSpPr>
          <p:cNvPr id="9" name="AutoShape 9"/>
          <p:cNvSpPr/>
          <p:nvPr/>
        </p:nvSpPr>
        <p:spPr>
          <a:xfrm>
            <a:off x="7524242" y="3479776"/>
            <a:ext cx="3635130" cy="2641600"/>
          </a:xfrm>
          <a:prstGeom prst="roundRect">
            <a:avLst>
              <a:gd name="adj" fmla="val 7400"/>
            </a:avLst>
          </a:prstGeom>
          <a:solidFill>
            <a:srgbClr val="FFFFFF"/>
          </a:solidFill>
          <a:ln cap="rnd">
            <a:noFill/>
            <a:prstDash val="solid"/>
          </a:ln>
          <a:effectLst>
            <a:outerShdw blurRad="254000" dist="127000" algn="ctr" rotWithShape="0">
              <a:schemeClr val="bg1">
                <a:alpha val="20000"/>
                <a:lumMod val="65000"/>
              </a:schemeClr>
            </a:outerShdw>
          </a:effectLst>
        </p:spPr>
        <p:txBody>
          <a:bodyPr rot="0" vert="horz" wrap="square" lIns="91440" tIns="45720" rIns="91440" bIns="45720" anchor="ctr">
            <a:prstTxWarp prst="textNoShape">
              <a:avLst/>
            </a:prstTxWarp>
            <a:normAutofit/>
          </a:bodyPr>
          <a:lstStyle/>
          <a:p>
            <a:pPr marL="0" algn="ctr"/>
            <a:endParaRPr/>
          </a:p>
        </p:txBody>
      </p:sp>
      <p:sp>
        <p:nvSpPr>
          <p:cNvPr id="10" name="TextBox 10"/>
          <p:cNvSpPr txBox="1"/>
          <p:nvPr/>
        </p:nvSpPr>
        <p:spPr>
          <a:xfrm>
            <a:off x="7580275" y="3685533"/>
            <a:ext cx="2613750" cy="338554"/>
          </a:xfrm>
          <a:prstGeom prst="rect">
            <a:avLst/>
          </a:prstGeom>
          <a:noFill/>
        </p:spPr>
        <p:txBody>
          <a:bodyPr vert="horz" wrap="square" lIns="91440" tIns="45720" rIns="91440" bIns="45720" rtlCol="0" anchor="t">
            <a:spAutoFit/>
          </a:bodyPr>
          <a:lstStyle/>
          <a:p>
            <a:pPr marL="0" algn="l">
              <a:defRPr/>
            </a:pPr>
            <a:r>
              <a:rPr lang="zh-CN" altLang="en-US" sz="1600" b="1" i="0" u="none" baseline="0">
                <a:solidFill>
                  <a:schemeClr val="dk1">
                    <a:lumMod val="100000"/>
                  </a:schemeClr>
                </a:solidFill>
                <a:latin typeface="微软雅黑"/>
                <a:ea typeface="微软雅黑"/>
              </a:rPr>
              <a:t>Supporting Questions</a:t>
            </a:r>
            <a:endParaRPr lang="en-US" sz="1100"/>
          </a:p>
        </p:txBody>
      </p:sp>
      <p:sp>
        <p:nvSpPr>
          <p:cNvPr id="11" name="TextBox 11"/>
          <p:cNvSpPr txBox="1"/>
          <p:nvPr/>
        </p:nvSpPr>
        <p:spPr>
          <a:xfrm>
            <a:off x="7580277" y="4091824"/>
            <a:ext cx="3579095" cy="2046714"/>
          </a:xfrm>
          <a:prstGeom prst="rect">
            <a:avLst/>
          </a:prstGeom>
          <a:noFill/>
        </p:spPr>
        <p:txBody>
          <a:bodyPr vert="horz" wrap="square" lIns="91440" tIns="45720" rIns="91440" bIns="45720" rtlCol="0" anchor="t">
            <a:spAutoFit/>
          </a:bodyPr>
          <a:lstStyle/>
          <a:p>
            <a:pPr marL="0" marR="0" indent="0" algn="just" fontAlgn="auto">
              <a:lnSpc>
                <a:spcPct val="150000"/>
              </a:lnSpc>
              <a:spcBef>
                <a:spcPct val="0"/>
              </a:spcBef>
              <a:spcAft>
                <a:spcPct val="0"/>
              </a:spcAft>
              <a:defRPr/>
            </a:pPr>
            <a:r>
              <a:rPr lang="zh-CN" altLang="en-US" sz="1400" b="0" i="0" u="none" baseline="0" dirty="0">
                <a:ln/>
                <a:solidFill>
                  <a:schemeClr val="dk1">
                    <a:lumMod val="100000"/>
                  </a:schemeClr>
                </a:solidFill>
                <a:effectLst/>
                <a:latin typeface="微软雅黑"/>
                <a:ea typeface="微软雅黑"/>
              </a:rPr>
              <a:t>Additional questions include: Which months generate the highest demand? Which hotel has the higher cancellation rate? Which booking segments are high-risk? How can cancellations be reduced?</a:t>
            </a:r>
            <a:endParaRPr lang="en-US" sz="1100" dirty="0"/>
          </a:p>
        </p:txBody>
      </p:sp>
      <p:sp>
        <p:nvSpPr>
          <p:cNvPr id="12" name="TextBox 12"/>
          <p:cNvSpPr txBox="1"/>
          <p:nvPr/>
        </p:nvSpPr>
        <p:spPr>
          <a:xfrm>
            <a:off x="10194025" y="3479776"/>
            <a:ext cx="892251" cy="764813"/>
          </a:xfrm>
          <a:prstGeom prst="rect">
            <a:avLst/>
          </a:prstGeom>
          <a:noFill/>
        </p:spPr>
        <p:txBody>
          <a:bodyPr vert="horz" wrap="square" lIns="91440" tIns="45720" rIns="91440" bIns="45720" rtlCol="0" anchor="t">
            <a:spAutoFit/>
          </a:bodyPr>
          <a:lstStyle/>
          <a:p>
            <a:pPr marL="0" algn="l">
              <a:defRPr/>
            </a:pPr>
            <a:r>
              <a:rPr lang="en-US" sz="4400" b="1" i="0" u="none" baseline="0" dirty="0">
                <a:solidFill>
                  <a:srgbClr val="000000"/>
                </a:solidFill>
                <a:latin typeface="微软雅黑"/>
                <a:ea typeface="微软雅黑"/>
              </a:rPr>
              <a:t>02</a:t>
            </a:r>
            <a:endParaRPr lang="en-US" sz="1100"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7024912" y="3429000"/>
            <a:ext cx="4493987" cy="646331"/>
          </a:xfrm>
        </p:spPr>
        <p:txBody>
          <a:bodyPr vert="horz" lIns="91440" tIns="45720" rIns="91440" bIns="45720" anchor="t">
            <a:normAutofit fontScale="90000"/>
          </a:bodyPr>
          <a:lstStyle/>
          <a:p>
            <a:pPr algn="r">
              <a:lnSpc>
                <a:spcPct val="90000"/>
              </a:lnSpc>
              <a:spcBef>
                <a:spcPct val="0"/>
              </a:spcBef>
            </a:pPr>
            <a:r>
              <a:rPr lang="zh-CN" altLang="en-US" sz="3648" b="1" i="0" u="none" baseline="0">
                <a:solidFill>
                  <a:srgbClr val="000000"/>
                </a:solidFill>
                <a:latin typeface="微软雅黑"/>
                <a:ea typeface="微软雅黑"/>
              </a:rPr>
              <a:t>Data Foundation &amp; Methodology</a:t>
            </a:r>
          </a:p>
        </p:txBody>
      </p:sp>
      <p:sp>
        <p:nvSpPr>
          <p:cNvPr id="3" name="TextBox 3"/>
          <p:cNvSpPr txBox="1"/>
          <p:nvPr/>
        </p:nvSpPr>
        <p:spPr>
          <a:xfrm>
            <a:off x="7024914" y="2533370"/>
            <a:ext cx="4493986" cy="840230"/>
          </a:xfrm>
          <a:prstGeom prst="rect">
            <a:avLst/>
          </a:prstGeom>
        </p:spPr>
        <p:txBody>
          <a:bodyPr vert="horz" wrap="square" lIns="91440" tIns="45720" rIns="91440" bIns="45720" rtlCol="0" anchor="b">
            <a:spAutoFit/>
          </a:bodyPr>
          <a:lstStyle/>
          <a:p>
            <a:pPr marL="0" algn="r">
              <a:lnSpc>
                <a:spcPct val="90000"/>
              </a:lnSpc>
              <a:spcBef>
                <a:spcPct val="0"/>
              </a:spcBef>
              <a:defRPr/>
            </a:pPr>
            <a:r>
              <a:rPr lang="en-GB" sz="5400" b="1" i="0" u="none" baseline="0">
                <a:solidFill>
                  <a:srgbClr val="000000"/>
                </a:solidFill>
                <a:latin typeface="Arial"/>
                <a:ea typeface="Arial"/>
              </a:rPr>
              <a:t>02</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p:nvPr/>
        </p:nvSpPr>
        <p:spPr>
          <a:xfrm>
            <a:off x="254000" y="254000"/>
            <a:ext cx="11684000" cy="650240"/>
          </a:xfrm>
          <a:prstGeom prst="rect">
            <a:avLst/>
          </a:prstGeom>
          <a:noFill/>
        </p:spPr>
        <p:txBody>
          <a:bodyPr vert="horz" wrap="none" lIns="91440" tIns="45720" rIns="91440" bIns="45720" anchor="ctr">
            <a:noAutofit/>
          </a:bodyPr>
          <a:lstStyle/>
          <a:p>
            <a:pPr marL="0" indent="0" algn="l"/>
            <a:r>
              <a:rPr lang="en-US" sz="4500" b="1" i="0" u="none" spc="-137" baseline="0">
                <a:solidFill>
                  <a:srgbClr val="000000"/>
                </a:solidFill>
                <a:latin typeface="Arial"/>
                <a:ea typeface="Arial"/>
              </a:rPr>
              <a:t>Dataset Overview</a:t>
            </a:r>
          </a:p>
        </p:txBody>
      </p:sp>
      <p:sp>
        <p:nvSpPr>
          <p:cNvPr id="3" name="AutoShape 3"/>
          <p:cNvSpPr/>
          <p:nvPr/>
        </p:nvSpPr>
        <p:spPr>
          <a:xfrm>
            <a:off x="254000" y="967740"/>
            <a:ext cx="11684000" cy="650240"/>
          </a:xfrm>
          <a:prstGeom prst="rect">
            <a:avLst/>
          </a:prstGeom>
          <a:noFill/>
        </p:spPr>
        <p:txBody>
          <a:bodyPr vert="horz" wrap="none" lIns="91440" tIns="45720" rIns="91440" bIns="45720" anchor="ctr">
            <a:noAutofit/>
          </a:bodyPr>
          <a:lstStyle/>
          <a:p>
            <a:pPr marL="0" indent="0" algn="l"/>
            <a:r>
              <a:rPr lang="en-US" sz="2600" b="1" i="0" u="none" spc="-82" baseline="0">
                <a:solidFill>
                  <a:schemeClr val="accent1"/>
                </a:solidFill>
                <a:latin typeface="Arial"/>
                <a:ea typeface="Arial"/>
              </a:rPr>
              <a:t>Data Profile</a:t>
            </a:r>
          </a:p>
        </p:txBody>
      </p:sp>
      <p:graphicFrame>
        <p:nvGraphicFramePr>
          <p:cNvPr id="4" name="Table 4"/>
          <p:cNvGraphicFramePr>
            <a:graphicFrameLocks noGrp="1"/>
          </p:cNvGraphicFramePr>
          <p:nvPr/>
        </p:nvGraphicFramePr>
        <p:xfrm>
          <a:off x="914400" y="1808480"/>
          <a:ext cx="10363200" cy="2590800"/>
        </p:xfrm>
        <a:graphic>
          <a:graphicData uri="http://schemas.openxmlformats.org/drawingml/2006/table">
            <a:tbl>
              <a:tblPr/>
              <a:tblGrid>
                <a:gridCol w="4590768"/>
                <a:gridCol w="5772432"/>
              </a:tblGrid>
              <a:tr h="431800">
                <a:tc>
                  <a:txBody>
                    <a:bodyPr/>
                    <a:lstStyle/>
                    <a:p>
                      <a:pPr marL="0" algn="l"/>
                      <a:r>
                        <a:rPr lang="en-US" sz="1800" b="1" i="0" u="none" baseline="0">
                          <a:solidFill>
                            <a:srgbClr val="FFFFFF"/>
                          </a:solidFill>
                          <a:latin typeface="Arial"/>
                          <a:ea typeface="Arial"/>
                        </a:rPr>
                        <a:t>Metric</a:t>
                      </a:r>
                    </a:p>
                  </a:txBody>
                  <a:tcPr anchor="ctr">
                    <a:lnL>
                      <a:noFill/>
                    </a:lnL>
                    <a:lnR>
                      <a:noFill/>
                    </a:lnR>
                    <a:lnT>
                      <a:noFill/>
                    </a:lnT>
                    <a:lnB>
                      <a:noFill/>
                    </a:lnB>
                    <a:solidFill>
                      <a:schemeClr val="accent1"/>
                    </a:solidFill>
                  </a:tcPr>
                </a:tc>
                <a:tc>
                  <a:txBody>
                    <a:bodyPr/>
                    <a:lstStyle/>
                    <a:p>
                      <a:pPr marL="0" algn="l"/>
                      <a:r>
                        <a:rPr lang="en-US" sz="1800" b="1" i="0" u="none" baseline="0">
                          <a:solidFill>
                            <a:srgbClr val="FFFFFF"/>
                          </a:solidFill>
                          <a:latin typeface="Arial"/>
                          <a:ea typeface="Arial"/>
                        </a:rPr>
                        <a:t>Value</a:t>
                      </a:r>
                    </a:p>
                  </a:txBody>
                  <a:tcPr anchor="ctr">
                    <a:lnL>
                      <a:noFill/>
                    </a:lnL>
                    <a:lnR>
                      <a:noFill/>
                    </a:lnR>
                    <a:lnT>
                      <a:noFill/>
                    </a:lnT>
                    <a:lnB>
                      <a:noFill/>
                    </a:lnB>
                    <a:solidFill>
                      <a:schemeClr val="accent1"/>
                    </a:solidFill>
                  </a:tcPr>
                </a:tc>
              </a:tr>
              <a:tr h="431800">
                <a:tc>
                  <a:txBody>
                    <a:bodyPr/>
                    <a:lstStyle/>
                    <a:p>
                      <a:pPr marL="0" algn="l"/>
                      <a:r>
                        <a:rPr lang="en-US" sz="1800" b="0" i="0" u="none" baseline="0">
                          <a:solidFill>
                            <a:srgbClr val="000000"/>
                          </a:solidFill>
                          <a:latin typeface="Arial"/>
                          <a:ea typeface="Arial"/>
                        </a:rPr>
                        <a:t>Records</a:t>
                      </a:r>
                    </a:p>
                  </a:txBody>
                  <a:tcPr anchor="ctr">
                    <a:lnL>
                      <a:noFill/>
                    </a:lnL>
                    <a:lnR>
                      <a:noFill/>
                    </a:lnR>
                    <a:lnT>
                      <a:noFill/>
                    </a:lnT>
                    <a:lnB>
                      <a:noFill/>
                    </a:lnB>
                    <a:solidFill>
                      <a:schemeClr val="accent1">
                        <a:tint val="40000"/>
                      </a:schemeClr>
                    </a:solidFill>
                  </a:tcPr>
                </a:tc>
                <a:tc>
                  <a:txBody>
                    <a:bodyPr/>
                    <a:lstStyle/>
                    <a:p>
                      <a:pPr marL="0" algn="l"/>
                      <a:r>
                        <a:rPr lang="en-US" sz="1800" b="0" i="0" u="none" baseline="0">
                          <a:solidFill>
                            <a:srgbClr val="000000"/>
                          </a:solidFill>
                          <a:latin typeface="Arial"/>
                          <a:ea typeface="Arial"/>
                        </a:rPr>
                        <a:t>119,390</a:t>
                      </a:r>
                    </a:p>
                  </a:txBody>
                  <a:tcPr anchor="ctr">
                    <a:lnL>
                      <a:noFill/>
                    </a:lnL>
                    <a:lnR>
                      <a:noFill/>
                    </a:lnR>
                    <a:lnT>
                      <a:noFill/>
                    </a:lnT>
                    <a:lnB>
                      <a:noFill/>
                    </a:lnB>
                    <a:solidFill>
                      <a:schemeClr val="accent1">
                        <a:tint val="40000"/>
                      </a:schemeClr>
                    </a:solidFill>
                  </a:tcPr>
                </a:tc>
              </a:tr>
              <a:tr h="431800">
                <a:tc>
                  <a:txBody>
                    <a:bodyPr/>
                    <a:lstStyle/>
                    <a:p>
                      <a:pPr marL="0" algn="l"/>
                      <a:r>
                        <a:rPr lang="en-US" sz="1800" b="0" i="0" u="none" baseline="0">
                          <a:solidFill>
                            <a:srgbClr val="000000"/>
                          </a:solidFill>
                          <a:latin typeface="Arial"/>
                          <a:ea typeface="Arial"/>
                        </a:rPr>
                        <a:t>Original Columns</a:t>
                      </a:r>
                    </a:p>
                  </a:txBody>
                  <a:tcPr anchor="ctr">
                    <a:lnL>
                      <a:noFill/>
                    </a:lnL>
                    <a:lnR>
                      <a:noFill/>
                    </a:lnR>
                    <a:lnT>
                      <a:noFill/>
                    </a:lnT>
                    <a:lnB>
                      <a:noFill/>
                    </a:lnB>
                    <a:solidFill>
                      <a:schemeClr val="accent1">
                        <a:tint val="20000"/>
                      </a:schemeClr>
                    </a:solidFill>
                  </a:tcPr>
                </a:tc>
                <a:tc>
                  <a:txBody>
                    <a:bodyPr/>
                    <a:lstStyle/>
                    <a:p>
                      <a:pPr marL="0" algn="l"/>
                      <a:r>
                        <a:rPr lang="en-US" sz="1800" b="0" i="0" u="none" baseline="0">
                          <a:solidFill>
                            <a:srgbClr val="000000"/>
                          </a:solidFill>
                          <a:latin typeface="Arial"/>
                          <a:ea typeface="Arial"/>
                        </a:rPr>
                        <a:t>29</a:t>
                      </a:r>
                    </a:p>
                  </a:txBody>
                  <a:tcPr anchor="ctr">
                    <a:lnL>
                      <a:noFill/>
                    </a:lnL>
                    <a:lnR>
                      <a:noFill/>
                    </a:lnR>
                    <a:lnT>
                      <a:noFill/>
                    </a:lnT>
                    <a:lnB>
                      <a:noFill/>
                    </a:lnB>
                    <a:solidFill>
                      <a:schemeClr val="accent1">
                        <a:tint val="20000"/>
                      </a:schemeClr>
                    </a:solidFill>
                  </a:tcPr>
                </a:tc>
              </a:tr>
              <a:tr h="431800">
                <a:tc>
                  <a:txBody>
                    <a:bodyPr/>
                    <a:lstStyle/>
                    <a:p>
                      <a:pPr marL="0" algn="l"/>
                      <a:r>
                        <a:rPr lang="en-US" sz="1800" b="0" i="0" u="none" baseline="0">
                          <a:solidFill>
                            <a:srgbClr val="000000"/>
                          </a:solidFill>
                          <a:latin typeface="Arial"/>
                          <a:ea typeface="Arial"/>
                        </a:rPr>
                        <a:t>Analysis Period</a:t>
                      </a:r>
                    </a:p>
                  </a:txBody>
                  <a:tcPr anchor="ctr">
                    <a:lnL>
                      <a:noFill/>
                    </a:lnL>
                    <a:lnR>
                      <a:noFill/>
                    </a:lnR>
                    <a:lnT>
                      <a:noFill/>
                    </a:lnT>
                    <a:lnB>
                      <a:noFill/>
                    </a:lnB>
                    <a:solidFill>
                      <a:schemeClr val="accent1">
                        <a:tint val="40000"/>
                      </a:schemeClr>
                    </a:solidFill>
                  </a:tcPr>
                </a:tc>
                <a:tc>
                  <a:txBody>
                    <a:bodyPr/>
                    <a:lstStyle/>
                    <a:p>
                      <a:pPr marL="0" algn="l"/>
                      <a:r>
                        <a:rPr lang="en-US" sz="1800" b="0" i="0" u="none" baseline="0">
                          <a:solidFill>
                            <a:srgbClr val="000000"/>
                          </a:solidFill>
                          <a:latin typeface="Arial"/>
                          <a:ea typeface="Arial"/>
                        </a:rPr>
                        <a:t>2017–2019</a:t>
                      </a:r>
                    </a:p>
                  </a:txBody>
                  <a:tcPr anchor="ctr">
                    <a:lnL>
                      <a:noFill/>
                    </a:lnL>
                    <a:lnR>
                      <a:noFill/>
                    </a:lnR>
                    <a:lnT>
                      <a:noFill/>
                    </a:lnT>
                    <a:lnB>
                      <a:noFill/>
                    </a:lnB>
                    <a:solidFill>
                      <a:schemeClr val="accent1">
                        <a:tint val="40000"/>
                      </a:schemeClr>
                    </a:solidFill>
                  </a:tcPr>
                </a:tc>
              </a:tr>
              <a:tr h="431800">
                <a:tc>
                  <a:txBody>
                    <a:bodyPr/>
                    <a:lstStyle/>
                    <a:p>
                      <a:pPr marL="0" algn="l"/>
                      <a:r>
                        <a:rPr lang="en-US" sz="1800" b="0" i="0" u="none" baseline="0">
                          <a:solidFill>
                            <a:srgbClr val="000000"/>
                          </a:solidFill>
                          <a:latin typeface="Arial"/>
                          <a:ea typeface="Arial"/>
                        </a:rPr>
                        <a:t>Hotel Types</a:t>
                      </a:r>
                    </a:p>
                  </a:txBody>
                  <a:tcPr anchor="ctr">
                    <a:lnL>
                      <a:noFill/>
                    </a:lnL>
                    <a:lnR>
                      <a:noFill/>
                    </a:lnR>
                    <a:lnT>
                      <a:noFill/>
                    </a:lnT>
                    <a:lnB>
                      <a:noFill/>
                    </a:lnB>
                    <a:solidFill>
                      <a:schemeClr val="accent1">
                        <a:tint val="20000"/>
                      </a:schemeClr>
                    </a:solidFill>
                  </a:tcPr>
                </a:tc>
                <a:tc>
                  <a:txBody>
                    <a:bodyPr/>
                    <a:lstStyle/>
                    <a:p>
                      <a:pPr marL="0" algn="l"/>
                      <a:r>
                        <a:rPr lang="en-US" sz="1800" b="0" i="0" u="none" baseline="0">
                          <a:solidFill>
                            <a:srgbClr val="000000"/>
                          </a:solidFill>
                          <a:latin typeface="Arial"/>
                          <a:ea typeface="Arial"/>
                        </a:rPr>
                        <a:t>2 (City &amp; Resort)</a:t>
                      </a:r>
                    </a:p>
                  </a:txBody>
                  <a:tcPr anchor="ctr">
                    <a:lnL>
                      <a:noFill/>
                    </a:lnL>
                    <a:lnR>
                      <a:noFill/>
                    </a:lnR>
                    <a:lnT>
                      <a:noFill/>
                    </a:lnT>
                    <a:lnB>
                      <a:noFill/>
                    </a:lnB>
                    <a:solidFill>
                      <a:schemeClr val="accent1">
                        <a:tint val="20000"/>
                      </a:schemeClr>
                    </a:solidFill>
                  </a:tcPr>
                </a:tc>
              </a:tr>
              <a:tr h="431800">
                <a:tc>
                  <a:txBody>
                    <a:bodyPr/>
                    <a:lstStyle/>
                    <a:p>
                      <a:pPr marL="0" algn="l"/>
                      <a:r>
                        <a:rPr lang="en-US" sz="1800" b="0" i="0" u="none" baseline="0">
                          <a:solidFill>
                            <a:srgbClr val="000000"/>
                          </a:solidFill>
                          <a:latin typeface="Arial"/>
                          <a:ea typeface="Arial"/>
                        </a:rPr>
                        <a:t>Booking Status</a:t>
                      </a:r>
                    </a:p>
                  </a:txBody>
                  <a:tcPr anchor="ctr">
                    <a:lnL>
                      <a:noFill/>
                    </a:lnL>
                    <a:lnR>
                      <a:noFill/>
                    </a:lnR>
                    <a:lnT>
                      <a:noFill/>
                    </a:lnT>
                    <a:lnB>
                      <a:noFill/>
                    </a:lnB>
                    <a:solidFill>
                      <a:schemeClr val="accent1">
                        <a:tint val="40000"/>
                      </a:schemeClr>
                    </a:solidFill>
                  </a:tcPr>
                </a:tc>
                <a:tc>
                  <a:txBody>
                    <a:bodyPr/>
                    <a:lstStyle/>
                    <a:p>
                      <a:pPr marL="0" algn="l"/>
                      <a:r>
                        <a:rPr lang="en-US" sz="1800" b="0" i="0" u="none" baseline="0">
                          <a:solidFill>
                            <a:srgbClr val="000000"/>
                          </a:solidFill>
                          <a:latin typeface="Arial"/>
                          <a:ea typeface="Arial"/>
                        </a:rPr>
                        <a:t>Confirmed / Cancelled</a:t>
                      </a:r>
                    </a:p>
                  </a:txBody>
                  <a:tcPr anchor="ctr">
                    <a:lnL>
                      <a:noFill/>
                    </a:lnL>
                    <a:lnR>
                      <a:noFill/>
                    </a:lnR>
                    <a:lnT>
                      <a:noFill/>
                    </a:lnT>
                    <a:lnB>
                      <a:noFill/>
                    </a:lnB>
                    <a:solidFill>
                      <a:schemeClr val="accent1">
                        <a:tint val="40000"/>
                      </a:schemeClr>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0"/>
            <a:ext cx="10858500" cy="1028700"/>
          </a:xfrm>
        </p:spPr>
        <p:txBody>
          <a:bodyPr vert="horz" lIns="91440" tIns="45720" rIns="91440" bIns="45720" anchor="b">
            <a:normAutofit/>
          </a:bodyPr>
          <a:lstStyle/>
          <a:p>
            <a:pPr algn="l">
              <a:lnSpc>
                <a:spcPct val="90000"/>
              </a:lnSpc>
              <a:spcBef>
                <a:spcPct val="0"/>
              </a:spcBef>
            </a:pPr>
            <a:r>
              <a:rPr lang="zh-CN" altLang="en-US" sz="2800" b="1" i="0" u="none" baseline="0">
                <a:solidFill>
                  <a:srgbClr val="000000"/>
                </a:solidFill>
                <a:latin typeface="微软雅黑"/>
                <a:ea typeface="微软雅黑"/>
              </a:rPr>
              <a:t>Dataset Overview</a:t>
            </a:r>
          </a:p>
        </p:txBody>
      </p:sp>
      <p:sp>
        <p:nvSpPr>
          <p:cNvPr id="3" name="AutoShape 3"/>
          <p:cNvSpPr>
            <a:spLocks noGrp="1"/>
          </p:cNvSpPr>
          <p:nvPr>
            <p:ph type="sldNum" sz="quarter" idx="12"/>
          </p:nvPr>
        </p:nvSpPr>
        <p:spPr>
          <a:xfrm>
            <a:off x="8857452" y="6438900"/>
            <a:ext cx="2661448" cy="215900"/>
          </a:xfrm>
        </p:spPr>
        <p:txBody>
          <a:bodyPr vert="horz" lIns="91440" tIns="45720" rIns="91440" bIns="45720" anchor="ctr">
            <a:normAutofit fontScale="92500" lnSpcReduction="10000"/>
          </a:bodyPr>
          <a:lstStyle/>
          <a:p>
            <a:pPr marL="0" algn="r"/>
            <a:fld id="{3386411A-70EE-422D-B97C-F56BEE3FF077}" type="slidenum">
              <a:rPr lang="zh-CN" altLang="en-US" sz="1000" b="0" i="0" u="none" baseline="0">
                <a:solidFill>
                  <a:srgbClr val="000000">
                    <a:lumMod val="50000"/>
                    <a:lumOff val="50000"/>
                  </a:srgbClr>
                </a:solidFill>
                <a:latin typeface="Arial"/>
                <a:ea typeface="Arial"/>
              </a:rPr>
              <a:t>11</a:t>
            </a:fld>
            <a:endParaRPr lang="zh-CN" altLang="en-US" sz="1000" b="0" i="0" u="none" baseline="0">
              <a:solidFill>
                <a:srgbClr val="000000">
                  <a:lumMod val="50000"/>
                  <a:lumOff val="50000"/>
                </a:srgbClr>
              </a:solidFill>
              <a:latin typeface="Arial"/>
              <a:ea typeface="Arial"/>
            </a:endParaRPr>
          </a:p>
        </p:txBody>
      </p:sp>
      <p:sp>
        <p:nvSpPr>
          <p:cNvPr id="4" name="TextBox 4"/>
          <p:cNvSpPr txBox="1"/>
          <p:nvPr/>
        </p:nvSpPr>
        <p:spPr>
          <a:xfrm>
            <a:off x="1179374" y="1315453"/>
            <a:ext cx="5159209" cy="5159209"/>
          </a:xfrm>
          <a:prstGeom prst="ellipse">
            <a:avLst/>
          </a:prstGeom>
          <a:solidFill>
            <a:schemeClr val="accent1">
              <a:alpha val="20000"/>
              <a:lumMod val="20000"/>
              <a:lumOff val="80000"/>
            </a:schemeClr>
          </a:solidFill>
          <a:ln cap="sq"/>
        </p:spPr>
        <p:txBody>
          <a:bodyPr vert="horz" wrap="square" lIns="91440" tIns="45720" rIns="91440" bIns="45720" rtlCol="0" anchor="ctr">
            <a:normAutofit/>
          </a:bodyPr>
          <a:lstStyle/>
          <a:p>
            <a:pPr marL="0" algn="ctr">
              <a:defRPr/>
            </a:pPr>
            <a:endParaRPr lang="en-US" sz="1100"/>
          </a:p>
        </p:txBody>
      </p:sp>
      <p:sp>
        <p:nvSpPr>
          <p:cNvPr id="5" name="TextBox 5"/>
          <p:cNvSpPr txBox="1"/>
          <p:nvPr/>
        </p:nvSpPr>
        <p:spPr>
          <a:xfrm>
            <a:off x="2263705" y="2380733"/>
            <a:ext cx="2826446" cy="2826446"/>
          </a:xfrm>
          <a:prstGeom prst="ellipse">
            <a:avLst/>
          </a:prstGeom>
          <a:solidFill>
            <a:schemeClr val="accent1">
              <a:alpha val="70000"/>
              <a:lumMod val="20000"/>
              <a:lumOff val="80000"/>
            </a:schemeClr>
          </a:solidFill>
          <a:ln cap="sq"/>
        </p:spPr>
        <p:txBody>
          <a:bodyPr vert="horz" wrap="square" lIns="91440" tIns="45720" rIns="91440" bIns="45720" rtlCol="0" anchor="ctr">
            <a:normAutofit/>
          </a:bodyPr>
          <a:lstStyle/>
          <a:p>
            <a:pPr marL="0" algn="ctr">
              <a:defRPr/>
            </a:pPr>
            <a:endParaRPr lang="en-US" sz="1100"/>
          </a:p>
        </p:txBody>
      </p:sp>
      <p:sp>
        <p:nvSpPr>
          <p:cNvPr id="6" name="TextBox 6"/>
          <p:cNvSpPr txBox="1"/>
          <p:nvPr/>
        </p:nvSpPr>
        <p:spPr>
          <a:xfrm>
            <a:off x="2733295" y="2850323"/>
            <a:ext cx="1887266" cy="1887266"/>
          </a:xfrm>
          <a:prstGeom prst="ellipse">
            <a:avLst/>
          </a:prstGeom>
          <a:solidFill>
            <a:schemeClr val="accent1"/>
          </a:solidFill>
          <a:ln cap="sq"/>
        </p:spPr>
        <p:txBody>
          <a:bodyPr vert="horz" wrap="square" lIns="91440" tIns="45720" rIns="91440" bIns="45720" rtlCol="0" anchor="ctr">
            <a:normAutofit/>
          </a:bodyPr>
          <a:lstStyle/>
          <a:p>
            <a:pPr marL="0" algn="ctr">
              <a:defRPr/>
            </a:pPr>
            <a:endParaRPr lang="en-US" sz="1100"/>
          </a:p>
        </p:txBody>
      </p:sp>
      <p:sp>
        <p:nvSpPr>
          <p:cNvPr id="7" name="Freeform 7"/>
          <p:cNvSpPr/>
          <p:nvPr/>
        </p:nvSpPr>
        <p:spPr>
          <a:xfrm flipH="1" flipV="1">
            <a:off x="5537968" y="2290985"/>
            <a:ext cx="5461958" cy="2682430"/>
          </a:xfrm>
          <a:custGeom>
            <a:avLst/>
            <a:gdLst/>
            <a:ahLst/>
            <a:cxnLst/>
            <a:rect l="l" t="t" r="r" b="b"/>
            <a:pathLst>
              <a:path w="2743200" h="1325461">
                <a:moveTo>
                  <a:pt x="105941" y="1325461"/>
                </a:moveTo>
                <a:lnTo>
                  <a:pt x="2637259" y="1325461"/>
                </a:lnTo>
                <a:cubicBezTo>
                  <a:pt x="2695769" y="1325461"/>
                  <a:pt x="2743200" y="1278030"/>
                  <a:pt x="2743200" y="1219520"/>
                </a:cubicBezTo>
                <a:lnTo>
                  <a:pt x="2743200" y="260524"/>
                </a:lnTo>
                <a:lnTo>
                  <a:pt x="2741746" y="253322"/>
                </a:lnTo>
                <a:lnTo>
                  <a:pt x="2741746" y="3502"/>
                </a:lnTo>
                <a:lnTo>
                  <a:pt x="2738829" y="0"/>
                </a:lnTo>
                <a:lnTo>
                  <a:pt x="2610055" y="154583"/>
                </a:lnTo>
                <a:lnTo>
                  <a:pt x="105941" y="154583"/>
                </a:lnTo>
                <a:cubicBezTo>
                  <a:pt x="47431" y="154583"/>
                  <a:pt x="0" y="202014"/>
                  <a:pt x="0" y="260524"/>
                </a:cubicBezTo>
                <a:lnTo>
                  <a:pt x="0" y="1219520"/>
                </a:lnTo>
                <a:cubicBezTo>
                  <a:pt x="0" y="1278030"/>
                  <a:pt x="47431" y="1325461"/>
                  <a:pt x="105941" y="1325461"/>
                </a:cubicBezTo>
                <a:close/>
              </a:path>
            </a:pathLst>
          </a:custGeom>
          <a:solidFill>
            <a:srgbClr val="FFFFFF">
              <a:alpha val="60000"/>
            </a:srgbClr>
          </a:solidFill>
          <a:ln w="12700" cap="sq">
            <a:solidFill>
              <a:schemeClr val="accent3">
                <a:lumMod val="40000"/>
                <a:lumOff val="60000"/>
              </a:schemeClr>
            </a:solidFill>
          </a:ln>
        </p:spPr>
        <p:txBody>
          <a:bodyPr vert="horz" wrap="square" lIns="91440" tIns="45720" rIns="91440" bIns="45720" anchor="ctr">
            <a:normAutofit/>
          </a:bodyPr>
          <a:lstStyle/>
          <a:p>
            <a:pPr marL="0" algn="ctr"/>
            <a:endParaRPr/>
          </a:p>
        </p:txBody>
      </p:sp>
      <p:sp>
        <p:nvSpPr>
          <p:cNvPr id="8" name="TextBox 8"/>
          <p:cNvSpPr txBox="1"/>
          <p:nvPr/>
        </p:nvSpPr>
        <p:spPr>
          <a:xfrm>
            <a:off x="6097987" y="3092325"/>
            <a:ext cx="4395893" cy="754052"/>
          </a:xfrm>
          <a:prstGeom prst="rect">
            <a:avLst/>
          </a:prstGeom>
          <a:noFill/>
        </p:spPr>
        <p:txBody>
          <a:bodyPr vert="horz" wrap="square" lIns="91440" tIns="45720" rIns="91440" bIns="45720" rtlCol="0" anchor="t">
            <a:spAutoFit/>
          </a:bodyPr>
          <a:lstStyle/>
          <a:p>
            <a:pPr marL="0" algn="l">
              <a:lnSpc>
                <a:spcPct val="150000"/>
              </a:lnSpc>
              <a:defRPr/>
            </a:pPr>
            <a:r>
              <a:rPr lang="zh-CN" altLang="en-US" sz="1400" b="0" i="0" u="none" baseline="0">
                <a:solidFill>
                  <a:srgbClr val="000000"/>
                </a:solidFill>
                <a:latin typeface="微软雅黑"/>
                <a:ea typeface="微软雅黑"/>
              </a:rPr>
              <a:t>Key variables include hotel, is_canceled, lead_time, arrival_date_year, arrival_date_month, stays_in_weekend_nights, stays_in_weekdays_nights, and adr.</a:t>
            </a:r>
            <a:endParaRPr lang="en-US" sz="1100"/>
          </a:p>
        </p:txBody>
      </p:sp>
      <p:sp>
        <p:nvSpPr>
          <p:cNvPr id="9" name="TextBox 9"/>
          <p:cNvSpPr txBox="1"/>
          <p:nvPr/>
        </p:nvSpPr>
        <p:spPr>
          <a:xfrm>
            <a:off x="6096000" y="2681046"/>
            <a:ext cx="4395893" cy="338554"/>
          </a:xfrm>
          <a:prstGeom prst="rect">
            <a:avLst/>
          </a:prstGeom>
          <a:noFill/>
        </p:spPr>
        <p:txBody>
          <a:bodyPr vert="horz" wrap="square" lIns="91440" tIns="45720" rIns="91440" bIns="45720" rtlCol="0" anchor="b">
            <a:spAutoFit/>
          </a:bodyPr>
          <a:lstStyle/>
          <a:p>
            <a:pPr marL="0" algn="l">
              <a:lnSpc>
                <a:spcPct val="100000"/>
              </a:lnSpc>
              <a:defRPr/>
            </a:pPr>
            <a:r>
              <a:rPr lang="zh-CN" altLang="en-US" sz="1600" b="1" i="0" u="none" baseline="0">
                <a:solidFill>
                  <a:srgbClr val="000000"/>
                </a:solidFill>
                <a:latin typeface="微软雅黑"/>
                <a:ea typeface="微软雅黑"/>
              </a:rPr>
              <a:t>Important Variables</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0"/>
            <a:ext cx="10858500" cy="1028700"/>
          </a:xfrm>
        </p:spPr>
        <p:txBody>
          <a:bodyPr vert="horz" lIns="91440" tIns="45720" rIns="91440" bIns="45720" anchor="b">
            <a:normAutofit/>
          </a:bodyPr>
          <a:lstStyle/>
          <a:p>
            <a:pPr algn="l">
              <a:lnSpc>
                <a:spcPct val="90000"/>
              </a:lnSpc>
              <a:spcBef>
                <a:spcPct val="0"/>
              </a:spcBef>
            </a:pPr>
            <a:r>
              <a:rPr lang="zh-CN" altLang="en-US" sz="2800" b="1" i="0" u="none" baseline="0">
                <a:solidFill>
                  <a:srgbClr val="000000"/>
                </a:solidFill>
                <a:latin typeface="微软雅黑"/>
                <a:ea typeface="微软雅黑"/>
              </a:rPr>
              <a:t>Data Preparation</a:t>
            </a:r>
          </a:p>
        </p:txBody>
      </p:sp>
      <p:cxnSp>
        <p:nvCxnSpPr>
          <p:cNvPr id="3" name="Connector 3"/>
          <p:cNvCxnSpPr/>
          <p:nvPr/>
        </p:nvCxnSpPr>
        <p:spPr>
          <a:xfrm>
            <a:off x="0" y="4174086"/>
            <a:ext cx="12192000" cy="0"/>
          </a:xfrm>
          <a:prstGeom prst="line">
            <a:avLst/>
          </a:prstGeom>
          <a:ln w="28575">
            <a:solidFill>
              <a:schemeClr val="tx1">
                <a:alpha val="50000"/>
                <a:lumMod val="10000"/>
                <a:lumOff val="90000"/>
              </a:schemeClr>
            </a:solidFill>
          </a:ln>
        </p:spPr>
      </p:cxnSp>
      <p:sp>
        <p:nvSpPr>
          <p:cNvPr id="4" name="AutoShape 4"/>
          <p:cNvSpPr/>
          <p:nvPr/>
        </p:nvSpPr>
        <p:spPr>
          <a:xfrm>
            <a:off x="3967255" y="3429000"/>
            <a:ext cx="1398036" cy="1396800"/>
          </a:xfrm>
          <a:prstGeom prst="roundRect">
            <a:avLst>
              <a:gd name="adj" fmla="val 50000"/>
            </a:avLst>
          </a:prstGeom>
          <a:solidFill>
            <a:schemeClr val="accent3">
              <a:alpha val="50000"/>
              <a:lumMod val="20000"/>
              <a:lumOff val="80000"/>
            </a:schemeClr>
          </a:solidFill>
          <a:ln>
            <a:noFill/>
          </a:ln>
        </p:spPr>
        <p:txBody>
          <a:bodyPr vert="horz" lIns="91440" tIns="45720" rIns="91440" bIns="45720" anchor="ctr">
            <a:normAutofit/>
          </a:bodyPr>
          <a:lstStyle/>
          <a:p>
            <a:pPr marL="0" algn="ctr"/>
            <a:endParaRPr/>
          </a:p>
        </p:txBody>
      </p:sp>
      <p:sp>
        <p:nvSpPr>
          <p:cNvPr id="5" name="AutoShape 5"/>
          <p:cNvSpPr/>
          <p:nvPr/>
        </p:nvSpPr>
        <p:spPr>
          <a:xfrm>
            <a:off x="4476787" y="3960229"/>
            <a:ext cx="360000" cy="360000"/>
          </a:xfrm>
          <a:prstGeom prst="roundRect">
            <a:avLst>
              <a:gd name="adj" fmla="val 50000"/>
            </a:avLst>
          </a:prstGeom>
          <a:solidFill>
            <a:schemeClr val="accent3"/>
          </a:solidFill>
          <a:ln>
            <a:noFill/>
          </a:ln>
        </p:spPr>
        <p:txBody>
          <a:bodyPr vert="horz" wrap="none" lIns="91440" tIns="45720" rIns="91440" bIns="45720" anchor="ctr">
            <a:normAutofit fontScale="70000" lnSpcReduction="20000"/>
          </a:bodyPr>
          <a:lstStyle/>
          <a:p>
            <a:pPr marL="0" algn="ctr"/>
            <a:endParaRPr/>
          </a:p>
        </p:txBody>
      </p:sp>
      <p:sp>
        <p:nvSpPr>
          <p:cNvPr id="6" name="AutoShape 6"/>
          <p:cNvSpPr/>
          <p:nvPr/>
        </p:nvSpPr>
        <p:spPr>
          <a:xfrm flipV="1">
            <a:off x="1620497" y="3994086"/>
            <a:ext cx="360000" cy="360000"/>
          </a:xfrm>
          <a:prstGeom prst="roundRect">
            <a:avLst>
              <a:gd name="adj" fmla="val 50000"/>
            </a:avLst>
          </a:prstGeom>
          <a:solidFill>
            <a:schemeClr val="accent3"/>
          </a:solidFill>
          <a:ln>
            <a:noFill/>
          </a:ln>
        </p:spPr>
        <p:txBody>
          <a:bodyPr vert="horz" wrap="none" lIns="91440" tIns="45720" rIns="91440" bIns="45720" anchor="ctr">
            <a:normAutofit fontScale="70000" lnSpcReduction="20000"/>
          </a:bodyPr>
          <a:lstStyle/>
          <a:p>
            <a:pPr marL="0" algn="ctr"/>
            <a:endParaRPr/>
          </a:p>
        </p:txBody>
      </p:sp>
      <p:sp>
        <p:nvSpPr>
          <p:cNvPr id="7" name="AutoShape 7"/>
          <p:cNvSpPr/>
          <p:nvPr/>
        </p:nvSpPr>
        <p:spPr>
          <a:xfrm>
            <a:off x="660401" y="4478371"/>
            <a:ext cx="2289637" cy="2289600"/>
          </a:xfrm>
          <a:prstGeom prst="ellipse">
            <a:avLst/>
          </a:prstGeom>
          <a:blipFill>
            <a:blip r:embed="rId2"/>
            <a:stretch>
              <a:fillRect l="-25138" r="-24860"/>
            </a:stretch>
          </a:blipFill>
          <a:ln>
            <a:noFill/>
          </a:ln>
          <a:effectLst/>
        </p:spPr>
        <p:txBody>
          <a:bodyPr rot="0" vert="horz" wrap="square" lIns="91440" tIns="45720" rIns="91440" bIns="45720" anchor="t">
            <a:prstTxWarp prst="textNoShape">
              <a:avLst/>
            </a:prstTxWarp>
            <a:noAutofit/>
          </a:bodyPr>
          <a:lstStyle/>
          <a:p>
            <a:pPr marL="0" algn="ctr"/>
            <a:endParaRPr/>
          </a:p>
        </p:txBody>
      </p:sp>
      <p:sp>
        <p:nvSpPr>
          <p:cNvPr id="8" name="AutoShape 8"/>
          <p:cNvSpPr/>
          <p:nvPr/>
        </p:nvSpPr>
        <p:spPr>
          <a:xfrm flipV="1">
            <a:off x="7333072" y="3994086"/>
            <a:ext cx="360000" cy="360000"/>
          </a:xfrm>
          <a:prstGeom prst="roundRect">
            <a:avLst>
              <a:gd name="adj" fmla="val 50000"/>
            </a:avLst>
          </a:prstGeom>
          <a:solidFill>
            <a:schemeClr val="accent3"/>
          </a:solidFill>
          <a:ln>
            <a:noFill/>
          </a:ln>
        </p:spPr>
        <p:txBody>
          <a:bodyPr vert="horz" wrap="none" lIns="91440" tIns="45720" rIns="91440" bIns="45720" anchor="ctr">
            <a:normAutofit fontScale="70000" lnSpcReduction="20000"/>
          </a:bodyPr>
          <a:lstStyle/>
          <a:p>
            <a:pPr marL="0" algn="ctr"/>
            <a:endParaRPr/>
          </a:p>
        </p:txBody>
      </p:sp>
      <p:sp>
        <p:nvSpPr>
          <p:cNvPr id="9" name="AutoShape 9"/>
          <p:cNvSpPr/>
          <p:nvPr/>
        </p:nvSpPr>
        <p:spPr>
          <a:xfrm>
            <a:off x="6372977" y="4478371"/>
            <a:ext cx="2289637" cy="2289600"/>
          </a:xfrm>
          <a:prstGeom prst="ellipse">
            <a:avLst/>
          </a:prstGeom>
          <a:blipFill>
            <a:blip r:embed="rId3"/>
            <a:stretch>
              <a:fillRect l="-25138" r="-24860"/>
            </a:stretch>
          </a:blipFill>
          <a:ln>
            <a:noFill/>
          </a:ln>
          <a:effectLst/>
        </p:spPr>
        <p:txBody>
          <a:bodyPr rot="0" vert="horz" wrap="square" lIns="91440" tIns="45720" rIns="91440" bIns="45720" anchor="t">
            <a:prstTxWarp prst="textNoShape">
              <a:avLst/>
            </a:prstTxWarp>
            <a:noAutofit/>
          </a:bodyPr>
          <a:lstStyle/>
          <a:p>
            <a:pPr marL="0" algn="ctr"/>
            <a:endParaRPr/>
          </a:p>
        </p:txBody>
      </p:sp>
      <p:sp>
        <p:nvSpPr>
          <p:cNvPr id="10" name="AutoShape 10"/>
          <p:cNvSpPr/>
          <p:nvPr/>
        </p:nvSpPr>
        <p:spPr>
          <a:xfrm flipV="1">
            <a:off x="10189357" y="3994086"/>
            <a:ext cx="360000" cy="360000"/>
          </a:xfrm>
          <a:prstGeom prst="roundRect">
            <a:avLst>
              <a:gd name="adj" fmla="val 50000"/>
            </a:avLst>
          </a:prstGeom>
          <a:solidFill>
            <a:schemeClr val="accent3"/>
          </a:solidFill>
          <a:ln>
            <a:noFill/>
          </a:ln>
        </p:spPr>
        <p:txBody>
          <a:bodyPr vert="horz" wrap="none" lIns="91440" tIns="45720" rIns="91440" bIns="45720" anchor="ctr">
            <a:normAutofit fontScale="70000" lnSpcReduction="20000"/>
          </a:bodyPr>
          <a:lstStyle/>
          <a:p>
            <a:pPr marL="0" algn="ctr"/>
            <a:endParaRPr/>
          </a:p>
        </p:txBody>
      </p:sp>
      <p:sp>
        <p:nvSpPr>
          <p:cNvPr id="11" name="TextBox 11"/>
          <p:cNvSpPr txBox="1"/>
          <p:nvPr/>
        </p:nvSpPr>
        <p:spPr>
          <a:xfrm>
            <a:off x="388258" y="1526669"/>
            <a:ext cx="4370778" cy="338554"/>
          </a:xfrm>
          <a:prstGeom prst="rect">
            <a:avLst/>
          </a:prstGeom>
          <a:noFill/>
        </p:spPr>
        <p:txBody>
          <a:bodyPr vert="horz" wrap="square" lIns="91440" tIns="45720" rIns="91440" bIns="45720" rtlCol="0" anchor="t">
            <a:spAutoFit/>
          </a:bodyPr>
          <a:lstStyle/>
          <a:p>
            <a:pPr marL="0" algn="ctr">
              <a:defRPr/>
            </a:pPr>
            <a:r>
              <a:rPr lang="zh-CN" altLang="en-US" sz="1600" b="1" i="0" u="none" baseline="0">
                <a:solidFill>
                  <a:srgbClr val="000000"/>
                </a:solidFill>
                <a:latin typeface="微软雅黑"/>
                <a:ea typeface="微软雅黑"/>
              </a:rPr>
              <a:t>Data Quality Checks</a:t>
            </a:r>
            <a:endParaRPr lang="en-US" sz="1100"/>
          </a:p>
        </p:txBody>
      </p:sp>
      <p:sp>
        <p:nvSpPr>
          <p:cNvPr id="12" name="TextBox 12"/>
          <p:cNvSpPr txBox="1"/>
          <p:nvPr/>
        </p:nvSpPr>
        <p:spPr>
          <a:xfrm>
            <a:off x="388258" y="1951759"/>
            <a:ext cx="4370778" cy="1350563"/>
          </a:xfrm>
          <a:prstGeom prst="rect">
            <a:avLst/>
          </a:prstGeom>
          <a:noFill/>
        </p:spPr>
        <p:txBody>
          <a:bodyPr vert="horz" wrap="square" lIns="91440" tIns="45720" rIns="91440" bIns="45720" rtlCol="0" anchor="t">
            <a:spAutoFit/>
          </a:bodyPr>
          <a:lstStyle/>
          <a:p>
            <a:pPr marL="0" marR="0" indent="0" algn="ctr" fontAlgn="auto">
              <a:lnSpc>
                <a:spcPct val="150000"/>
              </a:lnSpc>
              <a:spcBef>
                <a:spcPct val="0"/>
              </a:spcBef>
              <a:spcAft>
                <a:spcPct val="0"/>
              </a:spcAft>
              <a:defRPr/>
            </a:pPr>
            <a:r>
              <a:rPr lang="zh-CN" altLang="en-US" sz="1400" b="0" i="0" u="none" baseline="0" dirty="0">
                <a:ln/>
                <a:solidFill>
                  <a:srgbClr val="000000"/>
                </a:solidFill>
                <a:effectLst/>
                <a:latin typeface="微软雅黑"/>
                <a:ea typeface="微软雅黑"/>
              </a:rPr>
              <a:t>Quality checks covered missing values, duplicate records, undefined categorical values, negative ADR, extreme ADR values, and zero-guest bookings.</a:t>
            </a:r>
            <a:endParaRPr lang="en-US" sz="1100" dirty="0"/>
          </a:p>
        </p:txBody>
      </p:sp>
      <p:sp>
        <p:nvSpPr>
          <p:cNvPr id="13" name="TextBox 13"/>
          <p:cNvSpPr txBox="1"/>
          <p:nvPr/>
        </p:nvSpPr>
        <p:spPr>
          <a:xfrm>
            <a:off x="6100833" y="1526669"/>
            <a:ext cx="4370778" cy="338554"/>
          </a:xfrm>
          <a:prstGeom prst="rect">
            <a:avLst/>
          </a:prstGeom>
          <a:noFill/>
        </p:spPr>
        <p:txBody>
          <a:bodyPr vert="horz" wrap="square" lIns="91440" tIns="45720" rIns="91440" bIns="45720" rtlCol="0" anchor="t">
            <a:spAutoFit/>
          </a:bodyPr>
          <a:lstStyle/>
          <a:p>
            <a:pPr marL="0" algn="ctr">
              <a:defRPr/>
            </a:pPr>
            <a:r>
              <a:rPr lang="zh-CN" altLang="en-US" sz="1600" b="1" i="0" u="none" baseline="0">
                <a:solidFill>
                  <a:srgbClr val="000000"/>
                </a:solidFill>
                <a:latin typeface="微软雅黑"/>
                <a:ea typeface="微软雅黑"/>
              </a:rPr>
              <a:t>Cleaning Approach</a:t>
            </a:r>
            <a:endParaRPr lang="en-US" sz="1100"/>
          </a:p>
        </p:txBody>
      </p:sp>
      <p:sp>
        <p:nvSpPr>
          <p:cNvPr id="14" name="TextBox 14"/>
          <p:cNvSpPr txBox="1"/>
          <p:nvPr/>
        </p:nvSpPr>
        <p:spPr>
          <a:xfrm>
            <a:off x="6100833" y="1951759"/>
            <a:ext cx="4370778" cy="1996893"/>
          </a:xfrm>
          <a:prstGeom prst="rect">
            <a:avLst/>
          </a:prstGeom>
          <a:noFill/>
        </p:spPr>
        <p:txBody>
          <a:bodyPr vert="horz" wrap="square" lIns="91440" tIns="45720" rIns="91440" bIns="45720" rtlCol="0" anchor="t">
            <a:spAutoFit/>
          </a:bodyPr>
          <a:lstStyle/>
          <a:p>
            <a:pPr marL="0" marR="0" indent="0" algn="ctr" fontAlgn="auto">
              <a:lnSpc>
                <a:spcPct val="150000"/>
              </a:lnSpc>
              <a:spcBef>
                <a:spcPct val="0"/>
              </a:spcBef>
              <a:spcAft>
                <a:spcPct val="0"/>
              </a:spcAft>
              <a:defRPr/>
            </a:pPr>
            <a:r>
              <a:rPr lang="zh-CN" altLang="en-US" sz="1400" b="0" i="0" u="none" baseline="0" dirty="0">
                <a:ln/>
                <a:solidFill>
                  <a:srgbClr val="000000"/>
                </a:solidFill>
                <a:effectLst/>
                <a:latin typeface="微软雅黑"/>
                <a:ea typeface="微软雅黑"/>
              </a:rPr>
              <a:t>Missing categorical information was treated appropriately, unclear values were recategorized, exact duplicate records were removed, invalid ADR values were investigated, and zero-guest bookings were excluded from behavioural analysis.</a:t>
            </a:r>
            <a:endParaRPr lang="en-US" sz="1100"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p:nvPr/>
        </p:nvSpPr>
        <p:spPr>
          <a:xfrm>
            <a:off x="660400" y="0"/>
            <a:ext cx="10858500" cy="1028700"/>
          </a:xfrm>
          <a:prstGeom prst="rect">
            <a:avLst/>
          </a:prstGeom>
          <a:solidFill>
            <a:srgbClr val="FFFFFF">
              <a:alpha val="0"/>
            </a:srgbClr>
          </a:solidFill>
        </p:spPr>
        <p:txBody>
          <a:bodyPr vert="horz" wrap="square" lIns="0" tIns="0" rIns="0" bIns="0" anchor="ctr"/>
          <a:lstStyle/>
          <a:p>
            <a:pPr marL="0" algn="l">
              <a:lnSpc>
                <a:spcPct val="125000"/>
              </a:lnSpc>
            </a:pPr>
            <a:r>
              <a:rPr lang="en-US" sz="2800" b="1" i="0" u="none" baseline="0">
                <a:solidFill>
                  <a:srgbClr val="000000"/>
                </a:solidFill>
                <a:latin typeface="微软雅黑"/>
                <a:ea typeface="微软雅黑"/>
              </a:rPr>
              <a:t>Feature Engineering</a:t>
            </a:r>
          </a:p>
        </p:txBody>
      </p:sp>
      <p:sp>
        <p:nvSpPr>
          <p:cNvPr id="3" name="AutoShape 3"/>
          <p:cNvSpPr/>
          <p:nvPr/>
        </p:nvSpPr>
        <p:spPr>
          <a:xfrm>
            <a:off x="2574293" y="2178344"/>
            <a:ext cx="3254800" cy="284373"/>
          </a:xfrm>
          <a:prstGeom prst="rect">
            <a:avLst/>
          </a:prstGeom>
          <a:solidFill>
            <a:srgbClr val="FFFFFF">
              <a:alpha val="0"/>
            </a:srgbClr>
          </a:solidFill>
        </p:spPr>
        <p:txBody>
          <a:bodyPr vert="horz" wrap="square" lIns="0" tIns="0" rIns="0" bIns="0" anchor="t">
            <a:spAutoFit/>
          </a:bodyPr>
          <a:lstStyle/>
          <a:p>
            <a:pPr marL="0" algn="ctr">
              <a:lnSpc>
                <a:spcPct val="125000"/>
              </a:lnSpc>
            </a:pPr>
            <a:r>
              <a:rPr lang="en-US" sz="1600" b="1" i="0" u="none" baseline="0">
                <a:solidFill>
                  <a:srgbClr val="000000"/>
                </a:solidFill>
                <a:latin typeface="+mn-ea"/>
                <a:ea typeface="+mn-ea"/>
              </a:rPr>
              <a:t>Created Variables</a:t>
            </a:r>
          </a:p>
        </p:txBody>
      </p:sp>
      <p:sp>
        <p:nvSpPr>
          <p:cNvPr id="4" name="AutoShape 4"/>
          <p:cNvSpPr/>
          <p:nvPr/>
        </p:nvSpPr>
        <p:spPr>
          <a:xfrm>
            <a:off x="2574293" y="2702025"/>
            <a:ext cx="3254800" cy="1377172"/>
          </a:xfrm>
          <a:prstGeom prst="rect">
            <a:avLst/>
          </a:prstGeom>
          <a:solidFill>
            <a:srgbClr val="FFFFFF">
              <a:alpha val="0"/>
            </a:srgbClr>
          </a:solidFill>
        </p:spPr>
        <p:txBody>
          <a:bodyPr vert="horz" wrap="square" lIns="0" tIns="0" rIns="0" bIns="0" anchor="t">
            <a:spAutoFit/>
          </a:bodyPr>
          <a:lstStyle/>
          <a:p>
            <a:pPr marL="0" algn="ctr">
              <a:lnSpc>
                <a:spcPct val="130000"/>
              </a:lnSpc>
            </a:pPr>
            <a:r>
              <a:rPr lang="en-US" sz="1400" b="0" i="0" u="none" baseline="0" dirty="0">
                <a:solidFill>
                  <a:srgbClr val="000000"/>
                </a:solidFill>
                <a:latin typeface="+mn-ea"/>
                <a:ea typeface="+mn-ea"/>
              </a:rPr>
              <a:t>New variables include Total Stay Nights (weekend + weekday), Total Guests (adults + children + babies), and Cancellation Status (cancelled/not cancelled).</a:t>
            </a:r>
          </a:p>
        </p:txBody>
      </p:sp>
      <p:pic>
        <p:nvPicPr>
          <p:cNvPr id="5" name="image1.png"/>
          <p:cNvPicPr>
            <a:picLocks noChangeAspect="1"/>
          </p:cNvPicPr>
          <p:nvPr/>
        </p:nvPicPr>
        <p:blipFill>
          <a:blip r:embed="rId2"/>
          <a:stretch>
            <a:fillRect/>
          </a:stretch>
        </p:blipFill>
        <p:spPr>
          <a:xfrm>
            <a:off x="601629" y="1944763"/>
            <a:ext cx="1827785" cy="3443546"/>
          </a:xfrm>
          <a:prstGeom prst="rect">
            <a:avLst/>
          </a:prstGeom>
        </p:spPr>
      </p:pic>
      <p:sp>
        <p:nvSpPr>
          <p:cNvPr id="6" name="AutoShape 6"/>
          <p:cNvSpPr/>
          <p:nvPr/>
        </p:nvSpPr>
        <p:spPr>
          <a:xfrm>
            <a:off x="8145380" y="2178344"/>
            <a:ext cx="3254800" cy="284373"/>
          </a:xfrm>
          <a:prstGeom prst="rect">
            <a:avLst/>
          </a:prstGeom>
          <a:solidFill>
            <a:srgbClr val="FFFFFF">
              <a:alpha val="0"/>
            </a:srgbClr>
          </a:solidFill>
        </p:spPr>
        <p:txBody>
          <a:bodyPr vert="horz" wrap="square" lIns="0" tIns="0" rIns="0" bIns="0" anchor="t">
            <a:spAutoFit/>
          </a:bodyPr>
          <a:lstStyle/>
          <a:p>
            <a:pPr marL="0" algn="ctr">
              <a:lnSpc>
                <a:spcPct val="125000"/>
              </a:lnSpc>
            </a:pPr>
            <a:r>
              <a:rPr lang="en-US" sz="1600" b="1" i="0" u="none" baseline="0">
                <a:solidFill>
                  <a:srgbClr val="000000"/>
                </a:solidFill>
                <a:latin typeface="+mn-ea"/>
                <a:ea typeface="+mn-ea"/>
              </a:rPr>
              <a:t>Categorical Segmentation</a:t>
            </a:r>
          </a:p>
        </p:txBody>
      </p:sp>
      <p:sp>
        <p:nvSpPr>
          <p:cNvPr id="7" name="AutoShape 7"/>
          <p:cNvSpPr/>
          <p:nvPr/>
        </p:nvSpPr>
        <p:spPr>
          <a:xfrm>
            <a:off x="8145380" y="2702025"/>
            <a:ext cx="3254800" cy="1377172"/>
          </a:xfrm>
          <a:prstGeom prst="rect">
            <a:avLst/>
          </a:prstGeom>
          <a:solidFill>
            <a:srgbClr val="FFFFFF">
              <a:alpha val="0"/>
            </a:srgbClr>
          </a:solidFill>
        </p:spPr>
        <p:txBody>
          <a:bodyPr vert="horz" wrap="square" lIns="0" tIns="0" rIns="0" bIns="0" anchor="t">
            <a:spAutoFit/>
          </a:bodyPr>
          <a:lstStyle/>
          <a:p>
            <a:pPr marL="0" algn="ctr">
              <a:lnSpc>
                <a:spcPct val="130000"/>
              </a:lnSpc>
            </a:pPr>
            <a:r>
              <a:rPr lang="en-US" sz="1400" b="0" i="0" u="none" baseline="0" dirty="0">
                <a:solidFill>
                  <a:srgbClr val="000000"/>
                </a:solidFill>
                <a:latin typeface="+mn-ea"/>
                <a:ea typeface="+mn-ea"/>
              </a:rPr>
              <a:t>Stay categories were defined as Short, Medium, and Long stays. Lead-time categories were segmented into 0–7 days, 8–30 days, 31–90 days, 91–180 days, and 181+ days.</a:t>
            </a:r>
          </a:p>
        </p:txBody>
      </p:sp>
      <p:pic>
        <p:nvPicPr>
          <p:cNvPr id="8" name="image2.png"/>
          <p:cNvPicPr>
            <a:picLocks noChangeAspect="1"/>
          </p:cNvPicPr>
          <p:nvPr/>
        </p:nvPicPr>
        <p:blipFill>
          <a:blip r:embed="rId3"/>
          <a:stretch>
            <a:fillRect/>
          </a:stretch>
        </p:blipFill>
        <p:spPr>
          <a:xfrm>
            <a:off x="6180028" y="1944763"/>
            <a:ext cx="1827785" cy="3443546"/>
          </a:xfrm>
          <a:prstGeom prst="rect">
            <a:avLst/>
          </a:prstGeom>
        </p:spPr>
      </p:pic>
      <p:sp>
        <p:nvSpPr>
          <p:cNvPr id="9" name="AutoShape 9"/>
          <p:cNvSpPr/>
          <p:nvPr/>
        </p:nvSpPr>
        <p:spPr>
          <a:xfrm>
            <a:off x="601629" y="1944763"/>
            <a:ext cx="5315198" cy="3443546"/>
          </a:xfrm>
          <a:prstGeom prst="roundRect">
            <a:avLst>
              <a:gd name="adj" fmla="val 4034"/>
            </a:avLst>
          </a:prstGeom>
          <a:noFill/>
          <a:ln w="19050">
            <a:solidFill>
              <a:srgbClr val="EF7B87"/>
            </a:solidFill>
            <a:prstDash val="solid"/>
          </a:ln>
          <a:effectLst>
            <a:outerShdw blurRad="101600" dist="50800" dir="16200000" algn="bl" rotWithShape="0">
              <a:srgbClr val="000000">
                <a:alpha val="0"/>
              </a:srgbClr>
            </a:outerShdw>
          </a:effectLst>
        </p:spPr>
        <p:txBody>
          <a:bodyPr vert="horz" lIns="91440" tIns="45720" rIns="91440" bIns="45720" anchor="t"/>
          <a:lstStyle/>
          <a:p>
            <a:pPr marL="0" algn="l"/>
            <a:endParaRPr/>
          </a:p>
        </p:txBody>
      </p:sp>
      <p:sp>
        <p:nvSpPr>
          <p:cNvPr id="10" name="AutoShape 10"/>
          <p:cNvSpPr/>
          <p:nvPr/>
        </p:nvSpPr>
        <p:spPr>
          <a:xfrm>
            <a:off x="6180027" y="1944763"/>
            <a:ext cx="5315198" cy="3443546"/>
          </a:xfrm>
          <a:prstGeom prst="roundRect">
            <a:avLst>
              <a:gd name="adj" fmla="val 4034"/>
            </a:avLst>
          </a:prstGeom>
          <a:noFill/>
          <a:ln w="19050">
            <a:solidFill>
              <a:srgbClr val="EF7B87"/>
            </a:solidFill>
            <a:prstDash val="solid"/>
          </a:ln>
          <a:effectLst>
            <a:outerShdw blurRad="101600" dist="50800" dir="16200000" algn="bl" rotWithShape="0">
              <a:srgbClr val="000000">
                <a:alpha val="0"/>
              </a:srgbClr>
            </a:outerShdw>
          </a:effectLst>
        </p:spPr>
        <p:txBody>
          <a:bodyPr vert="horz" lIns="91440" tIns="45720" rIns="91440" bIns="45720" anchor="t"/>
          <a:lstStyle/>
          <a:p>
            <a:pPr marL="0" algn="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0"/>
            <a:ext cx="10858500" cy="1028700"/>
          </a:xfrm>
        </p:spPr>
        <p:txBody>
          <a:bodyPr vert="horz" lIns="91440" tIns="45720" rIns="91440" bIns="45720" anchor="b">
            <a:normAutofit/>
          </a:bodyPr>
          <a:lstStyle/>
          <a:p>
            <a:pPr algn="l">
              <a:lnSpc>
                <a:spcPct val="90000"/>
              </a:lnSpc>
              <a:spcBef>
                <a:spcPct val="0"/>
              </a:spcBef>
            </a:pPr>
            <a:r>
              <a:rPr lang="zh-CN" altLang="en-US" sz="2800" b="1" i="0" u="none" baseline="0">
                <a:solidFill>
                  <a:srgbClr val="000000"/>
                </a:solidFill>
                <a:latin typeface="微软雅黑"/>
                <a:ea typeface="微软雅黑"/>
              </a:rPr>
              <a:t>Analytical Framework</a:t>
            </a:r>
          </a:p>
        </p:txBody>
      </p:sp>
      <p:sp>
        <p:nvSpPr>
          <p:cNvPr id="3" name="AutoShape 3"/>
          <p:cNvSpPr/>
          <p:nvPr/>
        </p:nvSpPr>
        <p:spPr>
          <a:xfrm>
            <a:off x="734756" y="1314282"/>
            <a:ext cx="5272293" cy="2224470"/>
          </a:xfrm>
          <a:prstGeom prst="roundRect">
            <a:avLst>
              <a:gd name="adj" fmla="val 0"/>
            </a:avLst>
          </a:prstGeom>
          <a:blipFill>
            <a:blip r:embed="rId2"/>
            <a:stretch>
              <a:fillRect t="-45063" b="-44548"/>
            </a:stretch>
          </a:blipFill>
          <a:ln>
            <a:noFill/>
          </a:ln>
          <a:effectLst/>
        </p:spPr>
        <p:txBody>
          <a:bodyPr rot="0" vert="horz" wrap="square" lIns="91440" tIns="45720" rIns="91440" bIns="45720" anchor="t">
            <a:prstTxWarp prst="textNoShape">
              <a:avLst/>
            </a:prstTxWarp>
            <a:noAutofit/>
          </a:bodyPr>
          <a:lstStyle/>
          <a:p>
            <a:pPr marL="0" algn="ctr"/>
            <a:endParaRPr/>
          </a:p>
        </p:txBody>
      </p:sp>
      <p:sp>
        <p:nvSpPr>
          <p:cNvPr id="4" name="AutoShape 4"/>
          <p:cNvSpPr/>
          <p:nvPr/>
        </p:nvSpPr>
        <p:spPr>
          <a:xfrm>
            <a:off x="734756" y="3660443"/>
            <a:ext cx="5272293" cy="2224470"/>
          </a:xfrm>
          <a:prstGeom prst="roundRect">
            <a:avLst>
              <a:gd name="adj" fmla="val 0"/>
            </a:avLst>
          </a:prstGeom>
          <a:blipFill>
            <a:blip r:embed="rId3"/>
            <a:stretch>
              <a:fillRect t="-129109" b="-127646"/>
            </a:stretch>
          </a:blipFill>
          <a:ln>
            <a:noFill/>
          </a:ln>
          <a:effectLst/>
        </p:spPr>
        <p:txBody>
          <a:bodyPr rot="0" vert="horz" wrap="square" lIns="91440" tIns="45720" rIns="91440" bIns="45720" anchor="t">
            <a:prstTxWarp prst="textNoShape">
              <a:avLst/>
            </a:prstTxWarp>
            <a:noAutofit/>
          </a:bodyPr>
          <a:lstStyle/>
          <a:p>
            <a:pPr marL="0" algn="ctr"/>
            <a:endParaRPr/>
          </a:p>
        </p:txBody>
      </p:sp>
      <p:sp>
        <p:nvSpPr>
          <p:cNvPr id="5" name="AutoShape 5"/>
          <p:cNvSpPr/>
          <p:nvPr/>
        </p:nvSpPr>
        <p:spPr>
          <a:xfrm>
            <a:off x="6940066" y="1316524"/>
            <a:ext cx="5023334" cy="495108"/>
          </a:xfrm>
          <a:prstGeom prst="rect">
            <a:avLst/>
          </a:prstGeom>
          <a:solidFill>
            <a:srgbClr val="FFFFFF"/>
          </a:solidFill>
          <a:ln w="6350">
            <a:solidFill>
              <a:schemeClr val="tx1">
                <a:alpha val="20000"/>
              </a:schemeClr>
            </a:solidFill>
          </a:ln>
        </p:spPr>
        <p:txBody>
          <a:bodyPr vert="horz" lIns="91440" tIns="45720" rIns="91440" bIns="45720" anchor="ctr">
            <a:normAutofit/>
          </a:bodyPr>
          <a:lstStyle/>
          <a:p>
            <a:pPr marL="0" algn="l">
              <a:lnSpc>
                <a:spcPct val="130000"/>
              </a:lnSpc>
              <a:spcBef>
                <a:spcPct val="0"/>
              </a:spcBef>
            </a:pPr>
            <a:r>
              <a:rPr lang="zh-CN" altLang="en-US" sz="1600" b="1" i="0" u="none" baseline="0">
                <a:solidFill>
                  <a:srgbClr val="000000"/>
                </a:solidFill>
                <a:effectLst/>
                <a:latin typeface="微软雅黑"/>
                <a:ea typeface="微软雅黑"/>
              </a:rPr>
              <a:t>Analysis Pipeline</a:t>
            </a:r>
          </a:p>
        </p:txBody>
      </p:sp>
      <p:sp>
        <p:nvSpPr>
          <p:cNvPr id="6" name="AutoShape 6"/>
          <p:cNvSpPr/>
          <p:nvPr/>
        </p:nvSpPr>
        <p:spPr>
          <a:xfrm>
            <a:off x="6940066" y="1817306"/>
            <a:ext cx="5124934" cy="1833936"/>
          </a:xfrm>
          <a:prstGeom prst="rect">
            <a:avLst/>
          </a:prstGeom>
          <a:noFill/>
          <a:ln>
            <a:noFill/>
          </a:ln>
        </p:spPr>
        <p:txBody>
          <a:bodyPr vert="horz" wrap="square" lIns="108000" tIns="108000" rIns="108000" bIns="108000" anchor="t">
            <a:spAutoFit/>
          </a:bodyPr>
          <a:lstStyle/>
          <a:p>
            <a:pPr marL="0" algn="just">
              <a:lnSpc>
                <a:spcPct val="150000"/>
              </a:lnSpc>
            </a:pPr>
            <a:r>
              <a:rPr lang="zh-CN" altLang="en-US" sz="1400" b="0" i="0" u="none" baseline="0" dirty="0">
                <a:solidFill>
                  <a:schemeClr val="dk1">
                    <a:lumMod val="100000"/>
                  </a:schemeClr>
                </a:solidFill>
                <a:latin typeface="微软雅黑"/>
                <a:ea typeface="微软雅黑"/>
              </a:rPr>
              <a:t>The workflow progresses from raw booking data through data quality assessment, cleaning, feature engineering, exploratory analysis, demand analysis, cancellation analysis, and risk identification, culminating in business recommendations.</a:t>
            </a:r>
          </a:p>
        </p:txBody>
      </p:sp>
      <p:sp>
        <p:nvSpPr>
          <p:cNvPr id="7" name="AutoShape 7"/>
          <p:cNvSpPr/>
          <p:nvPr/>
        </p:nvSpPr>
        <p:spPr>
          <a:xfrm>
            <a:off x="6386676" y="1314282"/>
            <a:ext cx="511937" cy="511937"/>
          </a:xfrm>
          <a:prstGeom prst="rect">
            <a:avLst/>
          </a:prstGeom>
          <a:solidFill>
            <a:schemeClr val="tx2"/>
          </a:solidFill>
          <a:ln>
            <a:noFill/>
          </a:ln>
        </p:spPr>
        <p:txBody>
          <a:bodyPr vert="horz" lIns="91440" tIns="45720" rIns="91440" bIns="45720" anchor="ctr">
            <a:normAutofit/>
          </a:bodyPr>
          <a:lstStyle/>
          <a:p>
            <a:pPr marL="0" algn="ctr"/>
            <a:r>
              <a:rPr lang="en-US" sz="1800" b="1" i="0" u="none" baseline="0">
                <a:solidFill>
                  <a:schemeClr val="lt1"/>
                </a:solidFill>
                <a:latin typeface="Arial"/>
                <a:ea typeface="Arial"/>
              </a:rPr>
              <a:t>1</a:t>
            </a:r>
          </a:p>
        </p:txBody>
      </p:sp>
      <p:sp>
        <p:nvSpPr>
          <p:cNvPr id="8" name="AutoShape 8"/>
          <p:cNvSpPr/>
          <p:nvPr/>
        </p:nvSpPr>
        <p:spPr>
          <a:xfrm>
            <a:off x="6940064" y="3663186"/>
            <a:ext cx="5023335" cy="495108"/>
          </a:xfrm>
          <a:prstGeom prst="rect">
            <a:avLst/>
          </a:prstGeom>
          <a:solidFill>
            <a:schemeClr val="accent1">
              <a:alpha val="5000"/>
            </a:schemeClr>
          </a:solidFill>
          <a:ln w="6350">
            <a:solidFill>
              <a:schemeClr val="accent1">
                <a:alpha val="50000"/>
              </a:schemeClr>
            </a:solidFill>
          </a:ln>
        </p:spPr>
        <p:txBody>
          <a:bodyPr vert="horz" lIns="91440" tIns="45720" rIns="91440" bIns="45720" anchor="ctr">
            <a:normAutofit/>
          </a:bodyPr>
          <a:lstStyle/>
          <a:p>
            <a:pPr marL="0" algn="l">
              <a:lnSpc>
                <a:spcPct val="130000"/>
              </a:lnSpc>
              <a:spcBef>
                <a:spcPct val="0"/>
              </a:spcBef>
            </a:pPr>
            <a:r>
              <a:rPr lang="zh-CN" altLang="en-US" sz="1600" b="1" i="0" u="none" baseline="0">
                <a:solidFill>
                  <a:srgbClr val="000000"/>
                </a:solidFill>
                <a:effectLst/>
                <a:latin typeface="微软雅黑"/>
                <a:ea typeface="微软雅黑"/>
              </a:rPr>
              <a:t>Analytical Dimensions</a:t>
            </a:r>
          </a:p>
        </p:txBody>
      </p:sp>
      <p:sp>
        <p:nvSpPr>
          <p:cNvPr id="9" name="AutoShape 9"/>
          <p:cNvSpPr/>
          <p:nvPr/>
        </p:nvSpPr>
        <p:spPr>
          <a:xfrm>
            <a:off x="6940065" y="4189847"/>
            <a:ext cx="5023334" cy="826353"/>
          </a:xfrm>
          <a:prstGeom prst="rect">
            <a:avLst/>
          </a:prstGeom>
          <a:noFill/>
          <a:ln>
            <a:noFill/>
          </a:ln>
        </p:spPr>
        <p:txBody>
          <a:bodyPr vert="horz" wrap="square" lIns="108000" tIns="108000" rIns="108000" bIns="108000" anchor="t">
            <a:spAutoFit/>
          </a:bodyPr>
          <a:lstStyle/>
          <a:p>
            <a:pPr marL="0" algn="just">
              <a:lnSpc>
                <a:spcPct val="150000"/>
              </a:lnSpc>
            </a:pPr>
            <a:r>
              <a:rPr lang="zh-CN" altLang="en-US" sz="1400" b="0" i="0" u="none" baseline="0" dirty="0">
                <a:solidFill>
                  <a:schemeClr val="dk1">
                    <a:lumMod val="100000"/>
                  </a:schemeClr>
                </a:solidFill>
                <a:latin typeface="微软雅黑"/>
                <a:ea typeface="微软雅黑"/>
              </a:rPr>
              <a:t>The analysis spans demand, seasonality, pricing, customers, and cancellation risk.</a:t>
            </a:r>
          </a:p>
        </p:txBody>
      </p:sp>
      <p:sp>
        <p:nvSpPr>
          <p:cNvPr id="10" name="AutoShape 10"/>
          <p:cNvSpPr/>
          <p:nvPr/>
        </p:nvSpPr>
        <p:spPr>
          <a:xfrm>
            <a:off x="6389724" y="3663186"/>
            <a:ext cx="511937" cy="511937"/>
          </a:xfrm>
          <a:prstGeom prst="rect">
            <a:avLst/>
          </a:prstGeom>
          <a:solidFill>
            <a:schemeClr val="accent1"/>
          </a:solidFill>
          <a:ln>
            <a:noFill/>
          </a:ln>
        </p:spPr>
        <p:txBody>
          <a:bodyPr vert="horz" lIns="91440" tIns="45720" rIns="91440" bIns="45720" anchor="ctr">
            <a:normAutofit/>
          </a:bodyPr>
          <a:lstStyle/>
          <a:p>
            <a:pPr marL="0" algn="ctr"/>
            <a:r>
              <a:rPr lang="en-US" sz="1800" b="1" i="0" u="none" baseline="0" dirty="0">
                <a:solidFill>
                  <a:schemeClr val="lt1"/>
                </a:solidFill>
                <a:latin typeface="Arial"/>
                <a:ea typeface="Arial"/>
              </a:rPr>
              <a:t>2</a:t>
            </a:r>
          </a:p>
        </p:txBody>
      </p:sp>
      <p:cxnSp>
        <p:nvCxnSpPr>
          <p:cNvPr id="11" name="Connector 11"/>
          <p:cNvCxnSpPr/>
          <p:nvPr/>
        </p:nvCxnSpPr>
        <p:spPr>
          <a:xfrm>
            <a:off x="734756" y="5856677"/>
            <a:ext cx="5272293" cy="0"/>
          </a:xfrm>
          <a:prstGeom prst="line">
            <a:avLst/>
          </a:prstGeom>
          <a:ln w="57150">
            <a:solidFill>
              <a:schemeClr val="accent1"/>
            </a:solidFill>
          </a:ln>
        </p:spPr>
      </p:cxn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7024912" y="3429000"/>
            <a:ext cx="4493987" cy="646331"/>
          </a:xfrm>
        </p:spPr>
        <p:txBody>
          <a:bodyPr vert="horz" lIns="91440" tIns="45720" rIns="91440" bIns="45720" anchor="t">
            <a:normAutofit fontScale="90000"/>
          </a:bodyPr>
          <a:lstStyle/>
          <a:p>
            <a:pPr algn="r">
              <a:lnSpc>
                <a:spcPct val="90000"/>
              </a:lnSpc>
              <a:spcBef>
                <a:spcPct val="0"/>
              </a:spcBef>
            </a:pPr>
            <a:r>
              <a:rPr lang="zh-CN" altLang="en-US" sz="3648" b="1" i="0" u="none" baseline="0">
                <a:solidFill>
                  <a:srgbClr val="000000"/>
                </a:solidFill>
                <a:latin typeface="微软雅黑"/>
                <a:ea typeface="微软雅黑"/>
              </a:rPr>
              <a:t>Demand &amp; Seasonality Analysis</a:t>
            </a:r>
          </a:p>
        </p:txBody>
      </p:sp>
      <p:sp>
        <p:nvSpPr>
          <p:cNvPr id="3" name="TextBox 3"/>
          <p:cNvSpPr txBox="1"/>
          <p:nvPr/>
        </p:nvSpPr>
        <p:spPr>
          <a:xfrm>
            <a:off x="7024914" y="2533370"/>
            <a:ext cx="4493986" cy="840230"/>
          </a:xfrm>
          <a:prstGeom prst="rect">
            <a:avLst/>
          </a:prstGeom>
        </p:spPr>
        <p:txBody>
          <a:bodyPr vert="horz" wrap="square" lIns="91440" tIns="45720" rIns="91440" bIns="45720" rtlCol="0" anchor="b">
            <a:spAutoFit/>
          </a:bodyPr>
          <a:lstStyle/>
          <a:p>
            <a:pPr marL="0" algn="r">
              <a:lnSpc>
                <a:spcPct val="90000"/>
              </a:lnSpc>
              <a:spcBef>
                <a:spcPct val="0"/>
              </a:spcBef>
              <a:defRPr/>
            </a:pPr>
            <a:r>
              <a:rPr lang="en-GB" sz="5400" b="1" i="0" u="none" baseline="0">
                <a:solidFill>
                  <a:srgbClr val="000000"/>
                </a:solidFill>
                <a:latin typeface="Arial"/>
                <a:ea typeface="Arial"/>
              </a:rPr>
              <a:t>03</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p:nvPr/>
        </p:nvSpPr>
        <p:spPr>
          <a:xfrm>
            <a:off x="673100" y="2129031"/>
            <a:ext cx="5039291" cy="2324100"/>
          </a:xfrm>
          <a:prstGeom prst="rect">
            <a:avLst/>
          </a:prstGeom>
          <a:blipFill>
            <a:blip r:embed="rId2"/>
            <a:stretch>
              <a:fillRect t="-85985" b="-85050"/>
            </a:stretch>
          </a:blipFill>
          <a:ln cap="flat" cmpd="sng">
            <a:noFill/>
            <a:prstDash val="solid"/>
            <a:miter lim="800000"/>
          </a:ln>
          <a:effectLst/>
        </p:spPr>
        <p:txBody>
          <a:bodyPr vert="horz" lIns="91440" tIns="45720" rIns="91440" bIns="45720" anchor="ctr">
            <a:normAutofit/>
          </a:bodyPr>
          <a:lstStyle/>
          <a:p>
            <a:pPr marL="0" algn="ctr"/>
            <a:endParaRPr/>
          </a:p>
        </p:txBody>
      </p:sp>
      <p:sp>
        <p:nvSpPr>
          <p:cNvPr id="3" name="AutoShape 3"/>
          <p:cNvSpPr/>
          <p:nvPr/>
        </p:nvSpPr>
        <p:spPr>
          <a:xfrm>
            <a:off x="660400" y="4432935"/>
            <a:ext cx="5039289" cy="1701166"/>
          </a:xfrm>
          <a:prstGeom prst="rect">
            <a:avLst/>
          </a:prstGeom>
          <a:solidFill>
            <a:schemeClr val="bg1"/>
          </a:solidFill>
          <a:ln cap="rnd">
            <a:noFill/>
            <a:prstDash val="solid"/>
          </a:ln>
          <a:effectLst>
            <a:outerShdw blurRad="254000" dist="127000" algn="ctr" rotWithShape="0">
              <a:schemeClr val="bg1">
                <a:alpha val="20000"/>
                <a:lumMod val="65000"/>
              </a:schemeClr>
            </a:outerShdw>
          </a:effectLst>
        </p:spPr>
        <p:txBody>
          <a:bodyPr rot="0" vert="horz" wrap="square" lIns="91440" tIns="45720" rIns="91440" bIns="45720" anchor="ctr">
            <a:prstTxWarp prst="textNoShape">
              <a:avLst/>
            </a:prstTxWarp>
            <a:normAutofit/>
          </a:bodyPr>
          <a:lstStyle/>
          <a:p>
            <a:pPr marL="0" algn="ctr"/>
            <a:endParaRPr/>
          </a:p>
        </p:txBody>
      </p:sp>
      <p:sp>
        <p:nvSpPr>
          <p:cNvPr id="4" name="TextBox 4"/>
          <p:cNvSpPr txBox="1"/>
          <p:nvPr/>
        </p:nvSpPr>
        <p:spPr>
          <a:xfrm>
            <a:off x="895598" y="4530730"/>
            <a:ext cx="4482559" cy="338554"/>
          </a:xfrm>
          <a:prstGeom prst="rect">
            <a:avLst/>
          </a:prstGeom>
          <a:noFill/>
        </p:spPr>
        <p:txBody>
          <a:bodyPr vert="horz" wrap="square" lIns="91440" tIns="45720" rIns="91440" bIns="45720" rtlCol="0" anchor="t">
            <a:spAutoFit/>
          </a:bodyPr>
          <a:lstStyle/>
          <a:p>
            <a:pPr marL="0" algn="l">
              <a:defRPr/>
            </a:pPr>
            <a:r>
              <a:rPr lang="zh-CN" altLang="en-US" sz="1600" b="1" i="0" u="none" baseline="0">
                <a:solidFill>
                  <a:srgbClr val="000000"/>
                </a:solidFill>
                <a:latin typeface="微软雅黑"/>
                <a:ea typeface="微软雅黑"/>
              </a:rPr>
              <a:t>Business Implication</a:t>
            </a:r>
            <a:endParaRPr lang="en-US" sz="1100"/>
          </a:p>
        </p:txBody>
      </p:sp>
      <p:cxnSp>
        <p:nvCxnSpPr>
          <p:cNvPr id="5" name="Connector 5"/>
          <p:cNvCxnSpPr/>
          <p:nvPr/>
        </p:nvCxnSpPr>
        <p:spPr>
          <a:xfrm>
            <a:off x="4809818" y="5978515"/>
            <a:ext cx="568341" cy="0"/>
          </a:xfrm>
          <a:prstGeom prst="line">
            <a:avLst/>
          </a:prstGeom>
          <a:ln w="38100">
            <a:solidFill>
              <a:schemeClr val="accent1"/>
            </a:solidFill>
          </a:ln>
        </p:spPr>
      </p:cxnSp>
      <p:sp>
        <p:nvSpPr>
          <p:cNvPr id="6" name="AutoShape 6"/>
          <p:cNvSpPr/>
          <p:nvPr/>
        </p:nvSpPr>
        <p:spPr>
          <a:xfrm>
            <a:off x="6479610" y="1752600"/>
            <a:ext cx="5039290" cy="2324100"/>
          </a:xfrm>
          <a:prstGeom prst="rect">
            <a:avLst/>
          </a:prstGeom>
          <a:blipFill>
            <a:blip r:embed="rId3"/>
            <a:stretch>
              <a:fillRect t="-113235" b="-112006"/>
            </a:stretch>
          </a:blipFill>
          <a:ln cap="flat" cmpd="sng">
            <a:noFill/>
            <a:prstDash val="solid"/>
            <a:miter lim="800000"/>
          </a:ln>
          <a:effectLst/>
        </p:spPr>
        <p:txBody>
          <a:bodyPr vert="horz" lIns="91440" tIns="45720" rIns="91440" bIns="45720" anchor="ctr">
            <a:normAutofit/>
          </a:bodyPr>
          <a:lstStyle/>
          <a:p>
            <a:pPr marL="0" algn="ctr"/>
            <a:endParaRPr/>
          </a:p>
        </p:txBody>
      </p:sp>
      <p:sp>
        <p:nvSpPr>
          <p:cNvPr id="7" name="AutoShape 7"/>
          <p:cNvSpPr/>
          <p:nvPr/>
        </p:nvSpPr>
        <p:spPr>
          <a:xfrm>
            <a:off x="6479579" y="4076700"/>
            <a:ext cx="5039288" cy="1790700"/>
          </a:xfrm>
          <a:prstGeom prst="rect">
            <a:avLst/>
          </a:prstGeom>
          <a:solidFill>
            <a:schemeClr val="bg1"/>
          </a:solidFill>
          <a:ln cap="rnd">
            <a:noFill/>
            <a:prstDash val="solid"/>
          </a:ln>
          <a:effectLst>
            <a:outerShdw blurRad="254000" dist="127000" algn="ctr" rotWithShape="0">
              <a:schemeClr val="bg1">
                <a:alpha val="20000"/>
                <a:lumMod val="65000"/>
              </a:schemeClr>
            </a:outerShdw>
          </a:effectLst>
        </p:spPr>
        <p:txBody>
          <a:bodyPr rot="0" vert="horz" wrap="square" lIns="91440" tIns="45720" rIns="91440" bIns="45720" anchor="ctr">
            <a:prstTxWarp prst="textNoShape">
              <a:avLst/>
            </a:prstTxWarp>
            <a:normAutofit/>
          </a:bodyPr>
          <a:lstStyle/>
          <a:p>
            <a:pPr marL="0" algn="ctr"/>
            <a:endParaRPr/>
          </a:p>
        </p:txBody>
      </p:sp>
      <p:sp>
        <p:nvSpPr>
          <p:cNvPr id="8" name="TextBox 8"/>
          <p:cNvSpPr txBox="1"/>
          <p:nvPr/>
        </p:nvSpPr>
        <p:spPr>
          <a:xfrm>
            <a:off x="6714778" y="4174495"/>
            <a:ext cx="4482559" cy="338554"/>
          </a:xfrm>
          <a:prstGeom prst="rect">
            <a:avLst/>
          </a:prstGeom>
          <a:noFill/>
        </p:spPr>
        <p:txBody>
          <a:bodyPr vert="horz" wrap="square" lIns="91440" tIns="45720" rIns="91440" bIns="45720" rtlCol="0" anchor="t">
            <a:spAutoFit/>
          </a:bodyPr>
          <a:lstStyle/>
          <a:p>
            <a:pPr marL="0" algn="l">
              <a:defRPr/>
            </a:pPr>
            <a:r>
              <a:rPr lang="zh-CN" altLang="en-US" sz="1600" b="1" i="0" u="none" baseline="0">
                <a:solidFill>
                  <a:srgbClr val="000000"/>
                </a:solidFill>
                <a:latin typeface="微软雅黑"/>
                <a:ea typeface="微软雅黑"/>
              </a:rPr>
              <a:t>Portfolio Distribution</a:t>
            </a:r>
            <a:endParaRPr lang="en-US" sz="1100"/>
          </a:p>
        </p:txBody>
      </p:sp>
      <p:cxnSp>
        <p:nvCxnSpPr>
          <p:cNvPr id="9" name="Connector 9"/>
          <p:cNvCxnSpPr/>
          <p:nvPr/>
        </p:nvCxnSpPr>
        <p:spPr>
          <a:xfrm>
            <a:off x="10628996" y="5704830"/>
            <a:ext cx="568341" cy="0"/>
          </a:xfrm>
          <a:prstGeom prst="line">
            <a:avLst/>
          </a:prstGeom>
          <a:ln w="38100">
            <a:solidFill>
              <a:schemeClr val="accent2"/>
            </a:solidFill>
          </a:ln>
        </p:spPr>
      </p:cxnSp>
      <p:sp>
        <p:nvSpPr>
          <p:cNvPr id="10" name="TextBox 10"/>
          <p:cNvSpPr txBox="1"/>
          <p:nvPr/>
        </p:nvSpPr>
        <p:spPr>
          <a:xfrm>
            <a:off x="6714778" y="4556480"/>
            <a:ext cx="4482559" cy="1350563"/>
          </a:xfrm>
          <a:prstGeom prst="rect">
            <a:avLst/>
          </a:prstGeom>
          <a:noFill/>
        </p:spPr>
        <p:txBody>
          <a:bodyPr vert="horz" wrap="square" lIns="91440" tIns="45720" rIns="91440" bIns="45720" rtlCol="0" anchor="t">
            <a:spAutoFit/>
          </a:bodyPr>
          <a:lstStyle/>
          <a:p>
            <a:pPr marL="0" marR="0" indent="0" algn="just" fontAlgn="auto">
              <a:lnSpc>
                <a:spcPct val="150000"/>
              </a:lnSpc>
              <a:spcBef>
                <a:spcPct val="0"/>
              </a:spcBef>
              <a:spcAft>
                <a:spcPct val="0"/>
              </a:spcAft>
              <a:defRPr/>
            </a:pPr>
            <a:r>
              <a:rPr lang="zh-CN" altLang="en-US" sz="1400" b="0" i="0" u="none" baseline="0" dirty="0">
                <a:ln/>
                <a:solidFill>
                  <a:srgbClr val="000000"/>
                </a:solidFill>
                <a:effectLst/>
                <a:latin typeface="微软雅黑"/>
                <a:ea typeface="微软雅黑"/>
              </a:rPr>
              <a:t>City Hotel accounts for 66.4% of all bookings, while Resort Hotel represents 33.6%. City Hotel receives approximately two-thirds of all bookings, making it the dominant hotel type.</a:t>
            </a:r>
            <a:endParaRPr lang="en-US" sz="1100" dirty="0"/>
          </a:p>
        </p:txBody>
      </p:sp>
      <p:sp>
        <p:nvSpPr>
          <p:cNvPr id="11" name="TextBox 11"/>
          <p:cNvSpPr txBox="1"/>
          <p:nvPr/>
        </p:nvSpPr>
        <p:spPr>
          <a:xfrm>
            <a:off x="895600" y="4831757"/>
            <a:ext cx="4482559" cy="1350563"/>
          </a:xfrm>
          <a:prstGeom prst="rect">
            <a:avLst/>
          </a:prstGeom>
          <a:noFill/>
        </p:spPr>
        <p:txBody>
          <a:bodyPr vert="horz" wrap="square" lIns="91440" tIns="45720" rIns="91440" bIns="45720" rtlCol="0" anchor="t">
            <a:spAutoFit/>
          </a:bodyPr>
          <a:lstStyle/>
          <a:p>
            <a:pPr marL="0" marR="0" indent="0" algn="just" fontAlgn="auto">
              <a:lnSpc>
                <a:spcPct val="150000"/>
              </a:lnSpc>
              <a:spcBef>
                <a:spcPct val="0"/>
              </a:spcBef>
              <a:spcAft>
                <a:spcPct val="0"/>
              </a:spcAft>
              <a:defRPr/>
            </a:pPr>
            <a:r>
              <a:rPr lang="zh-CN" altLang="en-US" sz="1400" b="0" i="0" u="none" baseline="0" dirty="0">
                <a:ln/>
                <a:solidFill>
                  <a:srgbClr val="000000"/>
                </a:solidFill>
                <a:effectLst/>
                <a:latin typeface="微软雅黑"/>
                <a:ea typeface="微软雅黑"/>
              </a:rPr>
              <a:t>The two properties should not necessarily be managed using identical demand and marketing strategies given their substantially different booking volumes.</a:t>
            </a:r>
            <a:endParaRPr lang="en-US" sz="1100" dirty="0"/>
          </a:p>
        </p:txBody>
      </p:sp>
      <p:sp>
        <p:nvSpPr>
          <p:cNvPr id="12" name="TextBox 12"/>
          <p:cNvSpPr txBox="1"/>
          <p:nvPr/>
        </p:nvSpPr>
        <p:spPr>
          <a:xfrm>
            <a:off x="660400" y="0"/>
            <a:ext cx="10858500" cy="1028700"/>
          </a:xfrm>
          <a:prstGeom prst="rect">
            <a:avLst/>
          </a:prstGeom>
        </p:spPr>
        <p:txBody>
          <a:bodyPr vert="horz" lIns="91440" tIns="45720" rIns="91440" bIns="45720" rtlCol="0" anchor="b">
            <a:normAutofit/>
          </a:bodyPr>
          <a:lstStyle/>
          <a:p>
            <a:pPr marL="0" algn="l">
              <a:lnSpc>
                <a:spcPct val="90000"/>
              </a:lnSpc>
              <a:spcBef>
                <a:spcPct val="0"/>
              </a:spcBef>
              <a:defRPr/>
            </a:pPr>
            <a:r>
              <a:rPr lang="zh-CN" altLang="en-US" sz="2800" b="1" i="0" u="none" baseline="0">
                <a:solidFill>
                  <a:srgbClr val="000000"/>
                </a:solidFill>
                <a:latin typeface="微软雅黑"/>
                <a:ea typeface="微软雅黑"/>
              </a:rPr>
              <a:t>Hotel Booking Mix</a:t>
            </a:r>
            <a:endParaRPr lang="en-US" sz="110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p:nvPr/>
        </p:nvSpPr>
        <p:spPr>
          <a:xfrm>
            <a:off x="254000" y="254000"/>
            <a:ext cx="11684000" cy="650240"/>
          </a:xfrm>
          <a:prstGeom prst="rect">
            <a:avLst/>
          </a:prstGeom>
          <a:noFill/>
        </p:spPr>
        <p:txBody>
          <a:bodyPr vert="horz" wrap="none" lIns="91440" tIns="45720" rIns="91440" bIns="45720" anchor="ctr">
            <a:noAutofit/>
          </a:bodyPr>
          <a:lstStyle/>
          <a:p>
            <a:pPr marL="0" indent="0" algn="l"/>
            <a:r>
              <a:rPr lang="en-US" sz="4500" b="1" i="0" u="none" spc="-137" baseline="0">
                <a:solidFill>
                  <a:srgbClr val="000000"/>
                </a:solidFill>
                <a:latin typeface="Arial"/>
                <a:ea typeface="Arial"/>
              </a:rPr>
              <a:t>Booking Demand Trend</a:t>
            </a:r>
          </a:p>
        </p:txBody>
      </p:sp>
      <p:sp>
        <p:nvSpPr>
          <p:cNvPr id="3" name="AutoShape 3"/>
          <p:cNvSpPr/>
          <p:nvPr/>
        </p:nvSpPr>
        <p:spPr>
          <a:xfrm>
            <a:off x="254000" y="967740"/>
            <a:ext cx="11684000" cy="650240"/>
          </a:xfrm>
          <a:prstGeom prst="rect">
            <a:avLst/>
          </a:prstGeom>
          <a:noFill/>
        </p:spPr>
        <p:txBody>
          <a:bodyPr vert="horz" wrap="none" lIns="91440" tIns="45720" rIns="91440" bIns="45720" anchor="ctr">
            <a:noAutofit/>
          </a:bodyPr>
          <a:lstStyle/>
          <a:p>
            <a:pPr marL="0" indent="0" algn="l"/>
            <a:r>
              <a:rPr lang="en-US" sz="2600" b="1" i="0" u="none" spc="-82" baseline="0">
                <a:solidFill>
                  <a:schemeClr val="accent1"/>
                </a:solidFill>
                <a:latin typeface="Arial"/>
                <a:ea typeface="Arial"/>
              </a:rPr>
              <a:t>Annual Booking Volumes</a:t>
            </a:r>
          </a:p>
        </p:txBody>
      </p:sp>
      <p:graphicFrame>
        <p:nvGraphicFramePr>
          <p:cNvPr id="4" name="Table 4"/>
          <p:cNvGraphicFramePr>
            <a:graphicFrameLocks noGrp="1"/>
          </p:cNvGraphicFramePr>
          <p:nvPr/>
        </p:nvGraphicFramePr>
        <p:xfrm>
          <a:off x="914400" y="1808480"/>
          <a:ext cx="10363200" cy="1727200"/>
        </p:xfrm>
        <a:graphic>
          <a:graphicData uri="http://schemas.openxmlformats.org/drawingml/2006/table">
            <a:tbl>
              <a:tblPr/>
              <a:tblGrid>
                <a:gridCol w="4013335"/>
                <a:gridCol w="6349865"/>
              </a:tblGrid>
              <a:tr h="431800">
                <a:tc>
                  <a:txBody>
                    <a:bodyPr/>
                    <a:lstStyle/>
                    <a:p>
                      <a:pPr marL="0" algn="l"/>
                      <a:r>
                        <a:rPr lang="en-US" sz="1800" b="1" i="0" u="none" baseline="0">
                          <a:solidFill>
                            <a:srgbClr val="FFFFFF"/>
                          </a:solidFill>
                          <a:latin typeface="Arial"/>
                          <a:ea typeface="Arial"/>
                        </a:rPr>
                        <a:t>Year</a:t>
                      </a:r>
                    </a:p>
                  </a:txBody>
                  <a:tcPr anchor="ctr">
                    <a:lnL>
                      <a:noFill/>
                    </a:lnL>
                    <a:lnR>
                      <a:noFill/>
                    </a:lnR>
                    <a:lnT>
                      <a:noFill/>
                    </a:lnT>
                    <a:lnB>
                      <a:noFill/>
                    </a:lnB>
                    <a:solidFill>
                      <a:schemeClr val="accent1"/>
                    </a:solidFill>
                  </a:tcPr>
                </a:tc>
                <a:tc>
                  <a:txBody>
                    <a:bodyPr/>
                    <a:lstStyle/>
                    <a:p>
                      <a:pPr marL="0" algn="l"/>
                      <a:r>
                        <a:rPr lang="en-US" sz="1800" b="1" i="0" u="none" baseline="0">
                          <a:solidFill>
                            <a:srgbClr val="FFFFFF"/>
                          </a:solidFill>
                          <a:latin typeface="Arial"/>
                          <a:ea typeface="Arial"/>
                        </a:rPr>
                        <a:t>Bookings</a:t>
                      </a:r>
                    </a:p>
                  </a:txBody>
                  <a:tcPr anchor="ctr">
                    <a:lnL>
                      <a:noFill/>
                    </a:lnL>
                    <a:lnR>
                      <a:noFill/>
                    </a:lnR>
                    <a:lnT>
                      <a:noFill/>
                    </a:lnT>
                    <a:lnB>
                      <a:noFill/>
                    </a:lnB>
                    <a:solidFill>
                      <a:schemeClr val="accent1"/>
                    </a:solidFill>
                  </a:tcPr>
                </a:tc>
              </a:tr>
              <a:tr h="431800">
                <a:tc>
                  <a:txBody>
                    <a:bodyPr/>
                    <a:lstStyle/>
                    <a:p>
                      <a:pPr marL="0" algn="l"/>
                      <a:r>
                        <a:rPr lang="en-US" sz="1800" b="0" i="0" u="none" baseline="0">
                          <a:solidFill>
                            <a:srgbClr val="000000"/>
                          </a:solidFill>
                          <a:latin typeface="Arial"/>
                          <a:ea typeface="Arial"/>
                        </a:rPr>
                        <a:t>2017</a:t>
                      </a:r>
                    </a:p>
                  </a:txBody>
                  <a:tcPr anchor="ctr">
                    <a:lnL>
                      <a:noFill/>
                    </a:lnL>
                    <a:lnR>
                      <a:noFill/>
                    </a:lnR>
                    <a:lnT>
                      <a:noFill/>
                    </a:lnT>
                    <a:lnB>
                      <a:noFill/>
                    </a:lnB>
                    <a:solidFill>
                      <a:schemeClr val="accent1">
                        <a:tint val="40000"/>
                      </a:schemeClr>
                    </a:solidFill>
                  </a:tcPr>
                </a:tc>
                <a:tc>
                  <a:txBody>
                    <a:bodyPr/>
                    <a:lstStyle/>
                    <a:p>
                      <a:pPr marL="0" algn="l"/>
                      <a:r>
                        <a:rPr lang="en-US" sz="1800" b="0" i="0" u="none" baseline="0">
                          <a:solidFill>
                            <a:srgbClr val="000000"/>
                          </a:solidFill>
                          <a:latin typeface="Arial"/>
                          <a:ea typeface="Arial"/>
                        </a:rPr>
                        <a:t>21,996</a:t>
                      </a:r>
                    </a:p>
                  </a:txBody>
                  <a:tcPr anchor="ctr">
                    <a:lnL>
                      <a:noFill/>
                    </a:lnL>
                    <a:lnR>
                      <a:noFill/>
                    </a:lnR>
                    <a:lnT>
                      <a:noFill/>
                    </a:lnT>
                    <a:lnB>
                      <a:noFill/>
                    </a:lnB>
                    <a:solidFill>
                      <a:schemeClr val="accent1">
                        <a:tint val="40000"/>
                      </a:schemeClr>
                    </a:solidFill>
                  </a:tcPr>
                </a:tc>
              </a:tr>
              <a:tr h="431800">
                <a:tc>
                  <a:txBody>
                    <a:bodyPr/>
                    <a:lstStyle/>
                    <a:p>
                      <a:pPr marL="0" algn="l"/>
                      <a:r>
                        <a:rPr lang="en-US" sz="1800" b="0" i="0" u="none" baseline="0">
                          <a:solidFill>
                            <a:srgbClr val="000000"/>
                          </a:solidFill>
                          <a:latin typeface="Arial"/>
                          <a:ea typeface="Arial"/>
                        </a:rPr>
                        <a:t>2018</a:t>
                      </a:r>
                    </a:p>
                  </a:txBody>
                  <a:tcPr anchor="ctr">
                    <a:lnL>
                      <a:noFill/>
                    </a:lnL>
                    <a:lnR>
                      <a:noFill/>
                    </a:lnR>
                    <a:lnT>
                      <a:noFill/>
                    </a:lnT>
                    <a:lnB>
                      <a:noFill/>
                    </a:lnB>
                    <a:solidFill>
                      <a:schemeClr val="accent1">
                        <a:tint val="20000"/>
                      </a:schemeClr>
                    </a:solidFill>
                  </a:tcPr>
                </a:tc>
                <a:tc>
                  <a:txBody>
                    <a:bodyPr/>
                    <a:lstStyle/>
                    <a:p>
                      <a:pPr marL="0" algn="l"/>
                      <a:r>
                        <a:rPr lang="en-US" sz="1800" b="0" i="0" u="none" baseline="0">
                          <a:solidFill>
                            <a:srgbClr val="000000"/>
                          </a:solidFill>
                          <a:latin typeface="Arial"/>
                          <a:ea typeface="Arial"/>
                        </a:rPr>
                        <a:t>56,707</a:t>
                      </a:r>
                    </a:p>
                  </a:txBody>
                  <a:tcPr anchor="ctr">
                    <a:lnL>
                      <a:noFill/>
                    </a:lnL>
                    <a:lnR>
                      <a:noFill/>
                    </a:lnR>
                    <a:lnT>
                      <a:noFill/>
                    </a:lnT>
                    <a:lnB>
                      <a:noFill/>
                    </a:lnB>
                    <a:solidFill>
                      <a:schemeClr val="accent1">
                        <a:tint val="20000"/>
                      </a:schemeClr>
                    </a:solidFill>
                  </a:tcPr>
                </a:tc>
              </a:tr>
              <a:tr h="431800">
                <a:tc>
                  <a:txBody>
                    <a:bodyPr/>
                    <a:lstStyle/>
                    <a:p>
                      <a:pPr marL="0" algn="l"/>
                      <a:r>
                        <a:rPr lang="en-US" sz="1800" b="0" i="0" u="none" baseline="0">
                          <a:solidFill>
                            <a:srgbClr val="000000"/>
                          </a:solidFill>
                          <a:latin typeface="Arial"/>
                          <a:ea typeface="Arial"/>
                        </a:rPr>
                        <a:t>2019</a:t>
                      </a:r>
                    </a:p>
                  </a:txBody>
                  <a:tcPr anchor="ctr">
                    <a:lnL>
                      <a:noFill/>
                    </a:lnL>
                    <a:lnR>
                      <a:noFill/>
                    </a:lnR>
                    <a:lnT>
                      <a:noFill/>
                    </a:lnT>
                    <a:lnB>
                      <a:noFill/>
                    </a:lnB>
                    <a:solidFill>
                      <a:schemeClr val="accent1">
                        <a:tint val="40000"/>
                      </a:schemeClr>
                    </a:solidFill>
                  </a:tcPr>
                </a:tc>
                <a:tc>
                  <a:txBody>
                    <a:bodyPr/>
                    <a:lstStyle/>
                    <a:p>
                      <a:pPr marL="0" algn="l"/>
                      <a:r>
                        <a:rPr lang="en-US" sz="1800" b="0" i="0" u="none" baseline="0">
                          <a:solidFill>
                            <a:srgbClr val="000000"/>
                          </a:solidFill>
                          <a:latin typeface="Arial"/>
                          <a:ea typeface="Arial"/>
                        </a:rPr>
                        <a:t>40,687</a:t>
                      </a:r>
                    </a:p>
                  </a:txBody>
                  <a:tcPr anchor="ctr">
                    <a:lnL>
                      <a:noFill/>
                    </a:lnL>
                    <a:lnR>
                      <a:noFill/>
                    </a:lnR>
                    <a:lnT>
                      <a:noFill/>
                    </a:lnT>
                    <a:lnB>
                      <a:noFill/>
                    </a:lnB>
                    <a:solidFill>
                      <a:schemeClr val="accent1">
                        <a:tint val="40000"/>
                      </a:schemeClr>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0"/>
            <a:ext cx="10858500" cy="1028700"/>
          </a:xfrm>
        </p:spPr>
        <p:txBody>
          <a:bodyPr vert="horz" lIns="91440" tIns="45720" rIns="91440" bIns="45720" anchor="b">
            <a:normAutofit/>
          </a:bodyPr>
          <a:lstStyle/>
          <a:p>
            <a:pPr algn="l">
              <a:lnSpc>
                <a:spcPct val="90000"/>
              </a:lnSpc>
              <a:spcBef>
                <a:spcPct val="0"/>
              </a:spcBef>
            </a:pPr>
            <a:r>
              <a:rPr lang="zh-CN" altLang="en-US" sz="2800" b="1" i="0" u="none" baseline="0">
                <a:solidFill>
                  <a:srgbClr val="000000"/>
                </a:solidFill>
                <a:latin typeface="微软雅黑"/>
                <a:ea typeface="微软雅黑"/>
              </a:rPr>
              <a:t>Booking Demand Trend</a:t>
            </a:r>
          </a:p>
        </p:txBody>
      </p:sp>
      <p:sp>
        <p:nvSpPr>
          <p:cNvPr id="3" name="AutoShape 3"/>
          <p:cNvSpPr/>
          <p:nvPr/>
        </p:nvSpPr>
        <p:spPr>
          <a:xfrm>
            <a:off x="5653881" y="1460410"/>
            <a:ext cx="5867400" cy="4193291"/>
          </a:xfrm>
          <a:prstGeom prst="roundRect">
            <a:avLst>
              <a:gd name="adj" fmla="val 2557"/>
            </a:avLst>
          </a:prstGeom>
          <a:blipFill>
            <a:blip r:embed="rId2"/>
            <a:stretch>
              <a:fillRect l="-13790" r="-13731"/>
            </a:stretch>
          </a:blipFill>
          <a:ln cap="flat">
            <a:prstDash val="solid"/>
          </a:ln>
        </p:spPr>
        <p:txBody>
          <a:bodyPr rot="0" vert="horz" wrap="square" lIns="91440" tIns="45720" rIns="91440" bIns="45720" anchor="ctr">
            <a:normAutofit/>
          </a:bodyPr>
          <a:lstStyle/>
          <a:p>
            <a:pPr marL="0" algn="ctr"/>
            <a:endParaRPr/>
          </a:p>
        </p:txBody>
      </p:sp>
      <p:cxnSp>
        <p:nvCxnSpPr>
          <p:cNvPr id="4" name="Connector 4"/>
          <p:cNvCxnSpPr/>
          <p:nvPr/>
        </p:nvCxnSpPr>
        <p:spPr>
          <a:xfrm>
            <a:off x="660556" y="3242003"/>
            <a:ext cx="4876800" cy="0"/>
          </a:xfrm>
          <a:prstGeom prst="line">
            <a:avLst/>
          </a:prstGeom>
          <a:ln w="12700" cap="rnd" cmpd="sng">
            <a:solidFill>
              <a:schemeClr val="accent1">
                <a:alpha val="50000"/>
              </a:schemeClr>
            </a:solidFill>
            <a:prstDash val="solid"/>
          </a:ln>
        </p:spPr>
      </p:cxnSp>
      <p:sp>
        <p:nvSpPr>
          <p:cNvPr id="5" name="TextBox 5"/>
          <p:cNvSpPr txBox="1"/>
          <p:nvPr/>
        </p:nvSpPr>
        <p:spPr>
          <a:xfrm>
            <a:off x="670718" y="3422235"/>
            <a:ext cx="4608286" cy="1350563"/>
          </a:xfrm>
          <a:prstGeom prst="rect">
            <a:avLst/>
          </a:prstGeom>
          <a:noFill/>
        </p:spPr>
        <p:txBody>
          <a:bodyPr vert="horz" wrap="square" lIns="91440" tIns="45720" rIns="91440" bIns="45720" rtlCol="0" anchor="t">
            <a:spAutoFit/>
          </a:bodyPr>
          <a:lstStyle/>
          <a:p>
            <a:pPr marL="0" algn="just">
              <a:lnSpc>
                <a:spcPct val="150000"/>
              </a:lnSpc>
              <a:defRPr/>
            </a:pPr>
            <a:r>
              <a:rPr lang="zh-CN" altLang="en-US" sz="1400" b="0" i="0" u="none" baseline="0" dirty="0">
                <a:solidFill>
                  <a:srgbClr val="000000"/>
                </a:solidFill>
                <a:latin typeface="微软雅黑"/>
                <a:ea typeface="微软雅黑"/>
              </a:rPr>
              <a:t>2018 records the highest booking volume in the analysis period, supporting capacity planning, staffing, promotional campaigns, and inventory management decisions.</a:t>
            </a:r>
            <a:endParaRPr lang="en-US" sz="1100" dirty="0"/>
          </a:p>
        </p:txBody>
      </p:sp>
      <p:sp>
        <p:nvSpPr>
          <p:cNvPr id="6" name="TextBox 6"/>
          <p:cNvSpPr txBox="1"/>
          <p:nvPr/>
        </p:nvSpPr>
        <p:spPr>
          <a:xfrm>
            <a:off x="670718" y="2689975"/>
            <a:ext cx="4608286" cy="338554"/>
          </a:xfrm>
          <a:prstGeom prst="rect">
            <a:avLst/>
          </a:prstGeom>
          <a:noFill/>
        </p:spPr>
        <p:txBody>
          <a:bodyPr vert="horz" wrap="square" lIns="91440" tIns="45720" rIns="91440" bIns="45720" rtlCol="0" anchor="b">
            <a:spAutoFit/>
          </a:bodyPr>
          <a:lstStyle/>
          <a:p>
            <a:pPr marL="0" algn="l">
              <a:defRPr/>
            </a:pPr>
            <a:r>
              <a:rPr lang="zh-CN" altLang="en-US" sz="1600" b="1" i="0" u="none" baseline="0">
                <a:solidFill>
                  <a:srgbClr val="000000"/>
                </a:solidFill>
                <a:latin typeface="微软雅黑"/>
                <a:ea typeface="微软雅黑"/>
              </a:rPr>
              <a:t>Key Insight</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p:nvPr/>
        </p:nvSpPr>
        <p:spPr>
          <a:xfrm>
            <a:off x="6397653" y="1719614"/>
            <a:ext cx="2316759" cy="3454366"/>
          </a:xfrm>
          <a:prstGeom prst="roundRect">
            <a:avLst>
              <a:gd name="adj" fmla="val 5528"/>
            </a:avLst>
          </a:prstGeom>
          <a:blipFill>
            <a:blip r:embed="rId2"/>
            <a:stretch>
              <a:fillRect l="-23548" r="-23293"/>
            </a:stretch>
          </a:blipFill>
          <a:ln>
            <a:noFill/>
          </a:ln>
          <a:effectLst/>
        </p:spPr>
        <p:txBody>
          <a:bodyPr rot="0" vert="horz" wrap="square" lIns="91440" tIns="45720" rIns="91440" bIns="45720" anchor="t">
            <a:prstTxWarp prst="textNoShape">
              <a:avLst/>
            </a:prstTxWarp>
            <a:noAutofit/>
          </a:bodyPr>
          <a:lstStyle/>
          <a:p>
            <a:pPr marL="0" algn="ctr"/>
            <a:endParaRPr/>
          </a:p>
        </p:txBody>
      </p:sp>
      <p:sp>
        <p:nvSpPr>
          <p:cNvPr id="3" name="AutoShape 3"/>
          <p:cNvSpPr/>
          <p:nvPr/>
        </p:nvSpPr>
        <p:spPr>
          <a:xfrm>
            <a:off x="3464888" y="1719614"/>
            <a:ext cx="2316759" cy="3454366"/>
          </a:xfrm>
          <a:prstGeom prst="roundRect">
            <a:avLst>
              <a:gd name="adj" fmla="val 5528"/>
            </a:avLst>
          </a:prstGeom>
          <a:blipFill>
            <a:blip r:embed="rId3"/>
            <a:stretch>
              <a:fillRect t="-26943" b="-26643"/>
            </a:stretch>
          </a:blipFill>
          <a:ln>
            <a:noFill/>
          </a:ln>
          <a:effectLst/>
        </p:spPr>
        <p:txBody>
          <a:bodyPr rot="0" vert="horz" wrap="square" lIns="91440" tIns="45720" rIns="91440" bIns="45720" anchor="t">
            <a:prstTxWarp prst="textNoShape">
              <a:avLst/>
            </a:prstTxWarp>
            <a:noAutofit/>
          </a:bodyPr>
          <a:lstStyle/>
          <a:p>
            <a:pPr marL="0" algn="ctr"/>
            <a:endParaRPr/>
          </a:p>
        </p:txBody>
      </p:sp>
      <p:sp>
        <p:nvSpPr>
          <p:cNvPr id="4" name="TextBox 4"/>
          <p:cNvSpPr txBox="1"/>
          <p:nvPr/>
        </p:nvSpPr>
        <p:spPr>
          <a:xfrm>
            <a:off x="9330420" y="3890197"/>
            <a:ext cx="2188480" cy="1539240"/>
          </a:xfrm>
          <a:prstGeom prst="rect">
            <a:avLst/>
          </a:prstGeom>
          <a:noFill/>
          <a:ln>
            <a:noFill/>
          </a:ln>
          <a:effectLst/>
        </p:spPr>
        <p:txBody>
          <a:bodyPr rot="0" vert="horz" wrap="square" lIns="91440" tIns="45720" rIns="91440" bIns="45720" rtlCol="0" anchor="t">
            <a:prstTxWarp prst="textNoShape">
              <a:avLst/>
            </a:prstTxWarp>
            <a:spAutoFit/>
          </a:bodyPr>
          <a:lstStyle/>
          <a:p>
            <a:pPr marL="0" marR="0" indent="0" algn="l" fontAlgn="auto">
              <a:lnSpc>
                <a:spcPct val="150000"/>
              </a:lnSpc>
              <a:spcBef>
                <a:spcPct val="0"/>
              </a:spcBef>
              <a:spcAft>
                <a:spcPct val="0"/>
              </a:spcAft>
              <a:defRPr/>
            </a:pPr>
            <a:r>
              <a:rPr lang="zh-CN" altLang="en-US" sz="1400" b="0" i="0" u="none" baseline="0">
                <a:ln/>
                <a:solidFill>
                  <a:schemeClr val="dk1">
                    <a:lumMod val="100000"/>
                  </a:schemeClr>
                </a:solidFill>
                <a:effectLst/>
                <a:latin typeface="微软雅黑"/>
                <a:ea typeface="微软雅黑"/>
              </a:rPr>
              <a:t>Hotels can prepare for peak periods through dynamic pricing, increased staffing, inventory planning, and targeted promotions.</a:t>
            </a:r>
            <a:endParaRPr lang="en-US" sz="1100"/>
          </a:p>
        </p:txBody>
      </p:sp>
      <p:sp>
        <p:nvSpPr>
          <p:cNvPr id="5" name="TextBox 5"/>
          <p:cNvSpPr txBox="1"/>
          <p:nvPr/>
        </p:nvSpPr>
        <p:spPr>
          <a:xfrm>
            <a:off x="9330420" y="3163329"/>
            <a:ext cx="2188480" cy="338554"/>
          </a:xfrm>
          <a:prstGeom prst="rect">
            <a:avLst/>
          </a:prstGeom>
          <a:noFill/>
          <a:ln>
            <a:noFill/>
          </a:ln>
          <a:effectLst/>
        </p:spPr>
        <p:txBody>
          <a:bodyPr rot="0" vert="horz" wrap="square" lIns="91440" tIns="45720" rIns="91440" bIns="45720" rtlCol="0" anchor="t">
            <a:prstTxWarp prst="textNoShape">
              <a:avLst/>
            </a:prstTxWarp>
            <a:spAutoFit/>
          </a:bodyPr>
          <a:lstStyle/>
          <a:p>
            <a:pPr marL="0" marR="0" algn="l" fontAlgn="auto">
              <a:lnSpc>
                <a:spcPct val="100000"/>
              </a:lnSpc>
              <a:spcBef>
                <a:spcPct val="0"/>
              </a:spcBef>
              <a:spcAft>
                <a:spcPct val="0"/>
              </a:spcAft>
              <a:defRPr/>
            </a:pPr>
            <a:r>
              <a:rPr lang="zh-CN" altLang="en-US" sz="1600" b="1" i="0" u="none" baseline="0">
                <a:ln/>
                <a:solidFill>
                  <a:schemeClr val="accent3"/>
                </a:solidFill>
                <a:effectLst/>
                <a:latin typeface="微软雅黑"/>
                <a:ea typeface="微软雅黑"/>
              </a:rPr>
              <a:t>Business Preparation</a:t>
            </a:r>
            <a:endParaRPr lang="en-US" sz="1100"/>
          </a:p>
        </p:txBody>
      </p:sp>
      <p:sp>
        <p:nvSpPr>
          <p:cNvPr id="6" name="AutoShape 6"/>
          <p:cNvSpPr/>
          <p:nvPr/>
        </p:nvSpPr>
        <p:spPr>
          <a:xfrm>
            <a:off x="9383151" y="2506499"/>
            <a:ext cx="525465" cy="525465"/>
          </a:xfrm>
          <a:prstGeom prst="ellipse">
            <a:avLst/>
          </a:prstGeom>
          <a:solidFill>
            <a:schemeClr val="accent1"/>
          </a:solidFill>
          <a:ln>
            <a:noFill/>
          </a:ln>
        </p:spPr>
        <p:txBody>
          <a:bodyPr vert="horz" lIns="91440" tIns="45720" rIns="91440" bIns="45720" anchor="ctr">
            <a:normAutofit/>
          </a:bodyPr>
          <a:lstStyle/>
          <a:p>
            <a:pPr marL="0" algn="ctr"/>
            <a:endParaRPr/>
          </a:p>
        </p:txBody>
      </p:sp>
      <p:sp>
        <p:nvSpPr>
          <p:cNvPr id="7" name="Freeform 7"/>
          <p:cNvSpPr/>
          <p:nvPr/>
        </p:nvSpPr>
        <p:spPr>
          <a:xfrm>
            <a:off x="9526405" y="2642860"/>
            <a:ext cx="238957" cy="252742"/>
          </a:xfrm>
          <a:custGeom>
            <a:avLst/>
            <a:gdLst/>
            <a:ahLst/>
            <a:cxnLst/>
            <a:rect l="l" t="t" r="r" b="b"/>
            <a:pathLst>
              <a:path w="495300" h="523875">
                <a:moveTo>
                  <a:pt x="371955" y="621"/>
                </a:moveTo>
                <a:cubicBezTo>
                  <a:pt x="387767" y="621"/>
                  <a:pt x="400530" y="13385"/>
                  <a:pt x="400530" y="29196"/>
                </a:cubicBezTo>
                <a:lnTo>
                  <a:pt x="400530" y="133971"/>
                </a:lnTo>
                <a:cubicBezTo>
                  <a:pt x="400530" y="149782"/>
                  <a:pt x="387767" y="162546"/>
                  <a:pt x="371955" y="162546"/>
                </a:cubicBezTo>
                <a:lnTo>
                  <a:pt x="257655" y="162546"/>
                </a:lnTo>
                <a:lnTo>
                  <a:pt x="257655" y="286371"/>
                </a:lnTo>
                <a:lnTo>
                  <a:pt x="419580" y="286371"/>
                </a:lnTo>
                <a:cubicBezTo>
                  <a:pt x="439964" y="286371"/>
                  <a:pt x="456632" y="302373"/>
                  <a:pt x="457680" y="322566"/>
                </a:cubicBezTo>
                <a:lnTo>
                  <a:pt x="457680" y="324471"/>
                </a:lnTo>
                <a:lnTo>
                  <a:pt x="457680" y="429246"/>
                </a:lnTo>
                <a:lnTo>
                  <a:pt x="476730" y="429246"/>
                </a:lnTo>
                <a:cubicBezTo>
                  <a:pt x="487208" y="429246"/>
                  <a:pt x="495780" y="437819"/>
                  <a:pt x="495780" y="448296"/>
                </a:cubicBezTo>
                <a:lnTo>
                  <a:pt x="495780" y="505446"/>
                </a:lnTo>
                <a:cubicBezTo>
                  <a:pt x="495780" y="515923"/>
                  <a:pt x="487208" y="524496"/>
                  <a:pt x="476730" y="524496"/>
                </a:cubicBezTo>
                <a:lnTo>
                  <a:pt x="419580" y="524496"/>
                </a:lnTo>
                <a:cubicBezTo>
                  <a:pt x="409102" y="524496"/>
                  <a:pt x="400530" y="515923"/>
                  <a:pt x="400530" y="505446"/>
                </a:cubicBezTo>
                <a:lnTo>
                  <a:pt x="400530" y="448296"/>
                </a:lnTo>
                <a:cubicBezTo>
                  <a:pt x="400530" y="437819"/>
                  <a:pt x="409102" y="429246"/>
                  <a:pt x="419580" y="429246"/>
                </a:cubicBezTo>
                <a:lnTo>
                  <a:pt x="438630" y="429246"/>
                </a:lnTo>
                <a:lnTo>
                  <a:pt x="438630" y="324471"/>
                </a:lnTo>
                <a:cubicBezTo>
                  <a:pt x="438630" y="314470"/>
                  <a:pt x="430819" y="306183"/>
                  <a:pt x="421009" y="305516"/>
                </a:cubicBezTo>
                <a:lnTo>
                  <a:pt x="419580" y="305421"/>
                </a:lnTo>
                <a:lnTo>
                  <a:pt x="257655" y="305421"/>
                </a:lnTo>
                <a:lnTo>
                  <a:pt x="257655" y="429246"/>
                </a:lnTo>
                <a:lnTo>
                  <a:pt x="276705" y="429246"/>
                </a:lnTo>
                <a:cubicBezTo>
                  <a:pt x="287183" y="429246"/>
                  <a:pt x="295755" y="437819"/>
                  <a:pt x="295755" y="448296"/>
                </a:cubicBezTo>
                <a:lnTo>
                  <a:pt x="295755" y="505446"/>
                </a:lnTo>
                <a:cubicBezTo>
                  <a:pt x="295755" y="515923"/>
                  <a:pt x="287183" y="524496"/>
                  <a:pt x="276705" y="524496"/>
                </a:cubicBezTo>
                <a:lnTo>
                  <a:pt x="219555" y="524496"/>
                </a:lnTo>
                <a:cubicBezTo>
                  <a:pt x="209077" y="524496"/>
                  <a:pt x="200505" y="515923"/>
                  <a:pt x="200505" y="505446"/>
                </a:cubicBezTo>
                <a:lnTo>
                  <a:pt x="200505" y="448296"/>
                </a:lnTo>
                <a:cubicBezTo>
                  <a:pt x="200505" y="437819"/>
                  <a:pt x="209077" y="429246"/>
                  <a:pt x="219555" y="429246"/>
                </a:cubicBezTo>
                <a:lnTo>
                  <a:pt x="238605" y="429246"/>
                </a:lnTo>
                <a:lnTo>
                  <a:pt x="238605" y="305421"/>
                </a:lnTo>
                <a:lnTo>
                  <a:pt x="76680" y="305421"/>
                </a:lnTo>
                <a:cubicBezTo>
                  <a:pt x="66679" y="305421"/>
                  <a:pt x="58392" y="313232"/>
                  <a:pt x="57725" y="323042"/>
                </a:cubicBezTo>
                <a:lnTo>
                  <a:pt x="57630" y="324471"/>
                </a:lnTo>
                <a:lnTo>
                  <a:pt x="57630" y="429246"/>
                </a:lnTo>
                <a:lnTo>
                  <a:pt x="76680" y="429246"/>
                </a:lnTo>
                <a:cubicBezTo>
                  <a:pt x="87158" y="429246"/>
                  <a:pt x="95730" y="437819"/>
                  <a:pt x="95730" y="448296"/>
                </a:cubicBezTo>
                <a:lnTo>
                  <a:pt x="95730" y="505446"/>
                </a:lnTo>
                <a:cubicBezTo>
                  <a:pt x="95730" y="515923"/>
                  <a:pt x="87158" y="524496"/>
                  <a:pt x="76680" y="524496"/>
                </a:cubicBezTo>
                <a:lnTo>
                  <a:pt x="19530" y="524496"/>
                </a:lnTo>
                <a:cubicBezTo>
                  <a:pt x="9052" y="524496"/>
                  <a:pt x="480" y="515923"/>
                  <a:pt x="480" y="505446"/>
                </a:cubicBezTo>
                <a:lnTo>
                  <a:pt x="480" y="448296"/>
                </a:lnTo>
                <a:cubicBezTo>
                  <a:pt x="480" y="437819"/>
                  <a:pt x="9052" y="429246"/>
                  <a:pt x="19530" y="429246"/>
                </a:cubicBezTo>
                <a:lnTo>
                  <a:pt x="38580" y="429246"/>
                </a:lnTo>
                <a:lnTo>
                  <a:pt x="38580" y="324471"/>
                </a:lnTo>
                <a:cubicBezTo>
                  <a:pt x="38580" y="304087"/>
                  <a:pt x="54582" y="287419"/>
                  <a:pt x="74775" y="286371"/>
                </a:cubicBezTo>
                <a:lnTo>
                  <a:pt x="76680" y="286371"/>
                </a:lnTo>
                <a:lnTo>
                  <a:pt x="238605" y="286371"/>
                </a:lnTo>
                <a:lnTo>
                  <a:pt x="238605" y="162546"/>
                </a:lnTo>
                <a:lnTo>
                  <a:pt x="124305" y="162546"/>
                </a:lnTo>
                <a:cubicBezTo>
                  <a:pt x="108493" y="162546"/>
                  <a:pt x="95730" y="149782"/>
                  <a:pt x="95730" y="133971"/>
                </a:cubicBezTo>
                <a:lnTo>
                  <a:pt x="95730" y="29196"/>
                </a:lnTo>
                <a:cubicBezTo>
                  <a:pt x="95730" y="13385"/>
                  <a:pt x="108493" y="621"/>
                  <a:pt x="124305" y="621"/>
                </a:cubicBezTo>
                <a:lnTo>
                  <a:pt x="371955" y="621"/>
                </a:lnTo>
                <a:close/>
                <a:moveTo>
                  <a:pt x="148118" y="95871"/>
                </a:moveTo>
                <a:cubicBezTo>
                  <a:pt x="140212" y="95871"/>
                  <a:pt x="133830" y="102253"/>
                  <a:pt x="133830" y="110159"/>
                </a:cubicBezTo>
                <a:cubicBezTo>
                  <a:pt x="133830" y="118064"/>
                  <a:pt x="140212" y="124446"/>
                  <a:pt x="148118" y="124446"/>
                </a:cubicBezTo>
                <a:cubicBezTo>
                  <a:pt x="156023" y="124446"/>
                  <a:pt x="162405" y="118064"/>
                  <a:pt x="162405" y="110159"/>
                </a:cubicBezTo>
                <a:cubicBezTo>
                  <a:pt x="162405" y="102253"/>
                  <a:pt x="156023" y="95871"/>
                  <a:pt x="148118" y="95871"/>
                </a:cubicBezTo>
                <a:close/>
              </a:path>
            </a:pathLst>
          </a:custGeom>
          <a:solidFill>
            <a:srgbClr val="FFFFFF"/>
          </a:solidFill>
          <a:ln>
            <a:noFill/>
          </a:ln>
        </p:spPr>
        <p:txBody>
          <a:bodyPr vert="horz" lIns="91440" tIns="45720" rIns="91440" bIns="45720" anchor="t">
            <a:normAutofit fontScale="70000" lnSpcReduction="20000"/>
          </a:bodyPr>
          <a:lstStyle/>
          <a:p>
            <a:pPr marL="0" algn="l"/>
            <a:endParaRPr/>
          </a:p>
        </p:txBody>
      </p:sp>
      <p:sp>
        <p:nvSpPr>
          <p:cNvPr id="8" name="TextBox 8"/>
          <p:cNvSpPr txBox="1"/>
          <p:nvPr/>
        </p:nvSpPr>
        <p:spPr>
          <a:xfrm>
            <a:off x="673100" y="3890197"/>
            <a:ext cx="2175781" cy="2966389"/>
          </a:xfrm>
          <a:prstGeom prst="rect">
            <a:avLst/>
          </a:prstGeom>
          <a:noFill/>
          <a:ln>
            <a:noFill/>
          </a:ln>
          <a:effectLst/>
        </p:spPr>
        <p:txBody>
          <a:bodyPr rot="0" vert="horz" wrap="square" lIns="91440" tIns="45720" rIns="91440" bIns="45720" rtlCol="0" anchor="t">
            <a:prstTxWarp prst="textNoShape">
              <a:avLst/>
            </a:prstTxWarp>
            <a:spAutoFit/>
          </a:bodyPr>
          <a:lstStyle/>
          <a:p>
            <a:pPr marL="0" marR="0" indent="0" algn="r" fontAlgn="auto">
              <a:lnSpc>
                <a:spcPct val="150000"/>
              </a:lnSpc>
              <a:spcBef>
                <a:spcPct val="0"/>
              </a:spcBef>
              <a:spcAft>
                <a:spcPct val="0"/>
              </a:spcAft>
              <a:defRPr/>
            </a:pPr>
            <a:r>
              <a:rPr lang="zh-CN" altLang="en-US" sz="1400" b="0" i="0" u="none" baseline="0" dirty="0">
                <a:ln/>
                <a:solidFill>
                  <a:schemeClr val="dk1">
                    <a:lumMod val="100000"/>
                  </a:schemeClr>
                </a:solidFill>
                <a:effectLst/>
                <a:latin typeface="微软雅黑"/>
                <a:ea typeface="微软雅黑"/>
              </a:rPr>
              <a:t>October records 13,877 bookings, making it both the peak booking month and peak revenue month. Demand generally increases toward the second half of the year.</a:t>
            </a:r>
            <a:endParaRPr lang="en-US" sz="1100" dirty="0"/>
          </a:p>
        </p:txBody>
      </p:sp>
      <p:sp>
        <p:nvSpPr>
          <p:cNvPr id="9" name="TextBox 9"/>
          <p:cNvSpPr txBox="1"/>
          <p:nvPr/>
        </p:nvSpPr>
        <p:spPr>
          <a:xfrm>
            <a:off x="660400" y="3163329"/>
            <a:ext cx="2188481" cy="338554"/>
          </a:xfrm>
          <a:prstGeom prst="rect">
            <a:avLst/>
          </a:prstGeom>
          <a:noFill/>
          <a:ln>
            <a:noFill/>
          </a:ln>
          <a:effectLst/>
        </p:spPr>
        <p:txBody>
          <a:bodyPr rot="0" vert="horz" wrap="square" lIns="91440" tIns="45720" rIns="91440" bIns="45720" rtlCol="0" anchor="t">
            <a:prstTxWarp prst="textNoShape">
              <a:avLst/>
            </a:prstTxWarp>
            <a:spAutoFit/>
          </a:bodyPr>
          <a:lstStyle/>
          <a:p>
            <a:pPr marL="0" marR="0" algn="r" fontAlgn="auto">
              <a:lnSpc>
                <a:spcPct val="100000"/>
              </a:lnSpc>
              <a:spcBef>
                <a:spcPct val="0"/>
              </a:spcBef>
              <a:spcAft>
                <a:spcPct val="0"/>
              </a:spcAft>
              <a:defRPr/>
            </a:pPr>
            <a:r>
              <a:rPr lang="zh-CN" altLang="en-US" sz="1600" b="1" i="0" u="none" baseline="0">
                <a:ln/>
                <a:solidFill>
                  <a:schemeClr val="accent3"/>
                </a:solidFill>
                <a:effectLst/>
                <a:latin typeface="微软雅黑"/>
                <a:ea typeface="微软雅黑"/>
              </a:rPr>
              <a:t>Peak Demand Period</a:t>
            </a:r>
            <a:endParaRPr lang="en-US" sz="1100"/>
          </a:p>
        </p:txBody>
      </p:sp>
      <p:grpSp>
        <p:nvGrpSpPr>
          <p:cNvPr id="10" name="Group 10"/>
          <p:cNvGrpSpPr/>
          <p:nvPr/>
        </p:nvGrpSpPr>
        <p:grpSpPr>
          <a:xfrm>
            <a:off x="2313548" y="2506499"/>
            <a:ext cx="525465" cy="525465"/>
            <a:chOff x="1540339" y="1468437"/>
            <a:chExt cx="454025" cy="454025"/>
          </a:xfrm>
        </p:grpSpPr>
        <p:sp>
          <p:nvSpPr>
            <p:cNvPr id="11" name="AutoShape 11"/>
            <p:cNvSpPr/>
            <p:nvPr/>
          </p:nvSpPr>
          <p:spPr>
            <a:xfrm>
              <a:off x="1540339" y="1468437"/>
              <a:ext cx="454025" cy="454025"/>
            </a:xfrm>
            <a:prstGeom prst="ellipse">
              <a:avLst/>
            </a:prstGeom>
            <a:solidFill>
              <a:schemeClr val="accent1"/>
            </a:solidFill>
            <a:ln>
              <a:noFill/>
            </a:ln>
          </p:spPr>
          <p:txBody>
            <a:bodyPr vert="horz" lIns="91440" tIns="45720" rIns="91440" bIns="45720" anchor="ctr">
              <a:normAutofit/>
            </a:bodyPr>
            <a:lstStyle/>
            <a:p>
              <a:pPr marL="0" algn="ctr"/>
              <a:endParaRPr/>
            </a:p>
          </p:txBody>
        </p:sp>
        <p:sp>
          <p:nvSpPr>
            <p:cNvPr id="12" name="Freeform 12"/>
            <p:cNvSpPr/>
            <p:nvPr/>
          </p:nvSpPr>
          <p:spPr>
            <a:xfrm>
              <a:off x="1686469" y="1586260"/>
              <a:ext cx="161764" cy="218380"/>
            </a:xfrm>
            <a:custGeom>
              <a:avLst/>
              <a:gdLst/>
              <a:ahLst/>
              <a:cxnLst/>
              <a:rect l="l" t="t" r="r" b="b"/>
              <a:pathLst>
                <a:path w="381000" h="514350">
                  <a:moveTo>
                    <a:pt x="86973" y="38721"/>
                  </a:moveTo>
                  <a:lnTo>
                    <a:pt x="86973" y="57771"/>
                  </a:lnTo>
                  <a:cubicBezTo>
                    <a:pt x="86973" y="78155"/>
                    <a:pt x="102975" y="94823"/>
                    <a:pt x="123168" y="95871"/>
                  </a:cubicBezTo>
                  <a:lnTo>
                    <a:pt x="125073" y="95871"/>
                  </a:lnTo>
                  <a:lnTo>
                    <a:pt x="258423" y="95871"/>
                  </a:lnTo>
                  <a:cubicBezTo>
                    <a:pt x="278807" y="95871"/>
                    <a:pt x="295475" y="79869"/>
                    <a:pt x="296523" y="59676"/>
                  </a:cubicBezTo>
                  <a:lnTo>
                    <a:pt x="296523" y="57771"/>
                  </a:lnTo>
                  <a:lnTo>
                    <a:pt x="296523" y="38721"/>
                  </a:lnTo>
                  <a:lnTo>
                    <a:pt x="353673" y="38721"/>
                  </a:lnTo>
                  <a:cubicBezTo>
                    <a:pt x="369485" y="38721"/>
                    <a:pt x="382248" y="51485"/>
                    <a:pt x="382248" y="67296"/>
                  </a:cubicBezTo>
                  <a:lnTo>
                    <a:pt x="382248" y="486396"/>
                  </a:lnTo>
                  <a:cubicBezTo>
                    <a:pt x="382248" y="502207"/>
                    <a:pt x="369485" y="514971"/>
                    <a:pt x="353673" y="514971"/>
                  </a:cubicBezTo>
                  <a:lnTo>
                    <a:pt x="29823" y="514971"/>
                  </a:lnTo>
                  <a:cubicBezTo>
                    <a:pt x="14011" y="514971"/>
                    <a:pt x="1248" y="502207"/>
                    <a:pt x="1248" y="486396"/>
                  </a:cubicBezTo>
                  <a:lnTo>
                    <a:pt x="1248" y="67296"/>
                  </a:lnTo>
                  <a:cubicBezTo>
                    <a:pt x="1248" y="51485"/>
                    <a:pt x="14011" y="38721"/>
                    <a:pt x="29823" y="38721"/>
                  </a:cubicBezTo>
                  <a:lnTo>
                    <a:pt x="86973" y="38721"/>
                  </a:lnTo>
                  <a:close/>
                  <a:moveTo>
                    <a:pt x="191748" y="333996"/>
                  </a:moveTo>
                  <a:lnTo>
                    <a:pt x="77448" y="333996"/>
                  </a:lnTo>
                  <a:lnTo>
                    <a:pt x="77448" y="353046"/>
                  </a:lnTo>
                  <a:lnTo>
                    <a:pt x="191748" y="353046"/>
                  </a:lnTo>
                  <a:lnTo>
                    <a:pt x="191748" y="333996"/>
                  </a:lnTo>
                  <a:close/>
                  <a:moveTo>
                    <a:pt x="306048" y="257796"/>
                  </a:moveTo>
                  <a:lnTo>
                    <a:pt x="77448" y="257796"/>
                  </a:lnTo>
                  <a:lnTo>
                    <a:pt x="77448" y="276846"/>
                  </a:lnTo>
                  <a:lnTo>
                    <a:pt x="306048" y="276846"/>
                  </a:lnTo>
                  <a:lnTo>
                    <a:pt x="306048" y="257796"/>
                  </a:lnTo>
                  <a:close/>
                  <a:moveTo>
                    <a:pt x="306048" y="181596"/>
                  </a:moveTo>
                  <a:lnTo>
                    <a:pt x="77448" y="181596"/>
                  </a:lnTo>
                  <a:lnTo>
                    <a:pt x="77448" y="200646"/>
                  </a:lnTo>
                  <a:lnTo>
                    <a:pt x="306048" y="200646"/>
                  </a:lnTo>
                  <a:lnTo>
                    <a:pt x="306048" y="181596"/>
                  </a:lnTo>
                  <a:close/>
                  <a:moveTo>
                    <a:pt x="248898" y="621"/>
                  </a:moveTo>
                  <a:cubicBezTo>
                    <a:pt x="264710" y="621"/>
                    <a:pt x="277473" y="13385"/>
                    <a:pt x="277473" y="29196"/>
                  </a:cubicBezTo>
                  <a:lnTo>
                    <a:pt x="277473" y="48246"/>
                  </a:lnTo>
                  <a:cubicBezTo>
                    <a:pt x="277473" y="64057"/>
                    <a:pt x="264710" y="76821"/>
                    <a:pt x="248898" y="76821"/>
                  </a:cubicBezTo>
                  <a:lnTo>
                    <a:pt x="134598" y="76821"/>
                  </a:lnTo>
                  <a:cubicBezTo>
                    <a:pt x="118786" y="76821"/>
                    <a:pt x="106023" y="64057"/>
                    <a:pt x="106023" y="48246"/>
                  </a:cubicBezTo>
                  <a:lnTo>
                    <a:pt x="106023" y="29196"/>
                  </a:lnTo>
                  <a:cubicBezTo>
                    <a:pt x="106023" y="13385"/>
                    <a:pt x="118786" y="621"/>
                    <a:pt x="134598" y="621"/>
                  </a:cubicBezTo>
                  <a:lnTo>
                    <a:pt x="248898" y="621"/>
                  </a:lnTo>
                  <a:close/>
                </a:path>
              </a:pathLst>
            </a:custGeom>
            <a:solidFill>
              <a:srgbClr val="FFFFFF"/>
            </a:solidFill>
            <a:ln>
              <a:noFill/>
            </a:ln>
          </p:spPr>
          <p:txBody>
            <a:bodyPr vert="horz" lIns="91440" tIns="45720" rIns="91440" bIns="45720" anchor="t">
              <a:normAutofit fontScale="70000" lnSpcReduction="20000"/>
            </a:bodyPr>
            <a:lstStyle/>
            <a:p>
              <a:pPr marL="0" algn="l"/>
              <a:endParaRPr/>
            </a:p>
          </p:txBody>
        </p:sp>
      </p:grpSp>
      <p:sp>
        <p:nvSpPr>
          <p:cNvPr id="13" name="TextBox 13"/>
          <p:cNvSpPr txBox="1"/>
          <p:nvPr/>
        </p:nvSpPr>
        <p:spPr>
          <a:xfrm>
            <a:off x="660400" y="0"/>
            <a:ext cx="10858500" cy="1028700"/>
          </a:xfrm>
          <a:prstGeom prst="rect">
            <a:avLst/>
          </a:prstGeom>
        </p:spPr>
        <p:txBody>
          <a:bodyPr vert="horz" lIns="91440" tIns="45720" rIns="91440" bIns="45720" rtlCol="0" anchor="b">
            <a:normAutofit/>
          </a:bodyPr>
          <a:lstStyle/>
          <a:p>
            <a:pPr marL="0" algn="l">
              <a:lnSpc>
                <a:spcPct val="90000"/>
              </a:lnSpc>
              <a:spcBef>
                <a:spcPct val="0"/>
              </a:spcBef>
              <a:defRPr/>
            </a:pPr>
            <a:r>
              <a:rPr lang="zh-CN" altLang="en-US" sz="2800" b="1" i="0" u="none" baseline="0">
                <a:solidFill>
                  <a:srgbClr val="000000"/>
                </a:solidFill>
                <a:latin typeface="微软雅黑"/>
                <a:ea typeface="微软雅黑"/>
              </a:rPr>
              <a:t>Monthly Seasonality</a:t>
            </a:r>
            <a:endParaRPr lang="en-US" sz="110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p:nvPr/>
        </p:nvSpPr>
        <p:spPr>
          <a:xfrm>
            <a:off x="660400" y="2948131"/>
            <a:ext cx="5156200" cy="2145441"/>
          </a:xfrm>
          <a:prstGeom prst="rect">
            <a:avLst/>
          </a:prstGeom>
          <a:solidFill>
            <a:schemeClr val="tx2">
              <a:alpha val="15000"/>
            </a:schemeClr>
          </a:solidFill>
          <a:ln>
            <a:noFill/>
          </a:ln>
        </p:spPr>
        <p:txBody>
          <a:bodyPr vert="horz" wrap="square" lIns="91440" tIns="45720" rIns="91440" bIns="45720" anchor="ctr">
            <a:noAutofit/>
          </a:bodyPr>
          <a:lstStyle/>
          <a:p>
            <a:pPr marL="0" algn="ctr">
              <a:lnSpc>
                <a:spcPct val="130000"/>
              </a:lnSpc>
            </a:pPr>
            <a:endParaRPr/>
          </a:p>
        </p:txBody>
      </p:sp>
      <p:sp>
        <p:nvSpPr>
          <p:cNvPr id="3" name="AutoShape 3"/>
          <p:cNvSpPr/>
          <p:nvPr/>
        </p:nvSpPr>
        <p:spPr>
          <a:xfrm>
            <a:off x="1050749" y="3191561"/>
            <a:ext cx="4277980" cy="380810"/>
          </a:xfrm>
          <a:prstGeom prst="rect">
            <a:avLst/>
          </a:prstGeom>
          <a:noFill/>
          <a:ln>
            <a:noFill/>
          </a:ln>
        </p:spPr>
        <p:txBody>
          <a:bodyPr vert="horz" wrap="square" lIns="91440" tIns="45720" rIns="91440" bIns="45720" anchor="b">
            <a:spAutoFit/>
          </a:bodyPr>
          <a:lstStyle/>
          <a:p>
            <a:pPr marL="0" algn="l">
              <a:lnSpc>
                <a:spcPct val="130000"/>
              </a:lnSpc>
              <a:spcBef>
                <a:spcPct val="0"/>
              </a:spcBef>
            </a:pPr>
            <a:r>
              <a:rPr lang="zh-CN" altLang="en-US" sz="1600" b="1" i="0" u="none" baseline="0">
                <a:solidFill>
                  <a:srgbClr val="000000"/>
                </a:solidFill>
                <a:effectLst/>
                <a:latin typeface="微软雅黑"/>
                <a:ea typeface="微软雅黑"/>
              </a:rPr>
              <a:t>Key Revenue Metrics</a:t>
            </a:r>
          </a:p>
        </p:txBody>
      </p:sp>
      <p:sp>
        <p:nvSpPr>
          <p:cNvPr id="4" name="AutoShape 4"/>
          <p:cNvSpPr/>
          <p:nvPr/>
        </p:nvSpPr>
        <p:spPr>
          <a:xfrm>
            <a:off x="1050749" y="3597946"/>
            <a:ext cx="4274824" cy="739140"/>
          </a:xfrm>
          <a:prstGeom prst="rect">
            <a:avLst/>
          </a:prstGeom>
          <a:noFill/>
          <a:ln>
            <a:noFill/>
          </a:ln>
        </p:spPr>
        <p:txBody>
          <a:bodyPr vert="horz" wrap="square" lIns="91440" tIns="45720" rIns="91440" bIns="45720" anchor="t">
            <a:spAutoFit/>
          </a:bodyPr>
          <a:lstStyle/>
          <a:p>
            <a:pPr marL="0" algn="l">
              <a:lnSpc>
                <a:spcPct val="150000"/>
              </a:lnSpc>
            </a:pPr>
            <a:r>
              <a:rPr lang="zh-CN" altLang="en-US" sz="1200" b="0" i="0" u="none" baseline="0">
                <a:solidFill>
                  <a:srgbClr val="000000"/>
                </a:solidFill>
                <a:latin typeface="微软雅黑"/>
                <a:ea typeface="微软雅黑"/>
              </a:rPr>
              <a:t>Realized revenue totals $7.12M with an average ADR of $102. Revenue per booking is $95, and total room nights reach 110,746.</a:t>
            </a:r>
          </a:p>
        </p:txBody>
      </p:sp>
      <p:sp>
        <p:nvSpPr>
          <p:cNvPr id="5" name="AutoShape 5"/>
          <p:cNvSpPr/>
          <p:nvPr/>
        </p:nvSpPr>
        <p:spPr>
          <a:xfrm>
            <a:off x="660400" y="1957502"/>
            <a:ext cx="5156200" cy="919526"/>
          </a:xfrm>
          <a:prstGeom prst="roundRect">
            <a:avLst>
              <a:gd name="adj" fmla="val 0"/>
            </a:avLst>
          </a:prstGeom>
          <a:blipFill>
            <a:blip r:embed="rId2"/>
            <a:srcRect/>
            <a:stretch>
              <a:fillRect t="-454584" b="-442199"/>
            </a:stretch>
          </a:blipFill>
          <a:ln cap="flat" cmpd="sng">
            <a:noFill/>
            <a:prstDash val="solid"/>
            <a:miter lim="800000"/>
          </a:ln>
          <a:effectLst/>
        </p:spPr>
        <p:txBody>
          <a:bodyPr rot="0" vert="horz" wrap="square" lIns="91440" tIns="45720" rIns="91440" bIns="45720" anchor="ctr">
            <a:prstTxWarp prst="textNoShape">
              <a:avLst/>
            </a:prstTxWarp>
            <a:noAutofit/>
          </a:bodyPr>
          <a:lstStyle/>
          <a:p>
            <a:pPr marL="0" algn="ctr"/>
            <a:endParaRPr/>
          </a:p>
        </p:txBody>
      </p:sp>
      <p:sp>
        <p:nvSpPr>
          <p:cNvPr id="6" name="AutoShape 6"/>
          <p:cNvSpPr/>
          <p:nvPr/>
        </p:nvSpPr>
        <p:spPr>
          <a:xfrm>
            <a:off x="660400" y="1740772"/>
            <a:ext cx="5156200" cy="145626"/>
          </a:xfrm>
          <a:prstGeom prst="rect">
            <a:avLst/>
          </a:prstGeom>
          <a:solidFill>
            <a:schemeClr val="accent1"/>
          </a:solidFill>
          <a:ln>
            <a:noFill/>
          </a:ln>
        </p:spPr>
        <p:txBody>
          <a:bodyPr vert="horz" wrap="square" lIns="91440" tIns="45720" rIns="91440" bIns="45720" anchor="ctr">
            <a:noAutofit/>
          </a:bodyPr>
          <a:lstStyle/>
          <a:p>
            <a:pPr marL="0" algn="ctr">
              <a:lnSpc>
                <a:spcPct val="130000"/>
              </a:lnSpc>
            </a:pPr>
            <a:endParaRPr/>
          </a:p>
        </p:txBody>
      </p:sp>
      <p:sp>
        <p:nvSpPr>
          <p:cNvPr id="7" name="AutoShape 7"/>
          <p:cNvSpPr/>
          <p:nvPr/>
        </p:nvSpPr>
        <p:spPr>
          <a:xfrm>
            <a:off x="6362700" y="2948131"/>
            <a:ext cx="5156200" cy="2145441"/>
          </a:xfrm>
          <a:prstGeom prst="rect">
            <a:avLst/>
          </a:prstGeom>
          <a:solidFill>
            <a:schemeClr val="tx2">
              <a:alpha val="15000"/>
            </a:schemeClr>
          </a:solidFill>
          <a:ln>
            <a:noFill/>
          </a:ln>
        </p:spPr>
        <p:txBody>
          <a:bodyPr vert="horz" wrap="square" lIns="91440" tIns="45720" rIns="91440" bIns="45720" anchor="ctr">
            <a:noAutofit/>
          </a:bodyPr>
          <a:lstStyle/>
          <a:p>
            <a:pPr marL="0" algn="ctr">
              <a:lnSpc>
                <a:spcPct val="130000"/>
              </a:lnSpc>
            </a:pPr>
            <a:endParaRPr/>
          </a:p>
        </p:txBody>
      </p:sp>
      <p:sp>
        <p:nvSpPr>
          <p:cNvPr id="8" name="AutoShape 8"/>
          <p:cNvSpPr/>
          <p:nvPr/>
        </p:nvSpPr>
        <p:spPr>
          <a:xfrm>
            <a:off x="6753049" y="3191561"/>
            <a:ext cx="4277980" cy="380810"/>
          </a:xfrm>
          <a:prstGeom prst="rect">
            <a:avLst/>
          </a:prstGeom>
          <a:noFill/>
          <a:ln>
            <a:noFill/>
          </a:ln>
        </p:spPr>
        <p:txBody>
          <a:bodyPr vert="horz" wrap="square" lIns="91440" tIns="45720" rIns="91440" bIns="45720" anchor="b">
            <a:spAutoFit/>
          </a:bodyPr>
          <a:lstStyle/>
          <a:p>
            <a:pPr marL="0" algn="l">
              <a:lnSpc>
                <a:spcPct val="130000"/>
              </a:lnSpc>
              <a:spcBef>
                <a:spcPct val="0"/>
              </a:spcBef>
            </a:pPr>
            <a:r>
              <a:rPr lang="zh-CN" altLang="en-US" sz="1600" b="1" i="0" u="none" baseline="0">
                <a:solidFill>
                  <a:srgbClr val="000000"/>
                </a:solidFill>
                <a:effectLst/>
                <a:latin typeface="微软雅黑"/>
                <a:ea typeface="微软雅黑"/>
              </a:rPr>
              <a:t>ADR Seasonality</a:t>
            </a:r>
          </a:p>
        </p:txBody>
      </p:sp>
      <p:sp>
        <p:nvSpPr>
          <p:cNvPr id="9" name="AutoShape 9"/>
          <p:cNvSpPr/>
          <p:nvPr/>
        </p:nvSpPr>
        <p:spPr>
          <a:xfrm>
            <a:off x="6753049" y="3597946"/>
            <a:ext cx="4274824" cy="739140"/>
          </a:xfrm>
          <a:prstGeom prst="rect">
            <a:avLst/>
          </a:prstGeom>
          <a:noFill/>
          <a:ln>
            <a:noFill/>
          </a:ln>
        </p:spPr>
        <p:txBody>
          <a:bodyPr vert="horz" wrap="square" lIns="91440" tIns="45720" rIns="91440" bIns="45720" anchor="t">
            <a:spAutoFit/>
          </a:bodyPr>
          <a:lstStyle/>
          <a:p>
            <a:pPr marL="0" algn="l">
              <a:lnSpc>
                <a:spcPct val="150000"/>
              </a:lnSpc>
            </a:pPr>
            <a:r>
              <a:rPr lang="zh-CN" altLang="en-US" sz="1200" b="0" i="0" u="none" baseline="0">
                <a:solidFill>
                  <a:srgbClr val="000000"/>
                </a:solidFill>
                <a:latin typeface="微软雅黑"/>
                <a:ea typeface="微软雅黑"/>
              </a:rPr>
              <a:t>ADR increases significantly during the high-demand period, reaching approximately $140 in October, supporting demand-based pricing strategies during peak seasons.</a:t>
            </a:r>
          </a:p>
        </p:txBody>
      </p:sp>
      <p:sp>
        <p:nvSpPr>
          <p:cNvPr id="10" name="AutoShape 10"/>
          <p:cNvSpPr/>
          <p:nvPr/>
        </p:nvSpPr>
        <p:spPr>
          <a:xfrm>
            <a:off x="6362700" y="1957502"/>
            <a:ext cx="5156200" cy="919526"/>
          </a:xfrm>
          <a:prstGeom prst="roundRect">
            <a:avLst>
              <a:gd name="adj" fmla="val 0"/>
            </a:avLst>
          </a:prstGeom>
          <a:blipFill>
            <a:blip r:embed="rId3"/>
            <a:srcRect/>
            <a:stretch>
              <a:fillRect t="-304616" b="-296316"/>
            </a:stretch>
          </a:blipFill>
          <a:ln cap="flat" cmpd="sng">
            <a:noFill/>
            <a:prstDash val="solid"/>
            <a:miter lim="800000"/>
          </a:ln>
          <a:effectLst/>
        </p:spPr>
        <p:txBody>
          <a:bodyPr rot="0" vert="horz" wrap="square" lIns="91440" tIns="45720" rIns="91440" bIns="45720" anchor="ctr">
            <a:prstTxWarp prst="textNoShape">
              <a:avLst/>
            </a:prstTxWarp>
            <a:noAutofit/>
          </a:bodyPr>
          <a:lstStyle/>
          <a:p>
            <a:pPr marL="0" algn="ctr"/>
            <a:endParaRPr/>
          </a:p>
        </p:txBody>
      </p:sp>
      <p:sp>
        <p:nvSpPr>
          <p:cNvPr id="11" name="AutoShape 11"/>
          <p:cNvSpPr/>
          <p:nvPr/>
        </p:nvSpPr>
        <p:spPr>
          <a:xfrm>
            <a:off x="6362700" y="1740772"/>
            <a:ext cx="5156200" cy="145626"/>
          </a:xfrm>
          <a:prstGeom prst="rect">
            <a:avLst/>
          </a:prstGeom>
          <a:solidFill>
            <a:schemeClr val="accent1"/>
          </a:solidFill>
          <a:ln>
            <a:noFill/>
          </a:ln>
        </p:spPr>
        <p:txBody>
          <a:bodyPr vert="horz" wrap="square" lIns="91440" tIns="45720" rIns="91440" bIns="45720" anchor="ctr">
            <a:noAutofit/>
          </a:bodyPr>
          <a:lstStyle/>
          <a:p>
            <a:pPr marL="0" algn="ctr">
              <a:lnSpc>
                <a:spcPct val="130000"/>
              </a:lnSpc>
            </a:pPr>
            <a:endParaRPr/>
          </a:p>
        </p:txBody>
      </p:sp>
      <p:sp>
        <p:nvSpPr>
          <p:cNvPr id="12" name="TextBox 12"/>
          <p:cNvSpPr txBox="1"/>
          <p:nvPr/>
        </p:nvSpPr>
        <p:spPr>
          <a:xfrm>
            <a:off x="660400" y="0"/>
            <a:ext cx="10858500" cy="1028700"/>
          </a:xfrm>
          <a:prstGeom prst="rect">
            <a:avLst/>
          </a:prstGeom>
        </p:spPr>
        <p:txBody>
          <a:bodyPr vert="horz" lIns="91440" tIns="45720" rIns="91440" bIns="45720" rtlCol="0" anchor="b">
            <a:normAutofit/>
          </a:bodyPr>
          <a:lstStyle/>
          <a:p>
            <a:pPr marL="0" algn="l">
              <a:lnSpc>
                <a:spcPct val="90000"/>
              </a:lnSpc>
              <a:spcBef>
                <a:spcPct val="0"/>
              </a:spcBef>
              <a:defRPr/>
            </a:pPr>
            <a:r>
              <a:rPr lang="zh-CN" altLang="en-US" sz="2800" b="1" i="0" u="none" baseline="0">
                <a:solidFill>
                  <a:srgbClr val="000000"/>
                </a:solidFill>
                <a:latin typeface="微软雅黑"/>
                <a:ea typeface="微软雅黑"/>
              </a:rPr>
              <a:t>Revenue &amp; Pricing Performance</a:t>
            </a:r>
            <a:endParaRPr lang="en-US" sz="110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p:nvPr/>
        </p:nvSpPr>
        <p:spPr>
          <a:xfrm>
            <a:off x="254000" y="254000"/>
            <a:ext cx="11684000" cy="650240"/>
          </a:xfrm>
          <a:prstGeom prst="rect">
            <a:avLst/>
          </a:prstGeom>
          <a:noFill/>
        </p:spPr>
        <p:txBody>
          <a:bodyPr vert="horz" wrap="none" lIns="91440" tIns="45720" rIns="91440" bIns="45720" anchor="ctr">
            <a:noAutofit/>
          </a:bodyPr>
          <a:lstStyle/>
          <a:p>
            <a:pPr marL="0" indent="0" algn="l"/>
            <a:r>
              <a:rPr lang="en-US" sz="4500" b="1" i="0" u="none" spc="-137" baseline="0">
                <a:solidFill>
                  <a:srgbClr val="000000"/>
                </a:solidFill>
                <a:latin typeface="Arial"/>
                <a:ea typeface="Arial"/>
              </a:rPr>
              <a:t>City Hotel vs Resort Hotel Comparison</a:t>
            </a:r>
          </a:p>
        </p:txBody>
      </p:sp>
      <p:sp>
        <p:nvSpPr>
          <p:cNvPr id="3" name="AutoShape 3"/>
          <p:cNvSpPr/>
          <p:nvPr/>
        </p:nvSpPr>
        <p:spPr>
          <a:xfrm>
            <a:off x="254000" y="967740"/>
            <a:ext cx="11684000" cy="650240"/>
          </a:xfrm>
          <a:prstGeom prst="rect">
            <a:avLst/>
          </a:prstGeom>
          <a:noFill/>
        </p:spPr>
        <p:txBody>
          <a:bodyPr vert="horz" wrap="none" lIns="91440" tIns="45720" rIns="91440" bIns="45720" anchor="ctr">
            <a:noAutofit/>
          </a:bodyPr>
          <a:lstStyle/>
          <a:p>
            <a:pPr marL="0" indent="0" algn="l"/>
            <a:r>
              <a:rPr lang="en-US" sz="2600" b="1" i="0" u="none" spc="-82" baseline="0">
                <a:solidFill>
                  <a:schemeClr val="accent1"/>
                </a:solidFill>
                <a:latin typeface="Arial"/>
                <a:ea typeface="Arial"/>
              </a:rPr>
              <a:t>Performance Comparison</a:t>
            </a:r>
          </a:p>
        </p:txBody>
      </p:sp>
      <p:graphicFrame>
        <p:nvGraphicFramePr>
          <p:cNvPr id="4" name="Table 4"/>
          <p:cNvGraphicFramePr>
            <a:graphicFrameLocks noGrp="1"/>
          </p:cNvGraphicFramePr>
          <p:nvPr/>
        </p:nvGraphicFramePr>
        <p:xfrm>
          <a:off x="914400" y="1808480"/>
          <a:ext cx="10363200" cy="3022600"/>
        </p:xfrm>
        <a:graphic>
          <a:graphicData uri="http://schemas.openxmlformats.org/drawingml/2006/table">
            <a:tbl>
              <a:tblPr/>
              <a:tblGrid>
                <a:gridCol w="4430323"/>
                <a:gridCol w="2662613"/>
                <a:gridCol w="3270264"/>
              </a:tblGrid>
              <a:tr h="431800">
                <a:tc>
                  <a:txBody>
                    <a:bodyPr/>
                    <a:lstStyle/>
                    <a:p>
                      <a:pPr marL="0" algn="l"/>
                      <a:r>
                        <a:rPr lang="en-US" sz="1800" b="1" i="0" u="none" baseline="0">
                          <a:solidFill>
                            <a:srgbClr val="FFFFFF"/>
                          </a:solidFill>
                          <a:latin typeface="Arial"/>
                          <a:ea typeface="Arial"/>
                        </a:rPr>
                        <a:t>KPI</a:t>
                      </a:r>
                    </a:p>
                  </a:txBody>
                  <a:tcPr anchor="ctr">
                    <a:lnL>
                      <a:noFill/>
                    </a:lnL>
                    <a:lnR>
                      <a:noFill/>
                    </a:lnR>
                    <a:lnT>
                      <a:noFill/>
                    </a:lnT>
                    <a:lnB>
                      <a:noFill/>
                    </a:lnB>
                    <a:solidFill>
                      <a:schemeClr val="accent1"/>
                    </a:solidFill>
                  </a:tcPr>
                </a:tc>
                <a:tc>
                  <a:txBody>
                    <a:bodyPr/>
                    <a:lstStyle/>
                    <a:p>
                      <a:pPr marL="0" algn="l"/>
                      <a:r>
                        <a:rPr lang="en-US" sz="1800" b="1" i="0" u="none" baseline="0">
                          <a:solidFill>
                            <a:srgbClr val="FFFFFF"/>
                          </a:solidFill>
                          <a:latin typeface="Arial"/>
                          <a:ea typeface="Arial"/>
                        </a:rPr>
                        <a:t>City Hotel</a:t>
                      </a:r>
                    </a:p>
                  </a:txBody>
                  <a:tcPr anchor="ctr">
                    <a:lnL>
                      <a:noFill/>
                    </a:lnL>
                    <a:lnR>
                      <a:noFill/>
                    </a:lnR>
                    <a:lnT>
                      <a:noFill/>
                    </a:lnT>
                    <a:lnB>
                      <a:noFill/>
                    </a:lnB>
                    <a:solidFill>
                      <a:schemeClr val="accent1"/>
                    </a:solidFill>
                  </a:tcPr>
                </a:tc>
                <a:tc>
                  <a:txBody>
                    <a:bodyPr/>
                    <a:lstStyle/>
                    <a:p>
                      <a:pPr marL="0" algn="l"/>
                      <a:r>
                        <a:rPr lang="en-US" sz="1800" b="1" i="0" u="none" baseline="0">
                          <a:solidFill>
                            <a:srgbClr val="FFFFFF"/>
                          </a:solidFill>
                          <a:latin typeface="Arial"/>
                          <a:ea typeface="Arial"/>
                        </a:rPr>
                        <a:t>Resort Hotel</a:t>
                      </a:r>
                    </a:p>
                  </a:txBody>
                  <a:tcPr anchor="ctr">
                    <a:lnL>
                      <a:noFill/>
                    </a:lnL>
                    <a:lnR>
                      <a:noFill/>
                    </a:lnR>
                    <a:lnT>
                      <a:noFill/>
                    </a:lnT>
                    <a:lnB>
                      <a:noFill/>
                    </a:lnB>
                    <a:solidFill>
                      <a:schemeClr val="accent1"/>
                    </a:solidFill>
                  </a:tcPr>
                </a:tc>
              </a:tr>
              <a:tr h="431800">
                <a:tc>
                  <a:txBody>
                    <a:bodyPr/>
                    <a:lstStyle/>
                    <a:p>
                      <a:pPr marL="0" algn="l"/>
                      <a:r>
                        <a:rPr lang="en-US" sz="1800" b="0" i="0" u="none" baseline="0">
                          <a:solidFill>
                            <a:srgbClr val="000000"/>
                          </a:solidFill>
                          <a:latin typeface="Arial"/>
                          <a:ea typeface="Arial"/>
                        </a:rPr>
                        <a:t>Bookings</a:t>
                      </a:r>
                    </a:p>
                  </a:txBody>
                  <a:tcPr anchor="ctr">
                    <a:lnL>
                      <a:noFill/>
                    </a:lnL>
                    <a:lnR>
                      <a:noFill/>
                    </a:lnR>
                    <a:lnT>
                      <a:noFill/>
                    </a:lnT>
                    <a:lnB>
                      <a:noFill/>
                    </a:lnB>
                    <a:solidFill>
                      <a:schemeClr val="accent1">
                        <a:tint val="40000"/>
                      </a:schemeClr>
                    </a:solidFill>
                  </a:tcPr>
                </a:tc>
                <a:tc>
                  <a:txBody>
                    <a:bodyPr/>
                    <a:lstStyle/>
                    <a:p>
                      <a:pPr marL="0" algn="l"/>
                      <a:r>
                        <a:rPr lang="en-US" sz="1800" b="0" i="0" u="none" baseline="0">
                          <a:solidFill>
                            <a:srgbClr val="000000"/>
                          </a:solidFill>
                          <a:latin typeface="Arial"/>
                          <a:ea typeface="Arial"/>
                        </a:rPr>
                        <a:t>79,330</a:t>
                      </a:r>
                    </a:p>
                  </a:txBody>
                  <a:tcPr anchor="ctr">
                    <a:lnL>
                      <a:noFill/>
                    </a:lnL>
                    <a:lnR>
                      <a:noFill/>
                    </a:lnR>
                    <a:lnT>
                      <a:noFill/>
                    </a:lnT>
                    <a:lnB>
                      <a:noFill/>
                    </a:lnB>
                    <a:solidFill>
                      <a:schemeClr val="accent1">
                        <a:tint val="40000"/>
                      </a:schemeClr>
                    </a:solidFill>
                  </a:tcPr>
                </a:tc>
                <a:tc>
                  <a:txBody>
                    <a:bodyPr/>
                    <a:lstStyle/>
                    <a:p>
                      <a:pPr marL="0" algn="l"/>
                      <a:r>
                        <a:rPr lang="en-US" sz="1800" b="0" i="0" u="none" baseline="0">
                          <a:solidFill>
                            <a:srgbClr val="000000"/>
                          </a:solidFill>
                          <a:latin typeface="Arial"/>
                          <a:ea typeface="Arial"/>
                        </a:rPr>
                        <a:t>40,060</a:t>
                      </a:r>
                    </a:p>
                  </a:txBody>
                  <a:tcPr anchor="ctr">
                    <a:lnL>
                      <a:noFill/>
                    </a:lnL>
                    <a:lnR>
                      <a:noFill/>
                    </a:lnR>
                    <a:lnT>
                      <a:noFill/>
                    </a:lnT>
                    <a:lnB>
                      <a:noFill/>
                    </a:lnB>
                    <a:solidFill>
                      <a:schemeClr val="accent1">
                        <a:tint val="40000"/>
                      </a:schemeClr>
                    </a:solidFill>
                  </a:tcPr>
                </a:tc>
              </a:tr>
              <a:tr h="431800">
                <a:tc>
                  <a:txBody>
                    <a:bodyPr/>
                    <a:lstStyle/>
                    <a:p>
                      <a:pPr marL="0" algn="l"/>
                      <a:r>
                        <a:rPr lang="en-US" sz="1800" b="0" i="0" u="none" baseline="0">
                          <a:solidFill>
                            <a:srgbClr val="000000"/>
                          </a:solidFill>
                          <a:latin typeface="Arial"/>
                          <a:ea typeface="Arial"/>
                        </a:rPr>
                        <a:t>Confirmed</a:t>
                      </a:r>
                    </a:p>
                  </a:txBody>
                  <a:tcPr anchor="ctr">
                    <a:lnL>
                      <a:noFill/>
                    </a:lnL>
                    <a:lnR>
                      <a:noFill/>
                    </a:lnR>
                    <a:lnT>
                      <a:noFill/>
                    </a:lnT>
                    <a:lnB>
                      <a:noFill/>
                    </a:lnB>
                    <a:solidFill>
                      <a:schemeClr val="accent1">
                        <a:tint val="20000"/>
                      </a:schemeClr>
                    </a:solidFill>
                  </a:tcPr>
                </a:tc>
                <a:tc>
                  <a:txBody>
                    <a:bodyPr/>
                    <a:lstStyle/>
                    <a:p>
                      <a:pPr marL="0" algn="l"/>
                      <a:r>
                        <a:rPr lang="en-US" sz="1800" b="0" i="0" u="none" baseline="0">
                          <a:solidFill>
                            <a:srgbClr val="000000"/>
                          </a:solidFill>
                          <a:latin typeface="Arial"/>
                          <a:ea typeface="Arial"/>
                        </a:rPr>
                        <a:t>46,228</a:t>
                      </a:r>
                    </a:p>
                  </a:txBody>
                  <a:tcPr anchor="ctr">
                    <a:lnL>
                      <a:noFill/>
                    </a:lnL>
                    <a:lnR>
                      <a:noFill/>
                    </a:lnR>
                    <a:lnT>
                      <a:noFill/>
                    </a:lnT>
                    <a:lnB>
                      <a:noFill/>
                    </a:lnB>
                    <a:solidFill>
                      <a:schemeClr val="accent1">
                        <a:tint val="20000"/>
                      </a:schemeClr>
                    </a:solidFill>
                  </a:tcPr>
                </a:tc>
                <a:tc>
                  <a:txBody>
                    <a:bodyPr/>
                    <a:lstStyle/>
                    <a:p>
                      <a:pPr marL="0" algn="l"/>
                      <a:r>
                        <a:rPr lang="en-US" sz="1800" b="0" i="0" u="none" baseline="0">
                          <a:solidFill>
                            <a:srgbClr val="000000"/>
                          </a:solidFill>
                          <a:latin typeface="Arial"/>
                          <a:ea typeface="Arial"/>
                        </a:rPr>
                        <a:t>28,938</a:t>
                      </a:r>
                    </a:p>
                  </a:txBody>
                  <a:tcPr anchor="ctr">
                    <a:lnL>
                      <a:noFill/>
                    </a:lnL>
                    <a:lnR>
                      <a:noFill/>
                    </a:lnR>
                    <a:lnT>
                      <a:noFill/>
                    </a:lnT>
                    <a:lnB>
                      <a:noFill/>
                    </a:lnB>
                    <a:solidFill>
                      <a:schemeClr val="accent1">
                        <a:tint val="20000"/>
                      </a:schemeClr>
                    </a:solidFill>
                  </a:tcPr>
                </a:tc>
              </a:tr>
              <a:tr h="431800">
                <a:tc>
                  <a:txBody>
                    <a:bodyPr/>
                    <a:lstStyle/>
                    <a:p>
                      <a:pPr marL="0" algn="l"/>
                      <a:r>
                        <a:rPr lang="en-US" sz="1800" b="0" i="0" u="none" baseline="0">
                          <a:solidFill>
                            <a:srgbClr val="000000"/>
                          </a:solidFill>
                          <a:latin typeface="Arial"/>
                          <a:ea typeface="Arial"/>
                        </a:rPr>
                        <a:t>Cancellations</a:t>
                      </a:r>
                    </a:p>
                  </a:txBody>
                  <a:tcPr anchor="ctr">
                    <a:lnL>
                      <a:noFill/>
                    </a:lnL>
                    <a:lnR>
                      <a:noFill/>
                    </a:lnR>
                    <a:lnT>
                      <a:noFill/>
                    </a:lnT>
                    <a:lnB>
                      <a:noFill/>
                    </a:lnB>
                    <a:solidFill>
                      <a:schemeClr val="accent1">
                        <a:tint val="40000"/>
                      </a:schemeClr>
                    </a:solidFill>
                  </a:tcPr>
                </a:tc>
                <a:tc>
                  <a:txBody>
                    <a:bodyPr/>
                    <a:lstStyle/>
                    <a:p>
                      <a:pPr marL="0" algn="l"/>
                      <a:r>
                        <a:rPr lang="en-US" sz="1800" b="0" i="0" u="none" baseline="0">
                          <a:solidFill>
                            <a:srgbClr val="000000"/>
                          </a:solidFill>
                          <a:latin typeface="Arial"/>
                          <a:ea typeface="Arial"/>
                        </a:rPr>
                        <a:t>33,102</a:t>
                      </a:r>
                    </a:p>
                  </a:txBody>
                  <a:tcPr anchor="ctr">
                    <a:lnL>
                      <a:noFill/>
                    </a:lnL>
                    <a:lnR>
                      <a:noFill/>
                    </a:lnR>
                    <a:lnT>
                      <a:noFill/>
                    </a:lnT>
                    <a:lnB>
                      <a:noFill/>
                    </a:lnB>
                    <a:solidFill>
                      <a:schemeClr val="accent1">
                        <a:tint val="40000"/>
                      </a:schemeClr>
                    </a:solidFill>
                  </a:tcPr>
                </a:tc>
                <a:tc>
                  <a:txBody>
                    <a:bodyPr/>
                    <a:lstStyle/>
                    <a:p>
                      <a:pPr marL="0" algn="l"/>
                      <a:r>
                        <a:rPr lang="en-US" sz="1800" b="0" i="0" u="none" baseline="0">
                          <a:solidFill>
                            <a:srgbClr val="000000"/>
                          </a:solidFill>
                          <a:latin typeface="Arial"/>
                          <a:ea typeface="Arial"/>
                        </a:rPr>
                        <a:t>11,122</a:t>
                      </a:r>
                    </a:p>
                  </a:txBody>
                  <a:tcPr anchor="ctr">
                    <a:lnL>
                      <a:noFill/>
                    </a:lnL>
                    <a:lnR>
                      <a:noFill/>
                    </a:lnR>
                    <a:lnT>
                      <a:noFill/>
                    </a:lnT>
                    <a:lnB>
                      <a:noFill/>
                    </a:lnB>
                    <a:solidFill>
                      <a:schemeClr val="accent1">
                        <a:tint val="40000"/>
                      </a:schemeClr>
                    </a:solidFill>
                  </a:tcPr>
                </a:tc>
              </a:tr>
              <a:tr h="431800">
                <a:tc>
                  <a:txBody>
                    <a:bodyPr/>
                    <a:lstStyle/>
                    <a:p>
                      <a:pPr marL="0" algn="l"/>
                      <a:r>
                        <a:rPr lang="en-US" sz="1800" b="0" i="0" u="none" baseline="0">
                          <a:solidFill>
                            <a:srgbClr val="000000"/>
                          </a:solidFill>
                          <a:latin typeface="Arial"/>
                          <a:ea typeface="Arial"/>
                        </a:rPr>
                        <a:t>Revenue</a:t>
                      </a:r>
                    </a:p>
                  </a:txBody>
                  <a:tcPr anchor="ctr">
                    <a:lnL>
                      <a:noFill/>
                    </a:lnL>
                    <a:lnR>
                      <a:noFill/>
                    </a:lnR>
                    <a:lnT>
                      <a:noFill/>
                    </a:lnT>
                    <a:lnB>
                      <a:noFill/>
                    </a:lnB>
                    <a:solidFill>
                      <a:schemeClr val="accent1">
                        <a:tint val="20000"/>
                      </a:schemeClr>
                    </a:solidFill>
                  </a:tcPr>
                </a:tc>
                <a:tc>
                  <a:txBody>
                    <a:bodyPr/>
                    <a:lstStyle/>
                    <a:p>
                      <a:pPr marL="0" algn="l"/>
                      <a:r>
                        <a:rPr lang="en-US" sz="1800" b="0" i="0" u="none" baseline="0">
                          <a:solidFill>
                            <a:srgbClr val="000000"/>
                          </a:solidFill>
                          <a:latin typeface="Arial"/>
                          <a:ea typeface="Arial"/>
                        </a:rPr>
                        <a:t>~$3.93M</a:t>
                      </a:r>
                    </a:p>
                  </a:txBody>
                  <a:tcPr anchor="ctr">
                    <a:lnL>
                      <a:noFill/>
                    </a:lnL>
                    <a:lnR>
                      <a:noFill/>
                    </a:lnR>
                    <a:lnT>
                      <a:noFill/>
                    </a:lnT>
                    <a:lnB>
                      <a:noFill/>
                    </a:lnB>
                    <a:solidFill>
                      <a:schemeClr val="accent1">
                        <a:tint val="20000"/>
                      </a:schemeClr>
                    </a:solidFill>
                  </a:tcPr>
                </a:tc>
                <a:tc>
                  <a:txBody>
                    <a:bodyPr/>
                    <a:lstStyle/>
                    <a:p>
                      <a:pPr marL="0" algn="l"/>
                      <a:r>
                        <a:rPr lang="en-US" sz="1800" b="0" i="0" u="none" baseline="0">
                          <a:solidFill>
                            <a:srgbClr val="000000"/>
                          </a:solidFill>
                          <a:latin typeface="Arial"/>
                          <a:ea typeface="Arial"/>
                        </a:rPr>
                        <a:t>~$3.19M</a:t>
                      </a:r>
                    </a:p>
                  </a:txBody>
                  <a:tcPr anchor="ctr">
                    <a:lnL>
                      <a:noFill/>
                    </a:lnL>
                    <a:lnR>
                      <a:noFill/>
                    </a:lnR>
                    <a:lnT>
                      <a:noFill/>
                    </a:lnT>
                    <a:lnB>
                      <a:noFill/>
                    </a:lnB>
                    <a:solidFill>
                      <a:schemeClr val="accent1">
                        <a:tint val="20000"/>
                      </a:schemeClr>
                    </a:solidFill>
                  </a:tcPr>
                </a:tc>
              </a:tr>
              <a:tr h="431800">
                <a:tc>
                  <a:txBody>
                    <a:bodyPr/>
                    <a:lstStyle/>
                    <a:p>
                      <a:pPr marL="0" algn="l"/>
                      <a:r>
                        <a:rPr lang="en-US" sz="1800" b="0" i="0" u="none" baseline="0">
                          <a:solidFill>
                            <a:srgbClr val="000000"/>
                          </a:solidFill>
                          <a:latin typeface="Arial"/>
                          <a:ea typeface="Arial"/>
                        </a:rPr>
                        <a:t>ADR</a:t>
                      </a:r>
                    </a:p>
                  </a:txBody>
                  <a:tcPr anchor="ctr">
                    <a:lnL>
                      <a:noFill/>
                    </a:lnL>
                    <a:lnR>
                      <a:noFill/>
                    </a:lnR>
                    <a:lnT>
                      <a:noFill/>
                    </a:lnT>
                    <a:lnB>
                      <a:noFill/>
                    </a:lnB>
                    <a:solidFill>
                      <a:schemeClr val="accent1">
                        <a:tint val="40000"/>
                      </a:schemeClr>
                    </a:solidFill>
                  </a:tcPr>
                </a:tc>
                <a:tc>
                  <a:txBody>
                    <a:bodyPr/>
                    <a:lstStyle/>
                    <a:p>
                      <a:pPr marL="0" algn="l"/>
                      <a:r>
                        <a:rPr lang="en-US" sz="1800" b="0" i="0" u="none" baseline="0">
                          <a:solidFill>
                            <a:srgbClr val="000000"/>
                          </a:solidFill>
                          <a:latin typeface="Arial"/>
                          <a:ea typeface="Arial"/>
                        </a:rPr>
                        <a:t>$105.30</a:t>
                      </a:r>
                    </a:p>
                  </a:txBody>
                  <a:tcPr anchor="ctr">
                    <a:lnL>
                      <a:noFill/>
                    </a:lnL>
                    <a:lnR>
                      <a:noFill/>
                    </a:lnR>
                    <a:lnT>
                      <a:noFill/>
                    </a:lnT>
                    <a:lnB>
                      <a:noFill/>
                    </a:lnB>
                    <a:solidFill>
                      <a:schemeClr val="accent1">
                        <a:tint val="40000"/>
                      </a:schemeClr>
                    </a:solidFill>
                  </a:tcPr>
                </a:tc>
                <a:tc>
                  <a:txBody>
                    <a:bodyPr/>
                    <a:lstStyle/>
                    <a:p>
                      <a:pPr marL="0" algn="l"/>
                      <a:r>
                        <a:rPr lang="en-US" sz="1800" b="0" i="0" u="none" baseline="0">
                          <a:solidFill>
                            <a:srgbClr val="000000"/>
                          </a:solidFill>
                          <a:latin typeface="Arial"/>
                          <a:ea typeface="Arial"/>
                        </a:rPr>
                        <a:t>$94.95</a:t>
                      </a:r>
                    </a:p>
                  </a:txBody>
                  <a:tcPr anchor="ctr">
                    <a:lnL>
                      <a:noFill/>
                    </a:lnL>
                    <a:lnR>
                      <a:noFill/>
                    </a:lnR>
                    <a:lnT>
                      <a:noFill/>
                    </a:lnT>
                    <a:lnB>
                      <a:noFill/>
                    </a:lnB>
                    <a:solidFill>
                      <a:schemeClr val="accent1">
                        <a:tint val="40000"/>
                      </a:schemeClr>
                    </a:solidFill>
                  </a:tcPr>
                </a:tc>
              </a:tr>
              <a:tr h="431800">
                <a:tc>
                  <a:txBody>
                    <a:bodyPr/>
                    <a:lstStyle/>
                    <a:p>
                      <a:pPr marL="0" algn="l"/>
                      <a:r>
                        <a:rPr lang="en-US" sz="1800" b="0" i="0" u="none" baseline="0">
                          <a:solidFill>
                            <a:srgbClr val="000000"/>
                          </a:solidFill>
                          <a:latin typeface="Arial"/>
                          <a:ea typeface="Arial"/>
                        </a:rPr>
                        <a:t>Cancellation Rate</a:t>
                      </a:r>
                    </a:p>
                  </a:txBody>
                  <a:tcPr anchor="ctr">
                    <a:lnL>
                      <a:noFill/>
                    </a:lnL>
                    <a:lnR>
                      <a:noFill/>
                    </a:lnR>
                    <a:lnT>
                      <a:noFill/>
                    </a:lnT>
                    <a:lnB>
                      <a:noFill/>
                    </a:lnB>
                    <a:solidFill>
                      <a:schemeClr val="accent1">
                        <a:tint val="20000"/>
                      </a:schemeClr>
                    </a:solidFill>
                  </a:tcPr>
                </a:tc>
                <a:tc>
                  <a:txBody>
                    <a:bodyPr/>
                    <a:lstStyle/>
                    <a:p>
                      <a:pPr marL="0" algn="l"/>
                      <a:r>
                        <a:rPr lang="en-US" sz="1800" b="0" i="0" u="none" baseline="0">
                          <a:solidFill>
                            <a:srgbClr val="000000"/>
                          </a:solidFill>
                          <a:latin typeface="Arial"/>
                          <a:ea typeface="Arial"/>
                        </a:rPr>
                        <a:t>41.7%</a:t>
                      </a:r>
                    </a:p>
                  </a:txBody>
                  <a:tcPr anchor="ctr">
                    <a:lnL>
                      <a:noFill/>
                    </a:lnL>
                    <a:lnR>
                      <a:noFill/>
                    </a:lnR>
                    <a:lnT>
                      <a:noFill/>
                    </a:lnT>
                    <a:lnB>
                      <a:noFill/>
                    </a:lnB>
                    <a:solidFill>
                      <a:schemeClr val="accent1">
                        <a:tint val="20000"/>
                      </a:schemeClr>
                    </a:solidFill>
                  </a:tcPr>
                </a:tc>
                <a:tc>
                  <a:txBody>
                    <a:bodyPr/>
                    <a:lstStyle/>
                    <a:p>
                      <a:pPr marL="0" algn="l"/>
                      <a:r>
                        <a:rPr lang="en-US" sz="1800" b="0" i="0" u="none" baseline="0">
                          <a:solidFill>
                            <a:srgbClr val="000000"/>
                          </a:solidFill>
                          <a:latin typeface="Arial"/>
                          <a:ea typeface="Arial"/>
                        </a:rPr>
                        <a:t>27.8%</a:t>
                      </a:r>
                    </a:p>
                  </a:txBody>
                  <a:tcPr anchor="ctr">
                    <a:lnL>
                      <a:noFill/>
                    </a:lnL>
                    <a:lnR>
                      <a:noFill/>
                    </a:lnR>
                    <a:lnT>
                      <a:noFill/>
                    </a:lnT>
                    <a:lnB>
                      <a:noFill/>
                    </a:lnB>
                    <a:solidFill>
                      <a:schemeClr val="accent1">
                        <a:tint val="20000"/>
                      </a:schemeClr>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0"/>
            <a:ext cx="10858500" cy="1028700"/>
          </a:xfrm>
        </p:spPr>
        <p:txBody>
          <a:bodyPr vert="horz" lIns="91440" tIns="45720" rIns="91440" bIns="45720" anchor="b">
            <a:normAutofit/>
          </a:bodyPr>
          <a:lstStyle/>
          <a:p>
            <a:pPr algn="l">
              <a:lnSpc>
                <a:spcPct val="90000"/>
              </a:lnSpc>
              <a:spcBef>
                <a:spcPct val="0"/>
              </a:spcBef>
            </a:pPr>
            <a:r>
              <a:rPr lang="zh-CN" altLang="en-US" sz="2800" b="1" i="0" u="none" baseline="0">
                <a:solidFill>
                  <a:srgbClr val="000000"/>
                </a:solidFill>
                <a:latin typeface="微软雅黑"/>
                <a:ea typeface="微软雅黑"/>
              </a:rPr>
              <a:t>City Hotel vs Resort Hotel Comparison</a:t>
            </a:r>
          </a:p>
        </p:txBody>
      </p:sp>
      <p:sp>
        <p:nvSpPr>
          <p:cNvPr id="3" name="AutoShape 3"/>
          <p:cNvSpPr/>
          <p:nvPr/>
        </p:nvSpPr>
        <p:spPr>
          <a:xfrm rot="16200000" flipH="1">
            <a:off x="2192985" y="1995894"/>
            <a:ext cx="45719" cy="2107116"/>
          </a:xfrm>
          <a:prstGeom prst="roundRect">
            <a:avLst>
              <a:gd name="adj" fmla="val 50000"/>
            </a:avLst>
          </a:prstGeom>
          <a:solidFill>
            <a:schemeClr val="accent1"/>
          </a:solidFill>
          <a:ln cap="rnd" cmpd="sng">
            <a:prstDash val="solid"/>
          </a:ln>
        </p:spPr>
        <p:txBody>
          <a:bodyPr rot="0" vert="horz" wrap="square" lIns="91440" tIns="45720" rIns="91440" bIns="45720" anchor="ctr">
            <a:normAutofit/>
          </a:bodyPr>
          <a:lstStyle/>
          <a:p>
            <a:pPr marL="0" algn="ctr"/>
            <a:endParaRPr/>
          </a:p>
        </p:txBody>
      </p:sp>
      <p:sp>
        <p:nvSpPr>
          <p:cNvPr id="4" name="AutoShape 4"/>
          <p:cNvSpPr/>
          <p:nvPr/>
        </p:nvSpPr>
        <p:spPr>
          <a:xfrm>
            <a:off x="7080240" y="1793754"/>
            <a:ext cx="4058352" cy="3939205"/>
          </a:xfrm>
          <a:prstGeom prst="roundRect">
            <a:avLst>
              <a:gd name="adj" fmla="val 6000"/>
            </a:avLst>
          </a:prstGeom>
          <a:blipFill>
            <a:blip r:embed="rId2"/>
            <a:stretch>
              <a:fillRect l="-24553" t="135" r="-25488" b="-135"/>
            </a:stretch>
          </a:blipFill>
          <a:ln cap="flat" cmpd="sng">
            <a:prstDash val="solid"/>
          </a:ln>
        </p:spPr>
        <p:txBody>
          <a:bodyPr rot="0" vert="horz" wrap="square" lIns="91440" tIns="45720" rIns="91440" bIns="45720" anchor="t">
            <a:prstTxWarp prst="textNoShape">
              <a:avLst/>
            </a:prstTxWarp>
            <a:noAutofit/>
          </a:bodyPr>
          <a:lstStyle/>
          <a:p>
            <a:pPr marL="0" algn="ctr"/>
            <a:endParaRPr/>
          </a:p>
        </p:txBody>
      </p:sp>
      <p:sp>
        <p:nvSpPr>
          <p:cNvPr id="5" name="TextBox 5"/>
          <p:cNvSpPr txBox="1"/>
          <p:nvPr/>
        </p:nvSpPr>
        <p:spPr>
          <a:xfrm>
            <a:off x="1162286" y="3266449"/>
            <a:ext cx="4675361" cy="1350563"/>
          </a:xfrm>
          <a:prstGeom prst="rect">
            <a:avLst/>
          </a:prstGeom>
          <a:noFill/>
        </p:spPr>
        <p:txBody>
          <a:bodyPr vert="horz" wrap="square" lIns="91440" tIns="45720" rIns="91440" bIns="45720" rtlCol="0" anchor="t">
            <a:spAutoFit/>
          </a:bodyPr>
          <a:lstStyle/>
          <a:p>
            <a:pPr marL="0" algn="just">
              <a:lnSpc>
                <a:spcPct val="150000"/>
              </a:lnSpc>
              <a:defRPr/>
            </a:pPr>
            <a:r>
              <a:rPr lang="zh-CN" altLang="en-US" sz="1400" b="0" i="0" u="none" baseline="0" dirty="0">
                <a:solidFill>
                  <a:srgbClr val="000000"/>
                </a:solidFill>
                <a:latin typeface="微软雅黑"/>
                <a:ea typeface="微软雅黑"/>
              </a:rPr>
              <a:t>City Hotel leads in booking volume, revenue, and ADR, but also carries a significantly higher cancellation rate of 41.7% versus 27.8% for Resort Hotel.</a:t>
            </a:r>
            <a:endParaRPr lang="en-US" sz="1100" dirty="0"/>
          </a:p>
        </p:txBody>
      </p:sp>
      <p:sp>
        <p:nvSpPr>
          <p:cNvPr id="6" name="TextBox 6"/>
          <p:cNvSpPr txBox="1"/>
          <p:nvPr/>
        </p:nvSpPr>
        <p:spPr>
          <a:xfrm>
            <a:off x="1162286" y="2534189"/>
            <a:ext cx="4675361" cy="338554"/>
          </a:xfrm>
          <a:prstGeom prst="rect">
            <a:avLst/>
          </a:prstGeom>
          <a:noFill/>
        </p:spPr>
        <p:txBody>
          <a:bodyPr vert="horz" wrap="square" lIns="91440" tIns="45720" rIns="91440" bIns="45720" rtlCol="0" anchor="b">
            <a:spAutoFit/>
          </a:bodyPr>
          <a:lstStyle/>
          <a:p>
            <a:pPr marL="0" algn="l">
              <a:defRPr/>
            </a:pPr>
            <a:r>
              <a:rPr lang="zh-CN" altLang="en-US" sz="1600" b="1" i="0" u="none" baseline="0">
                <a:solidFill>
                  <a:srgbClr val="000000"/>
                </a:solidFill>
                <a:latin typeface="微软雅黑"/>
                <a:ea typeface="微软雅黑"/>
              </a:rPr>
              <a:t>Key Insight</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7024912" y="3429000"/>
            <a:ext cx="4493987" cy="646331"/>
          </a:xfrm>
        </p:spPr>
        <p:txBody>
          <a:bodyPr vert="horz" lIns="91440" tIns="45720" rIns="91440" bIns="45720" anchor="t">
            <a:normAutofit fontScale="90000"/>
          </a:bodyPr>
          <a:lstStyle/>
          <a:p>
            <a:pPr algn="r">
              <a:lnSpc>
                <a:spcPct val="90000"/>
              </a:lnSpc>
              <a:spcBef>
                <a:spcPct val="0"/>
              </a:spcBef>
            </a:pPr>
            <a:r>
              <a:rPr lang="zh-CN" altLang="en-US" sz="3648" b="1" i="0" u="none" baseline="0">
                <a:solidFill>
                  <a:srgbClr val="000000"/>
                </a:solidFill>
                <a:latin typeface="微软雅黑"/>
                <a:ea typeface="微软雅黑"/>
              </a:rPr>
              <a:t>Cancellation Risk Analysis</a:t>
            </a:r>
          </a:p>
        </p:txBody>
      </p:sp>
      <p:sp>
        <p:nvSpPr>
          <p:cNvPr id="3" name="TextBox 3"/>
          <p:cNvSpPr txBox="1"/>
          <p:nvPr/>
        </p:nvSpPr>
        <p:spPr>
          <a:xfrm>
            <a:off x="7024914" y="2533370"/>
            <a:ext cx="4493986" cy="840230"/>
          </a:xfrm>
          <a:prstGeom prst="rect">
            <a:avLst/>
          </a:prstGeom>
        </p:spPr>
        <p:txBody>
          <a:bodyPr vert="horz" wrap="square" lIns="91440" tIns="45720" rIns="91440" bIns="45720" rtlCol="0" anchor="b">
            <a:spAutoFit/>
          </a:bodyPr>
          <a:lstStyle/>
          <a:p>
            <a:pPr marL="0" algn="r">
              <a:lnSpc>
                <a:spcPct val="90000"/>
              </a:lnSpc>
              <a:spcBef>
                <a:spcPct val="0"/>
              </a:spcBef>
              <a:defRPr/>
            </a:pPr>
            <a:r>
              <a:rPr lang="en-GB" sz="5400" b="1" i="0" u="none" baseline="0">
                <a:solidFill>
                  <a:srgbClr val="000000"/>
                </a:solidFill>
                <a:latin typeface="Arial"/>
                <a:ea typeface="Arial"/>
              </a:rPr>
              <a:t>04</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0"/>
            <a:ext cx="10858500" cy="1028700"/>
          </a:xfrm>
        </p:spPr>
        <p:txBody>
          <a:bodyPr vert="horz" lIns="91440" tIns="45720" rIns="91440" bIns="45720" anchor="b">
            <a:normAutofit/>
          </a:bodyPr>
          <a:lstStyle/>
          <a:p>
            <a:pPr algn="l">
              <a:lnSpc>
                <a:spcPct val="90000"/>
              </a:lnSpc>
              <a:spcBef>
                <a:spcPct val="0"/>
              </a:spcBef>
            </a:pPr>
            <a:r>
              <a:rPr lang="zh-CN" altLang="en-US" sz="2800" b="1" i="0" u="none" baseline="0">
                <a:solidFill>
                  <a:schemeClr val="tx1"/>
                </a:solidFill>
                <a:latin typeface="微软雅黑"/>
                <a:ea typeface="微软雅黑"/>
              </a:rPr>
              <a:t>Cancellation Overview</a:t>
            </a:r>
          </a:p>
        </p:txBody>
      </p:sp>
      <p:sp>
        <p:nvSpPr>
          <p:cNvPr id="3" name="AutoShape 3"/>
          <p:cNvSpPr/>
          <p:nvPr/>
        </p:nvSpPr>
        <p:spPr>
          <a:xfrm>
            <a:off x="660403" y="4536837"/>
            <a:ext cx="5228634" cy="1198361"/>
          </a:xfrm>
          <a:prstGeom prst="roundRect">
            <a:avLst>
              <a:gd name="adj" fmla="val 5931"/>
            </a:avLst>
          </a:prstGeom>
          <a:solidFill>
            <a:schemeClr val="bg1"/>
          </a:solidFill>
          <a:ln cap="flat">
            <a:noFill/>
            <a:prstDash val="solid"/>
            <a:miter lim="800000"/>
          </a:ln>
        </p:spPr>
        <p:txBody>
          <a:bodyPr vert="horz" wrap="square" lIns="108000" tIns="108000" rIns="108000" bIns="108000" anchor="ctr">
            <a:spAutoFit/>
          </a:bodyPr>
          <a:lstStyle/>
          <a:p>
            <a:pPr marL="0" algn="just">
              <a:lnSpc>
                <a:spcPct val="150000"/>
              </a:lnSpc>
            </a:pPr>
            <a:r>
              <a:rPr lang="en-US" sz="1400" b="0" i="0" u="none" baseline="0" dirty="0">
                <a:solidFill>
                  <a:schemeClr val="tx1"/>
                </a:solidFill>
                <a:latin typeface="微软雅黑"/>
                <a:ea typeface="微软雅黑"/>
              </a:rPr>
              <a:t>Of 119,390 total bookings, 44,224 were cancelled and 75,166 confirmed, yielding a 37.0% cancellation rate—more than one-third of all bookings.</a:t>
            </a:r>
          </a:p>
        </p:txBody>
      </p:sp>
      <p:sp>
        <p:nvSpPr>
          <p:cNvPr id="4" name="AutoShape 4"/>
          <p:cNvSpPr/>
          <p:nvPr/>
        </p:nvSpPr>
        <p:spPr>
          <a:xfrm>
            <a:off x="660400" y="3916491"/>
            <a:ext cx="5228634" cy="480812"/>
          </a:xfrm>
          <a:prstGeom prst="roundRect">
            <a:avLst>
              <a:gd name="adj" fmla="val 15900"/>
            </a:avLst>
          </a:prstGeom>
          <a:solidFill>
            <a:schemeClr val="accent1"/>
          </a:solidFill>
          <a:ln>
            <a:noFill/>
          </a:ln>
        </p:spPr>
        <p:txBody>
          <a:bodyPr vert="horz" wrap="square" lIns="108000" tIns="108000" rIns="108000" bIns="108000" anchor="ctr">
            <a:noAutofit/>
          </a:bodyPr>
          <a:lstStyle/>
          <a:p>
            <a:pPr marL="0" algn="l"/>
            <a:r>
              <a:rPr lang="en-US" sz="1600" b="1" i="0" u="none" baseline="0">
                <a:solidFill>
                  <a:schemeClr val="bg1"/>
                </a:solidFill>
                <a:latin typeface="微软雅黑"/>
                <a:ea typeface="微软雅黑"/>
              </a:rPr>
              <a:t>Overall Cancellation Statistics</a:t>
            </a:r>
          </a:p>
        </p:txBody>
      </p:sp>
      <p:sp>
        <p:nvSpPr>
          <p:cNvPr id="5" name="AutoShape 5"/>
          <p:cNvSpPr/>
          <p:nvPr/>
        </p:nvSpPr>
        <p:spPr>
          <a:xfrm>
            <a:off x="660402" y="1898529"/>
            <a:ext cx="5228634" cy="1874948"/>
          </a:xfrm>
          <a:prstGeom prst="roundRect">
            <a:avLst>
              <a:gd name="adj" fmla="val 5931"/>
            </a:avLst>
          </a:prstGeom>
          <a:blipFill>
            <a:blip r:embed="rId2"/>
            <a:stretch>
              <a:fillRect/>
            </a:stretch>
          </a:blipFill>
          <a:ln cap="flat" cmpd="sng">
            <a:noFill/>
            <a:prstDash val="solid"/>
            <a:miter lim="800000"/>
          </a:ln>
          <a:effectLst/>
        </p:spPr>
        <p:txBody>
          <a:bodyPr rot="0" vert="horz" wrap="square" lIns="91440" tIns="45720" rIns="91440" bIns="45720" anchor="ctr">
            <a:prstTxWarp prst="textNoShape">
              <a:avLst/>
            </a:prstTxWarp>
            <a:noAutofit/>
          </a:bodyPr>
          <a:lstStyle/>
          <a:p>
            <a:pPr marL="0" algn="ctr"/>
            <a:endParaRPr/>
          </a:p>
        </p:txBody>
      </p:sp>
      <p:sp>
        <p:nvSpPr>
          <p:cNvPr id="6" name="AutoShape 6"/>
          <p:cNvSpPr/>
          <p:nvPr/>
        </p:nvSpPr>
        <p:spPr>
          <a:xfrm>
            <a:off x="6290266" y="4536837"/>
            <a:ext cx="5228634" cy="1198361"/>
          </a:xfrm>
          <a:prstGeom prst="roundRect">
            <a:avLst>
              <a:gd name="adj" fmla="val 5931"/>
            </a:avLst>
          </a:prstGeom>
          <a:solidFill>
            <a:schemeClr val="bg1"/>
          </a:solidFill>
          <a:ln cap="flat">
            <a:noFill/>
            <a:prstDash val="solid"/>
            <a:miter lim="800000"/>
          </a:ln>
        </p:spPr>
        <p:txBody>
          <a:bodyPr vert="horz" wrap="square" lIns="108000" tIns="108000" rIns="108000" bIns="108000" anchor="ctr">
            <a:spAutoFit/>
          </a:bodyPr>
          <a:lstStyle/>
          <a:p>
            <a:pPr marL="0" algn="just">
              <a:lnSpc>
                <a:spcPct val="150000"/>
              </a:lnSpc>
            </a:pPr>
            <a:r>
              <a:rPr lang="en-US" sz="1400" b="0" i="0" u="none" baseline="0" dirty="0">
                <a:solidFill>
                  <a:schemeClr val="tx1"/>
                </a:solidFill>
                <a:latin typeface="微软雅黑"/>
                <a:ea typeface="微软雅黑"/>
              </a:rPr>
              <a:t>A high cancellation rate creates uncertainty in occupancy, revenue forecasting, room inventory, staffing, and pricing decisions.</a:t>
            </a:r>
          </a:p>
        </p:txBody>
      </p:sp>
      <p:sp>
        <p:nvSpPr>
          <p:cNvPr id="7" name="AutoShape 7"/>
          <p:cNvSpPr/>
          <p:nvPr/>
        </p:nvSpPr>
        <p:spPr>
          <a:xfrm>
            <a:off x="6290263" y="3916491"/>
            <a:ext cx="5228634" cy="480812"/>
          </a:xfrm>
          <a:prstGeom prst="roundRect">
            <a:avLst>
              <a:gd name="adj" fmla="val 15900"/>
            </a:avLst>
          </a:prstGeom>
          <a:solidFill>
            <a:schemeClr val="bg1"/>
          </a:solidFill>
          <a:ln>
            <a:noFill/>
          </a:ln>
        </p:spPr>
        <p:txBody>
          <a:bodyPr vert="horz" wrap="square" lIns="108000" tIns="108000" rIns="108000" bIns="108000" anchor="ctr">
            <a:noAutofit/>
          </a:bodyPr>
          <a:lstStyle/>
          <a:p>
            <a:pPr marL="0" algn="l"/>
            <a:r>
              <a:rPr lang="en-US" sz="1600" b="1" i="0" u="none" baseline="0">
                <a:solidFill>
                  <a:schemeClr val="tx1"/>
                </a:solidFill>
                <a:latin typeface="微软雅黑"/>
                <a:ea typeface="微软雅黑"/>
              </a:rPr>
              <a:t>Business Impact</a:t>
            </a:r>
          </a:p>
        </p:txBody>
      </p:sp>
      <p:sp>
        <p:nvSpPr>
          <p:cNvPr id="8" name="AutoShape 8"/>
          <p:cNvSpPr/>
          <p:nvPr/>
        </p:nvSpPr>
        <p:spPr>
          <a:xfrm>
            <a:off x="6290265" y="1898529"/>
            <a:ext cx="5228634" cy="1874948"/>
          </a:xfrm>
          <a:prstGeom prst="roundRect">
            <a:avLst>
              <a:gd name="adj" fmla="val 5931"/>
            </a:avLst>
          </a:prstGeom>
          <a:blipFill>
            <a:blip r:embed="rId3"/>
            <a:stretch>
              <a:fillRect/>
            </a:stretch>
          </a:blipFill>
          <a:ln cap="flat" cmpd="sng">
            <a:noFill/>
            <a:prstDash val="solid"/>
            <a:miter lim="800000"/>
          </a:ln>
          <a:effectLst/>
        </p:spPr>
        <p:txBody>
          <a:bodyPr rot="0" vert="horz" wrap="square" lIns="91440" tIns="45720" rIns="91440" bIns="45720" anchor="ctr">
            <a:prstTxWarp prst="textNoShape">
              <a:avLst/>
            </a:prstTxWarp>
            <a:noAutofit/>
          </a:bodyPr>
          <a:lstStyle/>
          <a:p>
            <a:pPr marL="0" algn="ctr"/>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0"/>
            <a:ext cx="10858500" cy="1028700"/>
          </a:xfrm>
        </p:spPr>
        <p:txBody>
          <a:bodyPr vert="horz" lIns="91440" tIns="45720" rIns="91440" bIns="45720" anchor="b">
            <a:normAutofit/>
          </a:bodyPr>
          <a:lstStyle/>
          <a:p>
            <a:pPr algn="l">
              <a:lnSpc>
                <a:spcPct val="90000"/>
              </a:lnSpc>
              <a:spcBef>
                <a:spcPct val="0"/>
              </a:spcBef>
            </a:pPr>
            <a:r>
              <a:rPr lang="zh-CN" altLang="en-US" sz="2800" b="1" i="0" u="none" baseline="0">
                <a:solidFill>
                  <a:schemeClr val="tx1"/>
                </a:solidFill>
                <a:latin typeface="微软雅黑"/>
                <a:ea typeface="微软雅黑"/>
              </a:rPr>
              <a:t>Cancellation by Hotel Type</a:t>
            </a:r>
          </a:p>
        </p:txBody>
      </p:sp>
      <p:sp>
        <p:nvSpPr>
          <p:cNvPr id="3" name="AutoShape 3"/>
          <p:cNvSpPr/>
          <p:nvPr/>
        </p:nvSpPr>
        <p:spPr>
          <a:xfrm>
            <a:off x="5755831" y="1133474"/>
            <a:ext cx="2365200" cy="2364791"/>
          </a:xfrm>
          <a:prstGeom prst="rect">
            <a:avLst/>
          </a:prstGeom>
          <a:blipFill>
            <a:blip r:embed="rId2">
              <a:duotone>
                <a:prstClr val="black"/>
                <a:schemeClr val="accent5">
                  <a:satMod val="400000"/>
                  <a:tint val="45000"/>
                </a:schemeClr>
              </a:duotone>
            </a:blip>
            <a:stretch>
              <a:fillRect l="-25150" r="-24883"/>
            </a:stretch>
          </a:blipFill>
          <a:ln>
            <a:noFill/>
          </a:ln>
          <a:effectLst/>
        </p:spPr>
        <p:txBody>
          <a:bodyPr rot="0" vert="horz" wrap="square" lIns="91440" tIns="45720" rIns="91440" bIns="45720" anchor="t">
            <a:prstTxWarp prst="textNoShape">
              <a:avLst/>
            </a:prstTxWarp>
            <a:noAutofit/>
          </a:bodyPr>
          <a:lstStyle/>
          <a:p>
            <a:pPr marL="0" algn="ctr"/>
            <a:endParaRPr/>
          </a:p>
        </p:txBody>
      </p:sp>
      <p:sp>
        <p:nvSpPr>
          <p:cNvPr id="4" name="AutoShape 4"/>
          <p:cNvSpPr/>
          <p:nvPr/>
        </p:nvSpPr>
        <p:spPr>
          <a:xfrm>
            <a:off x="8121030" y="1133474"/>
            <a:ext cx="3399457" cy="2364791"/>
          </a:xfrm>
          <a:prstGeom prst="rect">
            <a:avLst/>
          </a:prstGeom>
          <a:solidFill>
            <a:schemeClr val="tx2">
              <a:alpha val="15000"/>
            </a:schemeClr>
          </a:solidFill>
          <a:ln>
            <a:noFill/>
          </a:ln>
        </p:spPr>
        <p:txBody>
          <a:bodyPr vert="horz" lIns="396000" tIns="576000" rIns="91440" bIns="45720" anchor="ctr">
            <a:normAutofit/>
          </a:bodyPr>
          <a:lstStyle/>
          <a:p>
            <a:pPr marL="0" algn="l">
              <a:lnSpc>
                <a:spcPct val="130000"/>
              </a:lnSpc>
            </a:pPr>
            <a:endParaRPr/>
          </a:p>
        </p:txBody>
      </p:sp>
      <p:sp>
        <p:nvSpPr>
          <p:cNvPr id="5" name="AutoShape 5"/>
          <p:cNvSpPr/>
          <p:nvPr/>
        </p:nvSpPr>
        <p:spPr>
          <a:xfrm>
            <a:off x="8393148" y="1425390"/>
            <a:ext cx="2962230" cy="338554"/>
          </a:xfrm>
          <a:prstGeom prst="rect">
            <a:avLst/>
          </a:prstGeom>
          <a:noFill/>
          <a:ln>
            <a:noFill/>
          </a:ln>
        </p:spPr>
        <p:txBody>
          <a:bodyPr vert="horz" wrap="square" lIns="91440" tIns="45720" rIns="91440" bIns="45720" anchor="b">
            <a:spAutoFit/>
          </a:bodyPr>
          <a:lstStyle/>
          <a:p>
            <a:pPr marL="0" algn="l"/>
            <a:r>
              <a:rPr lang="zh-CN" altLang="en-US" sz="1600" b="1" i="0" u="none" baseline="0">
                <a:solidFill>
                  <a:schemeClr val="tx1"/>
                </a:solidFill>
                <a:latin typeface="微软雅黑"/>
                <a:ea typeface="微软雅黑"/>
              </a:rPr>
              <a:t>Comparative Risk Profile</a:t>
            </a:r>
          </a:p>
        </p:txBody>
      </p:sp>
      <p:sp>
        <p:nvSpPr>
          <p:cNvPr id="6" name="AutoShape 6"/>
          <p:cNvSpPr/>
          <p:nvPr/>
        </p:nvSpPr>
        <p:spPr>
          <a:xfrm>
            <a:off x="9048299" y="3772484"/>
            <a:ext cx="2472187" cy="2364791"/>
          </a:xfrm>
          <a:prstGeom prst="rect">
            <a:avLst/>
          </a:prstGeom>
          <a:blipFill>
            <a:blip r:embed="rId3">
              <a:duotone>
                <a:prstClr val="black"/>
                <a:schemeClr val="accent5">
                  <a:satMod val="400000"/>
                  <a:tint val="45000"/>
                </a:schemeClr>
              </a:duotone>
            </a:blip>
            <a:stretch>
              <a:fillRect l="-21882" r="-21658"/>
            </a:stretch>
          </a:blipFill>
          <a:ln>
            <a:noFill/>
          </a:ln>
          <a:effectLst/>
        </p:spPr>
        <p:txBody>
          <a:bodyPr rot="0" vert="horz" wrap="square" lIns="91440" tIns="45720" rIns="91440" bIns="45720" anchor="t">
            <a:prstTxWarp prst="textNoShape">
              <a:avLst/>
            </a:prstTxWarp>
            <a:noAutofit/>
          </a:bodyPr>
          <a:lstStyle/>
          <a:p>
            <a:pPr marL="0" algn="ctr"/>
            <a:endParaRPr/>
          </a:p>
        </p:txBody>
      </p:sp>
      <p:sp>
        <p:nvSpPr>
          <p:cNvPr id="7" name="AutoShape 7"/>
          <p:cNvSpPr/>
          <p:nvPr/>
        </p:nvSpPr>
        <p:spPr>
          <a:xfrm>
            <a:off x="5755831" y="3772484"/>
            <a:ext cx="3292469" cy="2364791"/>
          </a:xfrm>
          <a:prstGeom prst="rect">
            <a:avLst/>
          </a:prstGeom>
          <a:solidFill>
            <a:schemeClr val="accent1"/>
          </a:solidFill>
          <a:ln>
            <a:noFill/>
          </a:ln>
        </p:spPr>
        <p:txBody>
          <a:bodyPr vert="horz" lIns="0" tIns="576000" rIns="396000" bIns="45720" anchor="ctr">
            <a:normAutofit/>
          </a:bodyPr>
          <a:lstStyle/>
          <a:p>
            <a:pPr marL="0" algn="r">
              <a:lnSpc>
                <a:spcPct val="130000"/>
              </a:lnSpc>
            </a:pPr>
            <a:endParaRPr/>
          </a:p>
        </p:txBody>
      </p:sp>
      <p:sp>
        <p:nvSpPr>
          <p:cNvPr id="8" name="AutoShape 8"/>
          <p:cNvSpPr/>
          <p:nvPr/>
        </p:nvSpPr>
        <p:spPr>
          <a:xfrm>
            <a:off x="5891101" y="4027529"/>
            <a:ext cx="2962230" cy="338554"/>
          </a:xfrm>
          <a:prstGeom prst="rect">
            <a:avLst/>
          </a:prstGeom>
          <a:noFill/>
          <a:ln>
            <a:noFill/>
          </a:ln>
        </p:spPr>
        <p:txBody>
          <a:bodyPr vert="horz" wrap="square" lIns="91440" tIns="45720" rIns="91440" bIns="45720" anchor="b">
            <a:spAutoFit/>
          </a:bodyPr>
          <a:lstStyle/>
          <a:p>
            <a:pPr marL="0" algn="l"/>
            <a:r>
              <a:rPr lang="zh-CN" altLang="en-US" sz="1600" b="1" i="0" u="none" baseline="0">
                <a:solidFill>
                  <a:schemeClr val="lt1"/>
                </a:solidFill>
                <a:latin typeface="微软雅黑"/>
                <a:ea typeface="微软雅黑"/>
              </a:rPr>
              <a:t>Strategic Recommendation</a:t>
            </a:r>
          </a:p>
        </p:txBody>
      </p:sp>
      <p:sp>
        <p:nvSpPr>
          <p:cNvPr id="9" name="AutoShape 9"/>
          <p:cNvSpPr/>
          <p:nvPr/>
        </p:nvSpPr>
        <p:spPr>
          <a:xfrm>
            <a:off x="8393148" y="1773658"/>
            <a:ext cx="2962230" cy="1185324"/>
          </a:xfrm>
          <a:prstGeom prst="rect">
            <a:avLst/>
          </a:prstGeom>
          <a:noFill/>
          <a:ln>
            <a:noFill/>
          </a:ln>
        </p:spPr>
        <p:txBody>
          <a:bodyPr vert="horz" wrap="square" lIns="91440" tIns="45720" rIns="91440" bIns="45720" anchor="t">
            <a:spAutoFit/>
          </a:bodyPr>
          <a:lstStyle/>
          <a:p>
            <a:pPr marL="0" algn="just">
              <a:lnSpc>
                <a:spcPct val="130000"/>
              </a:lnSpc>
            </a:pPr>
            <a:r>
              <a:rPr lang="zh-CN" altLang="en-US" sz="1400" b="0" i="0" u="none" baseline="0" dirty="0">
                <a:solidFill>
                  <a:schemeClr val="tx1"/>
                </a:solidFill>
                <a:latin typeface="微软雅黑"/>
                <a:ea typeface="微软雅黑"/>
              </a:rPr>
              <a:t>City Hotel shows a 41.7% cancellation rate versus 27.8% for Resort Hotel, a difference of 13.9 percentage points.</a:t>
            </a:r>
          </a:p>
        </p:txBody>
      </p:sp>
      <p:sp>
        <p:nvSpPr>
          <p:cNvPr id="10" name="AutoShape 10"/>
          <p:cNvSpPr/>
          <p:nvPr/>
        </p:nvSpPr>
        <p:spPr>
          <a:xfrm>
            <a:off x="5891101" y="4349552"/>
            <a:ext cx="2962230" cy="1465401"/>
          </a:xfrm>
          <a:prstGeom prst="rect">
            <a:avLst/>
          </a:prstGeom>
          <a:noFill/>
          <a:ln>
            <a:noFill/>
          </a:ln>
        </p:spPr>
        <p:txBody>
          <a:bodyPr vert="horz" wrap="square" lIns="91440" tIns="45720" rIns="91440" bIns="45720" anchor="t">
            <a:spAutoFit/>
          </a:bodyPr>
          <a:lstStyle/>
          <a:p>
            <a:pPr marL="0" algn="just">
              <a:lnSpc>
                <a:spcPct val="130000"/>
              </a:lnSpc>
            </a:pPr>
            <a:r>
              <a:rPr lang="zh-CN" altLang="en-US" sz="1400" b="0" i="0" u="none" baseline="0" dirty="0">
                <a:solidFill>
                  <a:schemeClr val="bg1"/>
                </a:solidFill>
                <a:latin typeface="微软雅黑"/>
                <a:ea typeface="微软雅黑"/>
              </a:rPr>
              <a:t>City Hotel should receive greater attention in cancellation policy design, booking confirmation, deposit strategies, and overbooking/risk planning.</a:t>
            </a:r>
          </a:p>
        </p:txBody>
      </p:sp>
      <p:pic>
        <p:nvPicPr>
          <p:cNvPr id="11" name="image3.jpeg"/>
          <p:cNvPicPr>
            <a:picLocks noChangeAspect="1"/>
          </p:cNvPicPr>
          <p:nvPr/>
        </p:nvPicPr>
        <p:blipFill>
          <a:blip r:embed="rId4"/>
          <a:srcRect l="12500" t="1962" r="12500" b="1962"/>
          <a:stretch>
            <a:fillRect/>
          </a:stretch>
        </p:blipFill>
        <p:spPr>
          <a:xfrm>
            <a:off x="851249" y="1763944"/>
            <a:ext cx="4487266" cy="3896925"/>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0"/>
            <a:ext cx="10858500" cy="1028700"/>
          </a:xfrm>
        </p:spPr>
        <p:txBody>
          <a:bodyPr vert="horz" lIns="91440" tIns="45720" rIns="91440" bIns="45720" anchor="b">
            <a:normAutofit/>
          </a:bodyPr>
          <a:lstStyle/>
          <a:p>
            <a:pPr algn="l">
              <a:lnSpc>
                <a:spcPct val="90000"/>
              </a:lnSpc>
              <a:spcBef>
                <a:spcPct val="0"/>
              </a:spcBef>
            </a:pPr>
            <a:r>
              <a:rPr lang="zh-CN" altLang="en-US" sz="2800" b="1" i="0" u="none" baseline="0">
                <a:solidFill>
                  <a:schemeClr val="tx1"/>
                </a:solidFill>
                <a:latin typeface="微软雅黑"/>
                <a:ea typeface="微软雅黑"/>
              </a:rPr>
              <a:t>Stay Duration Analysis</a:t>
            </a:r>
          </a:p>
        </p:txBody>
      </p:sp>
      <p:sp>
        <p:nvSpPr>
          <p:cNvPr id="3" name="AutoShape 3"/>
          <p:cNvSpPr/>
          <p:nvPr/>
        </p:nvSpPr>
        <p:spPr>
          <a:xfrm>
            <a:off x="5755831" y="1133474"/>
            <a:ext cx="2365200" cy="2364791"/>
          </a:xfrm>
          <a:prstGeom prst="rect">
            <a:avLst/>
          </a:prstGeom>
          <a:blipFill>
            <a:blip r:embed="rId2">
              <a:duotone>
                <a:prstClr val="black"/>
                <a:schemeClr val="accent5">
                  <a:satMod val="400000"/>
                  <a:tint val="45000"/>
                </a:schemeClr>
              </a:duotone>
            </a:blip>
            <a:stretch>
              <a:fillRect l="-25150" r="-24883"/>
            </a:stretch>
          </a:blipFill>
          <a:ln>
            <a:noFill/>
          </a:ln>
          <a:effectLst/>
        </p:spPr>
        <p:txBody>
          <a:bodyPr rot="0" vert="horz" wrap="square" lIns="91440" tIns="45720" rIns="91440" bIns="45720" anchor="t">
            <a:prstTxWarp prst="textNoShape">
              <a:avLst/>
            </a:prstTxWarp>
            <a:noAutofit/>
          </a:bodyPr>
          <a:lstStyle/>
          <a:p>
            <a:pPr marL="0" algn="ctr"/>
            <a:endParaRPr/>
          </a:p>
        </p:txBody>
      </p:sp>
      <p:sp>
        <p:nvSpPr>
          <p:cNvPr id="4" name="AutoShape 4"/>
          <p:cNvSpPr/>
          <p:nvPr/>
        </p:nvSpPr>
        <p:spPr>
          <a:xfrm>
            <a:off x="8121030" y="1133474"/>
            <a:ext cx="3399457" cy="2364791"/>
          </a:xfrm>
          <a:prstGeom prst="rect">
            <a:avLst/>
          </a:prstGeom>
          <a:solidFill>
            <a:schemeClr val="tx2">
              <a:alpha val="15000"/>
            </a:schemeClr>
          </a:solidFill>
          <a:ln>
            <a:noFill/>
          </a:ln>
        </p:spPr>
        <p:txBody>
          <a:bodyPr vert="horz" lIns="396000" tIns="576000" rIns="91440" bIns="45720" anchor="ctr">
            <a:normAutofit/>
          </a:bodyPr>
          <a:lstStyle/>
          <a:p>
            <a:pPr marL="0" algn="l">
              <a:lnSpc>
                <a:spcPct val="130000"/>
              </a:lnSpc>
            </a:pPr>
            <a:endParaRPr/>
          </a:p>
        </p:txBody>
      </p:sp>
      <p:sp>
        <p:nvSpPr>
          <p:cNvPr id="5" name="AutoShape 5"/>
          <p:cNvSpPr/>
          <p:nvPr/>
        </p:nvSpPr>
        <p:spPr>
          <a:xfrm>
            <a:off x="8393148" y="1425390"/>
            <a:ext cx="2962230" cy="338554"/>
          </a:xfrm>
          <a:prstGeom prst="rect">
            <a:avLst/>
          </a:prstGeom>
          <a:noFill/>
          <a:ln>
            <a:noFill/>
          </a:ln>
        </p:spPr>
        <p:txBody>
          <a:bodyPr vert="horz" wrap="square" lIns="91440" tIns="45720" rIns="91440" bIns="45720" anchor="b">
            <a:spAutoFit/>
          </a:bodyPr>
          <a:lstStyle/>
          <a:p>
            <a:pPr marL="0" algn="l"/>
            <a:r>
              <a:rPr lang="zh-CN" altLang="en-US" sz="1600" b="1" i="0" u="none" baseline="0">
                <a:solidFill>
                  <a:schemeClr val="tx1"/>
                </a:solidFill>
                <a:latin typeface="微软雅黑"/>
                <a:ea typeface="微软雅黑"/>
              </a:rPr>
              <a:t>Analytical Approach</a:t>
            </a:r>
          </a:p>
        </p:txBody>
      </p:sp>
      <p:sp>
        <p:nvSpPr>
          <p:cNvPr id="6" name="AutoShape 6"/>
          <p:cNvSpPr/>
          <p:nvPr/>
        </p:nvSpPr>
        <p:spPr>
          <a:xfrm>
            <a:off x="9048299" y="3772484"/>
            <a:ext cx="2472187" cy="2364791"/>
          </a:xfrm>
          <a:prstGeom prst="rect">
            <a:avLst/>
          </a:prstGeom>
          <a:blipFill>
            <a:blip r:embed="rId3">
              <a:duotone>
                <a:prstClr val="black"/>
                <a:schemeClr val="accent5">
                  <a:satMod val="400000"/>
                  <a:tint val="45000"/>
                </a:schemeClr>
              </a:duotone>
            </a:blip>
            <a:stretch>
              <a:fillRect l="-21882" r="-21658"/>
            </a:stretch>
          </a:blipFill>
          <a:ln>
            <a:noFill/>
          </a:ln>
          <a:effectLst/>
        </p:spPr>
        <p:txBody>
          <a:bodyPr rot="0" vert="horz" wrap="square" lIns="91440" tIns="45720" rIns="91440" bIns="45720" anchor="t">
            <a:prstTxWarp prst="textNoShape">
              <a:avLst/>
            </a:prstTxWarp>
            <a:noAutofit/>
          </a:bodyPr>
          <a:lstStyle/>
          <a:p>
            <a:pPr marL="0" algn="ctr"/>
            <a:endParaRPr/>
          </a:p>
        </p:txBody>
      </p:sp>
      <p:sp>
        <p:nvSpPr>
          <p:cNvPr id="7" name="AutoShape 7"/>
          <p:cNvSpPr/>
          <p:nvPr/>
        </p:nvSpPr>
        <p:spPr>
          <a:xfrm>
            <a:off x="5755831" y="3772484"/>
            <a:ext cx="3292469" cy="2364791"/>
          </a:xfrm>
          <a:prstGeom prst="rect">
            <a:avLst/>
          </a:prstGeom>
          <a:solidFill>
            <a:schemeClr val="accent1"/>
          </a:solidFill>
          <a:ln>
            <a:noFill/>
          </a:ln>
        </p:spPr>
        <p:txBody>
          <a:bodyPr vert="horz" lIns="0" tIns="576000" rIns="396000" bIns="45720" anchor="ctr">
            <a:normAutofit/>
          </a:bodyPr>
          <a:lstStyle/>
          <a:p>
            <a:pPr marL="0" algn="r">
              <a:lnSpc>
                <a:spcPct val="130000"/>
              </a:lnSpc>
            </a:pPr>
            <a:endParaRPr/>
          </a:p>
        </p:txBody>
      </p:sp>
      <p:sp>
        <p:nvSpPr>
          <p:cNvPr id="8" name="AutoShape 8"/>
          <p:cNvSpPr/>
          <p:nvPr/>
        </p:nvSpPr>
        <p:spPr>
          <a:xfrm>
            <a:off x="5891101" y="4027529"/>
            <a:ext cx="2962230" cy="338554"/>
          </a:xfrm>
          <a:prstGeom prst="rect">
            <a:avLst/>
          </a:prstGeom>
          <a:noFill/>
          <a:ln>
            <a:noFill/>
          </a:ln>
        </p:spPr>
        <p:txBody>
          <a:bodyPr vert="horz" wrap="square" lIns="91440" tIns="45720" rIns="91440" bIns="45720" anchor="b">
            <a:spAutoFit/>
          </a:bodyPr>
          <a:lstStyle/>
          <a:p>
            <a:pPr marL="0" algn="l"/>
            <a:r>
              <a:rPr lang="zh-CN" altLang="en-US" sz="1600" b="1" i="0" u="none" baseline="0">
                <a:solidFill>
                  <a:schemeClr val="lt1"/>
                </a:solidFill>
                <a:latin typeface="微软雅黑"/>
                <a:ea typeface="微软雅黑"/>
              </a:rPr>
              <a:t>Presentation Note</a:t>
            </a:r>
          </a:p>
        </p:txBody>
      </p:sp>
      <p:sp>
        <p:nvSpPr>
          <p:cNvPr id="9" name="AutoShape 9"/>
          <p:cNvSpPr/>
          <p:nvPr/>
        </p:nvSpPr>
        <p:spPr>
          <a:xfrm>
            <a:off x="8393148" y="1773658"/>
            <a:ext cx="2962230" cy="1745093"/>
          </a:xfrm>
          <a:prstGeom prst="rect">
            <a:avLst/>
          </a:prstGeom>
          <a:noFill/>
          <a:ln>
            <a:noFill/>
          </a:ln>
        </p:spPr>
        <p:txBody>
          <a:bodyPr vert="horz" wrap="square" lIns="91440" tIns="45720" rIns="91440" bIns="45720" anchor="t">
            <a:spAutoFit/>
          </a:bodyPr>
          <a:lstStyle/>
          <a:p>
            <a:pPr marL="0" algn="just">
              <a:lnSpc>
                <a:spcPct val="130000"/>
              </a:lnSpc>
            </a:pPr>
            <a:r>
              <a:rPr lang="zh-CN" altLang="en-US" sz="1400" b="0" i="0" u="none" baseline="0" dirty="0">
                <a:solidFill>
                  <a:schemeClr val="tx1"/>
                </a:solidFill>
                <a:latin typeface="微软雅黑"/>
                <a:ea typeface="微软雅黑"/>
              </a:rPr>
              <a:t>Cancellation rates are compared across short, medium, and long stay segments, assessed separately for City and Resort Hotels due to their differing overall cancellation profiles.</a:t>
            </a:r>
          </a:p>
        </p:txBody>
      </p:sp>
      <p:sp>
        <p:nvSpPr>
          <p:cNvPr id="10" name="AutoShape 10"/>
          <p:cNvSpPr/>
          <p:nvPr/>
        </p:nvSpPr>
        <p:spPr>
          <a:xfrm>
            <a:off x="5891101" y="4349552"/>
            <a:ext cx="2962230" cy="2025555"/>
          </a:xfrm>
          <a:prstGeom prst="rect">
            <a:avLst/>
          </a:prstGeom>
          <a:noFill/>
          <a:ln>
            <a:noFill/>
          </a:ln>
        </p:spPr>
        <p:txBody>
          <a:bodyPr vert="horz" wrap="square" lIns="91440" tIns="45720" rIns="91440" bIns="45720" anchor="t">
            <a:spAutoFit/>
          </a:bodyPr>
          <a:lstStyle/>
          <a:p>
            <a:pPr marL="0" algn="just">
              <a:lnSpc>
                <a:spcPct val="130000"/>
              </a:lnSpc>
            </a:pPr>
            <a:r>
              <a:rPr lang="zh-CN" altLang="en-US" sz="1400" b="0" i="0" u="none" baseline="0" dirty="0">
                <a:solidFill>
                  <a:schemeClr val="bg1"/>
                </a:solidFill>
                <a:latin typeface="微软雅黑"/>
                <a:ea typeface="微软雅黑"/>
              </a:rPr>
              <a:t>The relationship between stay duration and cancellation should be presented strictly according to what the visualization demonstrates, without overstating causal claims.</a:t>
            </a:r>
          </a:p>
        </p:txBody>
      </p:sp>
      <p:pic>
        <p:nvPicPr>
          <p:cNvPr id="11" name="image3.jpeg"/>
          <p:cNvPicPr>
            <a:picLocks noChangeAspect="1"/>
          </p:cNvPicPr>
          <p:nvPr/>
        </p:nvPicPr>
        <p:blipFill>
          <a:blip r:embed="rId4"/>
          <a:srcRect l="12500" t="1962" r="12500" b="1962"/>
          <a:stretch>
            <a:fillRect/>
          </a:stretch>
        </p:blipFill>
        <p:spPr>
          <a:xfrm>
            <a:off x="851249" y="1763944"/>
            <a:ext cx="4487266" cy="3896925"/>
          </a:xfrm>
          <a:prstGeom prst="rect">
            <a:avLst/>
          </a:prstGeom>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p:nvPr/>
        </p:nvSpPr>
        <p:spPr>
          <a:xfrm>
            <a:off x="254000" y="254000"/>
            <a:ext cx="11684000" cy="650240"/>
          </a:xfrm>
          <a:prstGeom prst="rect">
            <a:avLst/>
          </a:prstGeom>
          <a:noFill/>
        </p:spPr>
        <p:txBody>
          <a:bodyPr vert="horz" wrap="none" lIns="91440" tIns="45720" rIns="91440" bIns="45720" anchor="ctr">
            <a:noAutofit/>
          </a:bodyPr>
          <a:lstStyle/>
          <a:p>
            <a:pPr marL="0" indent="0" algn="l"/>
            <a:r>
              <a:rPr lang="en-US" sz="4500" b="1" i="0" u="none" spc="-137" baseline="0">
                <a:solidFill>
                  <a:srgbClr val="000000"/>
                </a:solidFill>
                <a:latin typeface="Arial"/>
                <a:ea typeface="Arial"/>
              </a:rPr>
              <a:t>Lead Time as a Cancellation Risk Indicator</a:t>
            </a:r>
          </a:p>
        </p:txBody>
      </p:sp>
      <p:sp>
        <p:nvSpPr>
          <p:cNvPr id="3" name="AutoShape 3"/>
          <p:cNvSpPr/>
          <p:nvPr/>
        </p:nvSpPr>
        <p:spPr>
          <a:xfrm>
            <a:off x="254000" y="967740"/>
            <a:ext cx="11684000" cy="650240"/>
          </a:xfrm>
          <a:prstGeom prst="rect">
            <a:avLst/>
          </a:prstGeom>
          <a:noFill/>
        </p:spPr>
        <p:txBody>
          <a:bodyPr vert="horz" wrap="none" lIns="91440" tIns="45720" rIns="91440" bIns="45720" anchor="ctr">
            <a:noAutofit/>
          </a:bodyPr>
          <a:lstStyle/>
          <a:p>
            <a:pPr marL="0" indent="0" algn="l"/>
            <a:r>
              <a:rPr lang="en-US" sz="2600" b="1" i="0" u="none" spc="-82" baseline="0">
                <a:solidFill>
                  <a:schemeClr val="accent1"/>
                </a:solidFill>
                <a:latin typeface="Arial"/>
                <a:ea typeface="Arial"/>
              </a:rPr>
              <a:t>Cancellation Rate by Lead Time</a:t>
            </a:r>
          </a:p>
        </p:txBody>
      </p:sp>
      <p:graphicFrame>
        <p:nvGraphicFramePr>
          <p:cNvPr id="4" name="Table 4"/>
          <p:cNvGraphicFramePr>
            <a:graphicFrameLocks noGrp="1"/>
          </p:cNvGraphicFramePr>
          <p:nvPr/>
        </p:nvGraphicFramePr>
        <p:xfrm>
          <a:off x="914400" y="1808480"/>
          <a:ext cx="10363200" cy="2590800"/>
        </p:xfrm>
        <a:graphic>
          <a:graphicData uri="http://schemas.openxmlformats.org/drawingml/2006/table">
            <a:tbl>
              <a:tblPr/>
              <a:tblGrid>
                <a:gridCol w="4526622"/>
                <a:gridCol w="5836578"/>
              </a:tblGrid>
              <a:tr h="431800">
                <a:tc>
                  <a:txBody>
                    <a:bodyPr/>
                    <a:lstStyle/>
                    <a:p>
                      <a:pPr marL="0" algn="l"/>
                      <a:r>
                        <a:rPr lang="en-US" sz="1800" b="1" i="0" u="none" baseline="0">
                          <a:solidFill>
                            <a:srgbClr val="FFFFFF"/>
                          </a:solidFill>
                          <a:latin typeface="Arial"/>
                          <a:ea typeface="Arial"/>
                        </a:rPr>
                        <a:t>Lead Time</a:t>
                      </a:r>
                    </a:p>
                  </a:txBody>
                  <a:tcPr anchor="ctr">
                    <a:lnL>
                      <a:noFill/>
                    </a:lnL>
                    <a:lnR>
                      <a:noFill/>
                    </a:lnR>
                    <a:lnT>
                      <a:noFill/>
                    </a:lnT>
                    <a:lnB>
                      <a:noFill/>
                    </a:lnB>
                    <a:solidFill>
                      <a:schemeClr val="accent1"/>
                    </a:solidFill>
                  </a:tcPr>
                </a:tc>
                <a:tc>
                  <a:txBody>
                    <a:bodyPr/>
                    <a:lstStyle/>
                    <a:p>
                      <a:pPr marL="0" algn="l"/>
                      <a:r>
                        <a:rPr lang="en-US" sz="1800" b="1" i="0" u="none" baseline="0">
                          <a:solidFill>
                            <a:srgbClr val="FFFFFF"/>
                          </a:solidFill>
                          <a:latin typeface="Arial"/>
                          <a:ea typeface="Arial"/>
                        </a:rPr>
                        <a:t>Cancellation Rate</a:t>
                      </a:r>
                    </a:p>
                  </a:txBody>
                  <a:tcPr anchor="ctr">
                    <a:lnL>
                      <a:noFill/>
                    </a:lnL>
                    <a:lnR>
                      <a:noFill/>
                    </a:lnR>
                    <a:lnT>
                      <a:noFill/>
                    </a:lnT>
                    <a:lnB>
                      <a:noFill/>
                    </a:lnB>
                    <a:solidFill>
                      <a:schemeClr val="accent1"/>
                    </a:solidFill>
                  </a:tcPr>
                </a:tc>
              </a:tr>
              <a:tr h="431800">
                <a:tc>
                  <a:txBody>
                    <a:bodyPr/>
                    <a:lstStyle/>
                    <a:p>
                      <a:pPr marL="0" algn="l"/>
                      <a:r>
                        <a:rPr lang="en-US" sz="1800" b="0" i="0" u="none" baseline="0">
                          <a:solidFill>
                            <a:srgbClr val="000000"/>
                          </a:solidFill>
                          <a:latin typeface="Arial"/>
                          <a:ea typeface="Arial"/>
                        </a:rPr>
                        <a:t>0–7 Days</a:t>
                      </a:r>
                    </a:p>
                  </a:txBody>
                  <a:tcPr anchor="ctr">
                    <a:lnL>
                      <a:noFill/>
                    </a:lnL>
                    <a:lnR>
                      <a:noFill/>
                    </a:lnR>
                    <a:lnT>
                      <a:noFill/>
                    </a:lnT>
                    <a:lnB>
                      <a:noFill/>
                    </a:lnB>
                    <a:solidFill>
                      <a:schemeClr val="accent1">
                        <a:tint val="40000"/>
                      </a:schemeClr>
                    </a:solidFill>
                  </a:tcPr>
                </a:tc>
                <a:tc>
                  <a:txBody>
                    <a:bodyPr/>
                    <a:lstStyle/>
                    <a:p>
                      <a:pPr marL="0" algn="l"/>
                      <a:r>
                        <a:rPr lang="en-US" sz="1800" b="0" i="0" u="none" baseline="0">
                          <a:solidFill>
                            <a:srgbClr val="000000"/>
                          </a:solidFill>
                          <a:latin typeface="Arial"/>
                          <a:ea typeface="Arial"/>
                        </a:rPr>
                        <a:t>9.6%</a:t>
                      </a:r>
                    </a:p>
                  </a:txBody>
                  <a:tcPr anchor="ctr">
                    <a:lnL>
                      <a:noFill/>
                    </a:lnL>
                    <a:lnR>
                      <a:noFill/>
                    </a:lnR>
                    <a:lnT>
                      <a:noFill/>
                    </a:lnT>
                    <a:lnB>
                      <a:noFill/>
                    </a:lnB>
                    <a:solidFill>
                      <a:schemeClr val="accent1">
                        <a:tint val="40000"/>
                      </a:schemeClr>
                    </a:solidFill>
                  </a:tcPr>
                </a:tc>
              </a:tr>
              <a:tr h="431800">
                <a:tc>
                  <a:txBody>
                    <a:bodyPr/>
                    <a:lstStyle/>
                    <a:p>
                      <a:pPr marL="0" algn="l"/>
                      <a:r>
                        <a:rPr lang="en-US" sz="1800" b="0" i="0" u="none" baseline="0">
                          <a:solidFill>
                            <a:srgbClr val="000000"/>
                          </a:solidFill>
                          <a:latin typeface="Arial"/>
                          <a:ea typeface="Arial"/>
                        </a:rPr>
                        <a:t>8–30 Days</a:t>
                      </a:r>
                    </a:p>
                  </a:txBody>
                  <a:tcPr anchor="ctr">
                    <a:lnL>
                      <a:noFill/>
                    </a:lnL>
                    <a:lnR>
                      <a:noFill/>
                    </a:lnR>
                    <a:lnT>
                      <a:noFill/>
                    </a:lnT>
                    <a:lnB>
                      <a:noFill/>
                    </a:lnB>
                    <a:solidFill>
                      <a:schemeClr val="accent1">
                        <a:tint val="20000"/>
                      </a:schemeClr>
                    </a:solidFill>
                  </a:tcPr>
                </a:tc>
                <a:tc>
                  <a:txBody>
                    <a:bodyPr/>
                    <a:lstStyle/>
                    <a:p>
                      <a:pPr marL="0" algn="l"/>
                      <a:r>
                        <a:rPr lang="en-US" sz="1800" b="0" i="0" u="none" baseline="0">
                          <a:solidFill>
                            <a:srgbClr val="000000"/>
                          </a:solidFill>
                          <a:latin typeface="Arial"/>
                          <a:ea typeface="Arial"/>
                        </a:rPr>
                        <a:t>27.9%</a:t>
                      </a:r>
                    </a:p>
                  </a:txBody>
                  <a:tcPr anchor="ctr">
                    <a:lnL>
                      <a:noFill/>
                    </a:lnL>
                    <a:lnR>
                      <a:noFill/>
                    </a:lnR>
                    <a:lnT>
                      <a:noFill/>
                    </a:lnT>
                    <a:lnB>
                      <a:noFill/>
                    </a:lnB>
                    <a:solidFill>
                      <a:schemeClr val="accent1">
                        <a:tint val="20000"/>
                      </a:schemeClr>
                    </a:solidFill>
                  </a:tcPr>
                </a:tc>
              </a:tr>
              <a:tr h="431800">
                <a:tc>
                  <a:txBody>
                    <a:bodyPr/>
                    <a:lstStyle/>
                    <a:p>
                      <a:pPr marL="0" algn="l"/>
                      <a:r>
                        <a:rPr lang="en-US" sz="1800" b="0" i="0" u="none" baseline="0">
                          <a:solidFill>
                            <a:srgbClr val="000000"/>
                          </a:solidFill>
                          <a:latin typeface="Arial"/>
                          <a:ea typeface="Arial"/>
                        </a:rPr>
                        <a:t>31–90 Days</a:t>
                      </a:r>
                    </a:p>
                  </a:txBody>
                  <a:tcPr anchor="ctr">
                    <a:lnL>
                      <a:noFill/>
                    </a:lnL>
                    <a:lnR>
                      <a:noFill/>
                    </a:lnR>
                    <a:lnT>
                      <a:noFill/>
                    </a:lnT>
                    <a:lnB>
                      <a:noFill/>
                    </a:lnB>
                    <a:solidFill>
                      <a:schemeClr val="accent1">
                        <a:tint val="40000"/>
                      </a:schemeClr>
                    </a:solidFill>
                  </a:tcPr>
                </a:tc>
                <a:tc>
                  <a:txBody>
                    <a:bodyPr/>
                    <a:lstStyle/>
                    <a:p>
                      <a:pPr marL="0" algn="l"/>
                      <a:r>
                        <a:rPr lang="en-US" sz="1800" b="0" i="0" u="none" baseline="0">
                          <a:solidFill>
                            <a:srgbClr val="000000"/>
                          </a:solidFill>
                          <a:latin typeface="Arial"/>
                          <a:ea typeface="Arial"/>
                        </a:rPr>
                        <a:t>37.7%</a:t>
                      </a:r>
                    </a:p>
                  </a:txBody>
                  <a:tcPr anchor="ctr">
                    <a:lnL>
                      <a:noFill/>
                    </a:lnL>
                    <a:lnR>
                      <a:noFill/>
                    </a:lnR>
                    <a:lnT>
                      <a:noFill/>
                    </a:lnT>
                    <a:lnB>
                      <a:noFill/>
                    </a:lnB>
                    <a:solidFill>
                      <a:schemeClr val="accent1">
                        <a:tint val="40000"/>
                      </a:schemeClr>
                    </a:solidFill>
                  </a:tcPr>
                </a:tc>
              </a:tr>
              <a:tr h="431800">
                <a:tc>
                  <a:txBody>
                    <a:bodyPr/>
                    <a:lstStyle/>
                    <a:p>
                      <a:pPr marL="0" algn="l"/>
                      <a:r>
                        <a:rPr lang="en-US" sz="1800" b="0" i="0" u="none" baseline="0">
                          <a:solidFill>
                            <a:srgbClr val="000000"/>
                          </a:solidFill>
                          <a:latin typeface="Arial"/>
                          <a:ea typeface="Arial"/>
                        </a:rPr>
                        <a:t>91–180 Days</a:t>
                      </a:r>
                    </a:p>
                  </a:txBody>
                  <a:tcPr anchor="ctr">
                    <a:lnL>
                      <a:noFill/>
                    </a:lnL>
                    <a:lnR>
                      <a:noFill/>
                    </a:lnR>
                    <a:lnT>
                      <a:noFill/>
                    </a:lnT>
                    <a:lnB>
                      <a:noFill/>
                    </a:lnB>
                    <a:solidFill>
                      <a:schemeClr val="accent1">
                        <a:tint val="20000"/>
                      </a:schemeClr>
                    </a:solidFill>
                  </a:tcPr>
                </a:tc>
                <a:tc>
                  <a:txBody>
                    <a:bodyPr/>
                    <a:lstStyle/>
                    <a:p>
                      <a:pPr marL="0" algn="l"/>
                      <a:r>
                        <a:rPr lang="en-US" sz="1800" b="0" i="0" u="none" baseline="0">
                          <a:solidFill>
                            <a:srgbClr val="000000"/>
                          </a:solidFill>
                          <a:latin typeface="Arial"/>
                          <a:ea typeface="Arial"/>
                        </a:rPr>
                        <a:t>44.7%</a:t>
                      </a:r>
                    </a:p>
                  </a:txBody>
                  <a:tcPr anchor="ctr">
                    <a:lnL>
                      <a:noFill/>
                    </a:lnL>
                    <a:lnR>
                      <a:noFill/>
                    </a:lnR>
                    <a:lnT>
                      <a:noFill/>
                    </a:lnT>
                    <a:lnB>
                      <a:noFill/>
                    </a:lnB>
                    <a:solidFill>
                      <a:schemeClr val="accent1">
                        <a:tint val="20000"/>
                      </a:schemeClr>
                    </a:solidFill>
                  </a:tcPr>
                </a:tc>
              </a:tr>
              <a:tr h="431800">
                <a:tc>
                  <a:txBody>
                    <a:bodyPr/>
                    <a:lstStyle/>
                    <a:p>
                      <a:pPr marL="0" algn="l"/>
                      <a:r>
                        <a:rPr lang="en-US" sz="1800" b="0" i="0" u="none" baseline="0">
                          <a:solidFill>
                            <a:srgbClr val="000000"/>
                          </a:solidFill>
                          <a:latin typeface="Arial"/>
                          <a:ea typeface="Arial"/>
                        </a:rPr>
                        <a:t>180+ Days</a:t>
                      </a:r>
                    </a:p>
                  </a:txBody>
                  <a:tcPr anchor="ctr">
                    <a:lnL>
                      <a:noFill/>
                    </a:lnL>
                    <a:lnR>
                      <a:noFill/>
                    </a:lnR>
                    <a:lnT>
                      <a:noFill/>
                    </a:lnT>
                    <a:lnB>
                      <a:noFill/>
                    </a:lnB>
                    <a:solidFill>
                      <a:schemeClr val="accent1">
                        <a:tint val="40000"/>
                      </a:schemeClr>
                    </a:solidFill>
                  </a:tcPr>
                </a:tc>
                <a:tc>
                  <a:txBody>
                    <a:bodyPr/>
                    <a:lstStyle/>
                    <a:p>
                      <a:pPr marL="0" algn="l"/>
                      <a:r>
                        <a:rPr lang="en-US" sz="1800" b="0" i="0" u="none" baseline="0">
                          <a:solidFill>
                            <a:srgbClr val="000000"/>
                          </a:solidFill>
                          <a:latin typeface="Arial"/>
                          <a:ea typeface="Arial"/>
                        </a:rPr>
                        <a:t>57.0%</a:t>
                      </a:r>
                    </a:p>
                  </a:txBody>
                  <a:tcPr anchor="ctr">
                    <a:lnL>
                      <a:noFill/>
                    </a:lnL>
                    <a:lnR>
                      <a:noFill/>
                    </a:lnR>
                    <a:lnT>
                      <a:noFill/>
                    </a:lnT>
                    <a:lnB>
                      <a:noFill/>
                    </a:lnB>
                    <a:solidFill>
                      <a:schemeClr val="accent1">
                        <a:tint val="40000"/>
                      </a:schemeClr>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grpSp>
        <p:nvGrpSpPr>
          <p:cNvPr id="2" name="Group 2"/>
          <p:cNvGrpSpPr/>
          <p:nvPr/>
        </p:nvGrpSpPr>
        <p:grpSpPr>
          <a:xfrm>
            <a:off x="2036182" y="1933389"/>
            <a:ext cx="8933682" cy="4111811"/>
            <a:chOff x="1710348" y="1055077"/>
            <a:chExt cx="9448800" cy="4853354"/>
          </a:xfrm>
          <a:solidFill>
            <a:schemeClr val="accent1"/>
          </a:solidFill>
        </p:grpSpPr>
        <p:sp>
          <p:nvSpPr>
            <p:cNvPr id="3" name="AutoShape 3"/>
            <p:cNvSpPr/>
            <p:nvPr/>
          </p:nvSpPr>
          <p:spPr>
            <a:xfrm>
              <a:off x="1710348" y="1055077"/>
              <a:ext cx="9448800" cy="4853354"/>
            </a:xfrm>
            <a:prstGeom prst="rect">
              <a:avLst/>
            </a:prstGeom>
            <a:grpFill/>
            <a:ln>
              <a:noFill/>
            </a:ln>
            <a:effectLst>
              <a:outerShdw blurRad="190500" dist="50800" dir="5400000" sx="101000" sy="101000" algn="ctr" rotWithShape="0">
                <a:schemeClr val="accent1">
                  <a:alpha val="32000"/>
                </a:schemeClr>
              </a:outerShdw>
            </a:effectLst>
          </p:spPr>
          <p:txBody>
            <a:bodyPr vert="horz" lIns="91440" tIns="45720" rIns="91440" bIns="45720" anchor="ctr">
              <a:spAutoFit/>
            </a:bodyPr>
            <a:lstStyle/>
            <a:p>
              <a:pPr marL="0" algn="ctr"/>
              <a:endParaRPr/>
            </a:p>
          </p:txBody>
        </p:sp>
        <p:sp>
          <p:nvSpPr>
            <p:cNvPr id="4" name="AutoShape 4"/>
            <p:cNvSpPr/>
            <p:nvPr/>
          </p:nvSpPr>
          <p:spPr>
            <a:xfrm>
              <a:off x="2732295" y="1478279"/>
              <a:ext cx="8037952" cy="4023361"/>
            </a:xfrm>
            <a:prstGeom prst="rect">
              <a:avLst/>
            </a:prstGeom>
            <a:solidFill>
              <a:schemeClr val="bg1"/>
            </a:solidFill>
            <a:ln>
              <a:solidFill>
                <a:schemeClr val="accent1"/>
              </a:solidFill>
            </a:ln>
            <a:effectLst>
              <a:outerShdw blurRad="190500" dist="50800" dir="5400000" sx="101000" sy="101000" algn="ctr" rotWithShape="0">
                <a:schemeClr val="accent1">
                  <a:alpha val="32000"/>
                </a:schemeClr>
              </a:outerShdw>
            </a:effectLst>
          </p:spPr>
          <p:txBody>
            <a:bodyPr vert="horz" lIns="91440" tIns="45720" rIns="91440" bIns="45720" anchor="ctr">
              <a:spAutoFit/>
            </a:bodyPr>
            <a:lstStyle/>
            <a:p>
              <a:pPr marL="0" algn="ctr"/>
              <a:endParaRPr/>
            </a:p>
          </p:txBody>
        </p:sp>
      </p:grpSp>
      <p:sp>
        <p:nvSpPr>
          <p:cNvPr id="5" name="AutoShape 5"/>
          <p:cNvSpPr/>
          <p:nvPr/>
        </p:nvSpPr>
        <p:spPr>
          <a:xfrm rot="5400000">
            <a:off x="1211629" y="1588283"/>
            <a:ext cx="4713688" cy="4732210"/>
          </a:xfrm>
          <a:prstGeom prst="flowChartManualInput">
            <a:avLst/>
          </a:prstGeom>
          <a:blipFill>
            <a:blip r:embed="rId2"/>
            <a:srcRect/>
            <a:tile tx="0" ty="0" sx="100000" sy="100000" algn="b"/>
          </a:blipFill>
          <a:ln>
            <a:noFill/>
          </a:ln>
          <a:effectLst>
            <a:outerShdw blurRad="190500" dist="50800" dir="5400000" sx="101000" sy="101000" algn="ctr" rotWithShape="0">
              <a:srgbClr val="2056FF">
                <a:alpha val="32000"/>
              </a:srgbClr>
            </a:outerShdw>
          </a:effectLst>
        </p:spPr>
        <p:txBody>
          <a:bodyPr vert="horz" lIns="91440" tIns="45720" rIns="91440" bIns="45720" anchor="ctr">
            <a:spAutoFit/>
          </a:bodyPr>
          <a:lstStyle/>
          <a:p>
            <a:pPr marL="0" algn="ctr"/>
            <a:endParaRPr/>
          </a:p>
        </p:txBody>
      </p:sp>
      <p:sp>
        <p:nvSpPr>
          <p:cNvPr id="6" name="TextBox 6"/>
          <p:cNvSpPr txBox="1"/>
          <p:nvPr/>
        </p:nvSpPr>
        <p:spPr>
          <a:xfrm>
            <a:off x="5890553" y="3706844"/>
            <a:ext cx="4277376" cy="1350563"/>
          </a:xfrm>
          <a:prstGeom prst="rect">
            <a:avLst/>
          </a:prstGeom>
          <a:noFill/>
        </p:spPr>
        <p:txBody>
          <a:bodyPr vert="horz" wrap="square" lIns="91440" tIns="45720" rIns="91440" bIns="45720" rtlCol="0" anchor="t">
            <a:spAutoFit/>
          </a:bodyPr>
          <a:lstStyle/>
          <a:p>
            <a:pPr marL="0" marR="0" indent="0" algn="just" fontAlgn="auto">
              <a:lnSpc>
                <a:spcPct val="150000"/>
              </a:lnSpc>
              <a:spcBef>
                <a:spcPct val="0"/>
              </a:spcBef>
              <a:spcAft>
                <a:spcPct val="0"/>
              </a:spcAft>
              <a:defRPr/>
            </a:pPr>
            <a:r>
              <a:rPr lang="zh-CN" altLang="en-US" sz="1400" b="0" i="0" u="none" baseline="0" dirty="0">
                <a:ln/>
                <a:solidFill>
                  <a:srgbClr val="000000"/>
                </a:solidFill>
                <a:effectLst/>
                <a:latin typeface="微软雅黑"/>
                <a:ea typeface="微软雅黑"/>
              </a:rPr>
              <a:t>Cancellation risk increases sharply as the booking is made further in advance, making lead time one of the strongest cancellation predictors in the dataset.</a:t>
            </a:r>
            <a:endParaRPr lang="en-US" sz="1100" dirty="0"/>
          </a:p>
        </p:txBody>
      </p:sp>
      <p:sp>
        <p:nvSpPr>
          <p:cNvPr id="7" name="AutoShape 7"/>
          <p:cNvSpPr/>
          <p:nvPr/>
        </p:nvSpPr>
        <p:spPr>
          <a:xfrm rot="5400000">
            <a:off x="1467995" y="1981776"/>
            <a:ext cx="4145579" cy="4161868"/>
          </a:xfrm>
          <a:prstGeom prst="flowChartManualInput">
            <a:avLst/>
          </a:prstGeom>
          <a:noFill/>
          <a:ln>
            <a:solidFill>
              <a:schemeClr val="accent1"/>
            </a:solidFill>
          </a:ln>
          <a:effectLst>
            <a:outerShdw blurRad="190500" dist="50800" dir="5400000" sx="101000" sy="101000" algn="ctr" rotWithShape="0">
              <a:srgbClr val="2056FF">
                <a:alpha val="32000"/>
              </a:srgbClr>
            </a:outerShdw>
          </a:effectLst>
        </p:spPr>
        <p:txBody>
          <a:bodyPr vert="horz" lIns="91440" tIns="45720" rIns="91440" bIns="45720" anchor="ctr">
            <a:spAutoFit/>
          </a:bodyPr>
          <a:lstStyle/>
          <a:p>
            <a:pPr marL="0" algn="ctr"/>
            <a:endParaRPr/>
          </a:p>
        </p:txBody>
      </p:sp>
      <p:sp>
        <p:nvSpPr>
          <p:cNvPr id="8" name="TextBox 8"/>
          <p:cNvSpPr txBox="1"/>
          <p:nvPr/>
        </p:nvSpPr>
        <p:spPr>
          <a:xfrm>
            <a:off x="5892800" y="3087512"/>
            <a:ext cx="4263018" cy="369332"/>
          </a:xfrm>
          <a:prstGeom prst="rect">
            <a:avLst/>
          </a:prstGeom>
          <a:noFill/>
        </p:spPr>
        <p:txBody>
          <a:bodyPr vert="horz" wrap="square" lIns="91440" tIns="45720" rIns="91440" bIns="45720" rtlCol="0" anchor="b">
            <a:spAutoFit/>
          </a:bodyPr>
          <a:lstStyle/>
          <a:p>
            <a:pPr marL="0" algn="l">
              <a:defRPr/>
            </a:pPr>
            <a:r>
              <a:rPr lang="zh-CN" altLang="en-US" sz="1800" b="0" i="0" u="none" baseline="0">
                <a:solidFill>
                  <a:srgbClr val="000000"/>
                </a:solidFill>
                <a:latin typeface="微软雅黑"/>
                <a:ea typeface="微软雅黑"/>
              </a:rPr>
              <a:t>Key Finding</a:t>
            </a:r>
            <a:endParaRPr lang="en-US" sz="1100"/>
          </a:p>
        </p:txBody>
      </p:sp>
      <p:cxnSp>
        <p:nvCxnSpPr>
          <p:cNvPr id="9" name="Connector 9"/>
          <p:cNvCxnSpPr/>
          <p:nvPr/>
        </p:nvCxnSpPr>
        <p:spPr>
          <a:xfrm>
            <a:off x="5986318" y="3594501"/>
            <a:ext cx="3949700" cy="0"/>
          </a:xfrm>
          <a:prstGeom prst="line">
            <a:avLst/>
          </a:prstGeom>
          <a:ln w="15875">
            <a:solidFill>
              <a:schemeClr val="accent1"/>
            </a:solidFill>
          </a:ln>
        </p:spPr>
      </p:cxnSp>
      <p:sp>
        <p:nvSpPr>
          <p:cNvPr id="10" name="AutoShape 10"/>
          <p:cNvSpPr/>
          <p:nvPr/>
        </p:nvSpPr>
        <p:spPr>
          <a:xfrm>
            <a:off x="9811794" y="603177"/>
            <a:ext cx="537138" cy="537138"/>
          </a:xfrm>
          <a:prstGeom prst="ellipse">
            <a:avLst/>
          </a:prstGeom>
          <a:solidFill>
            <a:schemeClr val="accent1"/>
          </a:solidFill>
          <a:ln>
            <a:noFill/>
          </a:ln>
          <a:effectLst>
            <a:outerShdw blurRad="190500" dist="50800" dir="5400000" sx="101000" sy="101000" algn="ctr" rotWithShape="0">
              <a:schemeClr val="accent1">
                <a:alpha val="32000"/>
              </a:schemeClr>
            </a:outerShdw>
          </a:effectLst>
        </p:spPr>
        <p:txBody>
          <a:bodyPr vert="horz" lIns="91440" tIns="45720" rIns="91440" bIns="45720" anchor="ctr">
            <a:normAutofit/>
          </a:bodyPr>
          <a:lstStyle/>
          <a:p>
            <a:pPr marL="0" algn="ctr"/>
            <a:endParaRPr/>
          </a:p>
        </p:txBody>
      </p:sp>
      <p:sp>
        <p:nvSpPr>
          <p:cNvPr id="11" name="Freeform 11"/>
          <p:cNvSpPr/>
          <p:nvPr/>
        </p:nvSpPr>
        <p:spPr>
          <a:xfrm>
            <a:off x="10216640" y="201"/>
            <a:ext cx="1975360" cy="850364"/>
          </a:xfrm>
          <a:custGeom>
            <a:avLst/>
            <a:gdLst/>
            <a:ahLst/>
            <a:cxnLst/>
            <a:rect l="l" t="t" r="r" b="b"/>
            <a:pathLst>
              <a:path w="1975360" h="850364">
                <a:moveTo>
                  <a:pt x="0" y="0"/>
                </a:moveTo>
                <a:lnTo>
                  <a:pt x="1975360" y="0"/>
                </a:lnTo>
                <a:lnTo>
                  <a:pt x="1970376" y="49444"/>
                </a:lnTo>
                <a:cubicBezTo>
                  <a:pt x="1876843" y="506528"/>
                  <a:pt x="1472415" y="850364"/>
                  <a:pt x="987680" y="850364"/>
                </a:cubicBezTo>
                <a:cubicBezTo>
                  <a:pt x="502945" y="850364"/>
                  <a:pt x="98517" y="506528"/>
                  <a:pt x="4984" y="49444"/>
                </a:cubicBezTo>
                <a:close/>
              </a:path>
            </a:pathLst>
          </a:custGeom>
          <a:solidFill>
            <a:schemeClr val="accent1"/>
          </a:solidFill>
          <a:ln>
            <a:noFill/>
          </a:ln>
          <a:effectLst>
            <a:outerShdw blurRad="190500" dist="50800" dir="5400000" sx="101000" sy="101000" algn="ctr" rotWithShape="0">
              <a:schemeClr val="accent1">
                <a:alpha val="32000"/>
              </a:schemeClr>
            </a:outerShdw>
          </a:effectLst>
        </p:spPr>
        <p:txBody>
          <a:bodyPr vert="horz" wrap="square" lIns="91440" tIns="45720" rIns="91440" bIns="45720" anchor="ctr">
            <a:noAutofit/>
          </a:bodyPr>
          <a:lstStyle/>
          <a:p>
            <a:pPr marL="0" algn="ctr"/>
            <a:endParaRPr/>
          </a:p>
        </p:txBody>
      </p:sp>
      <p:sp>
        <p:nvSpPr>
          <p:cNvPr id="12" name="TextBox 12"/>
          <p:cNvSpPr txBox="1"/>
          <p:nvPr/>
        </p:nvSpPr>
        <p:spPr>
          <a:xfrm>
            <a:off x="660400" y="0"/>
            <a:ext cx="10858500" cy="1028700"/>
          </a:xfrm>
          <a:prstGeom prst="rect">
            <a:avLst/>
          </a:prstGeom>
        </p:spPr>
        <p:txBody>
          <a:bodyPr vert="horz" lIns="91440" tIns="45720" rIns="91440" bIns="45720" rtlCol="0" anchor="b">
            <a:normAutofit/>
          </a:bodyPr>
          <a:lstStyle/>
          <a:p>
            <a:pPr marL="0" algn="l">
              <a:lnSpc>
                <a:spcPct val="90000"/>
              </a:lnSpc>
              <a:spcBef>
                <a:spcPct val="0"/>
              </a:spcBef>
              <a:defRPr/>
            </a:pPr>
            <a:r>
              <a:rPr lang="zh-CN" altLang="en-US" sz="2800" b="1" i="0" u="none" baseline="0">
                <a:solidFill>
                  <a:srgbClr val="000000"/>
                </a:solidFill>
                <a:latin typeface="微软雅黑"/>
                <a:ea typeface="微软雅黑"/>
              </a:rPr>
              <a:t>Lead Time as a Cancellation Risk Indicator</a:t>
            </a:r>
            <a:endParaRPr lang="en-US" sz="110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0"/>
            <a:ext cx="10858500" cy="1028700"/>
          </a:xfrm>
        </p:spPr>
        <p:txBody>
          <a:bodyPr vert="horz" lIns="91440" tIns="45720" rIns="91440" bIns="45720" anchor="b">
            <a:normAutofit/>
          </a:bodyPr>
          <a:lstStyle/>
          <a:p>
            <a:pPr algn="l">
              <a:lnSpc>
                <a:spcPct val="90000"/>
              </a:lnSpc>
              <a:spcBef>
                <a:spcPct val="0"/>
              </a:spcBef>
            </a:pPr>
            <a:r>
              <a:rPr lang="zh-CN" altLang="en-US" sz="2800" b="1" i="0" u="none" baseline="0">
                <a:solidFill>
                  <a:schemeClr val="tx1"/>
                </a:solidFill>
                <a:latin typeface="微软雅黑"/>
                <a:ea typeface="微软雅黑"/>
              </a:rPr>
              <a:t>Far-Ahead Bookings: Highest Risk Segment</a:t>
            </a:r>
          </a:p>
        </p:txBody>
      </p:sp>
      <p:sp>
        <p:nvSpPr>
          <p:cNvPr id="3" name="AutoShape 3"/>
          <p:cNvSpPr/>
          <p:nvPr/>
        </p:nvSpPr>
        <p:spPr>
          <a:xfrm>
            <a:off x="5755831" y="1133474"/>
            <a:ext cx="2365200" cy="2364791"/>
          </a:xfrm>
          <a:prstGeom prst="rect">
            <a:avLst/>
          </a:prstGeom>
          <a:blipFill>
            <a:blip r:embed="rId2">
              <a:duotone>
                <a:prstClr val="black"/>
                <a:schemeClr val="accent5">
                  <a:satMod val="400000"/>
                  <a:tint val="45000"/>
                </a:schemeClr>
              </a:duotone>
            </a:blip>
            <a:stretch>
              <a:fillRect l="-25150" r="-24883"/>
            </a:stretch>
          </a:blipFill>
          <a:ln>
            <a:noFill/>
          </a:ln>
          <a:effectLst/>
        </p:spPr>
        <p:txBody>
          <a:bodyPr rot="0" vert="horz" wrap="square" lIns="91440" tIns="45720" rIns="91440" bIns="45720" anchor="t">
            <a:prstTxWarp prst="textNoShape">
              <a:avLst/>
            </a:prstTxWarp>
            <a:noAutofit/>
          </a:bodyPr>
          <a:lstStyle/>
          <a:p>
            <a:pPr marL="0" algn="ctr"/>
            <a:endParaRPr/>
          </a:p>
        </p:txBody>
      </p:sp>
      <p:sp>
        <p:nvSpPr>
          <p:cNvPr id="4" name="AutoShape 4"/>
          <p:cNvSpPr/>
          <p:nvPr/>
        </p:nvSpPr>
        <p:spPr>
          <a:xfrm>
            <a:off x="8121030" y="1133474"/>
            <a:ext cx="3399457" cy="2364791"/>
          </a:xfrm>
          <a:prstGeom prst="rect">
            <a:avLst/>
          </a:prstGeom>
          <a:solidFill>
            <a:schemeClr val="tx2">
              <a:alpha val="15000"/>
            </a:schemeClr>
          </a:solidFill>
          <a:ln>
            <a:noFill/>
          </a:ln>
        </p:spPr>
        <p:txBody>
          <a:bodyPr vert="horz" lIns="396000" tIns="576000" rIns="91440" bIns="45720" anchor="ctr">
            <a:normAutofit/>
          </a:bodyPr>
          <a:lstStyle/>
          <a:p>
            <a:pPr marL="0" algn="l">
              <a:lnSpc>
                <a:spcPct val="130000"/>
              </a:lnSpc>
            </a:pPr>
            <a:endParaRPr/>
          </a:p>
        </p:txBody>
      </p:sp>
      <p:sp>
        <p:nvSpPr>
          <p:cNvPr id="5" name="AutoShape 5"/>
          <p:cNvSpPr/>
          <p:nvPr/>
        </p:nvSpPr>
        <p:spPr>
          <a:xfrm>
            <a:off x="8393148" y="1425390"/>
            <a:ext cx="2962230" cy="338554"/>
          </a:xfrm>
          <a:prstGeom prst="rect">
            <a:avLst/>
          </a:prstGeom>
          <a:noFill/>
          <a:ln>
            <a:noFill/>
          </a:ln>
        </p:spPr>
        <p:txBody>
          <a:bodyPr vert="horz" wrap="square" lIns="91440" tIns="45720" rIns="91440" bIns="45720" anchor="b">
            <a:spAutoFit/>
          </a:bodyPr>
          <a:lstStyle/>
          <a:p>
            <a:pPr marL="0" algn="l"/>
            <a:r>
              <a:rPr lang="zh-CN" altLang="en-US" sz="1600" b="1" i="0" u="none" baseline="0">
                <a:solidFill>
                  <a:schemeClr val="tx1"/>
                </a:solidFill>
                <a:latin typeface="微软雅黑"/>
                <a:ea typeface="微软雅黑"/>
              </a:rPr>
              <a:t>Risk Escalation</a:t>
            </a:r>
          </a:p>
        </p:txBody>
      </p:sp>
      <p:sp>
        <p:nvSpPr>
          <p:cNvPr id="6" name="AutoShape 6"/>
          <p:cNvSpPr/>
          <p:nvPr/>
        </p:nvSpPr>
        <p:spPr>
          <a:xfrm>
            <a:off x="9048299" y="3772484"/>
            <a:ext cx="2472187" cy="2364791"/>
          </a:xfrm>
          <a:prstGeom prst="rect">
            <a:avLst/>
          </a:prstGeom>
          <a:blipFill>
            <a:blip r:embed="rId3">
              <a:duotone>
                <a:prstClr val="black"/>
                <a:schemeClr val="accent5">
                  <a:satMod val="400000"/>
                  <a:tint val="45000"/>
                </a:schemeClr>
              </a:duotone>
            </a:blip>
            <a:stretch>
              <a:fillRect l="-21882" r="-21658"/>
            </a:stretch>
          </a:blipFill>
          <a:ln>
            <a:noFill/>
          </a:ln>
          <a:effectLst/>
        </p:spPr>
        <p:txBody>
          <a:bodyPr rot="0" vert="horz" wrap="square" lIns="91440" tIns="45720" rIns="91440" bIns="45720" anchor="t">
            <a:prstTxWarp prst="textNoShape">
              <a:avLst/>
            </a:prstTxWarp>
            <a:noAutofit/>
          </a:bodyPr>
          <a:lstStyle/>
          <a:p>
            <a:pPr marL="0" algn="ctr"/>
            <a:endParaRPr/>
          </a:p>
        </p:txBody>
      </p:sp>
      <p:sp>
        <p:nvSpPr>
          <p:cNvPr id="7" name="AutoShape 7"/>
          <p:cNvSpPr/>
          <p:nvPr/>
        </p:nvSpPr>
        <p:spPr>
          <a:xfrm>
            <a:off x="5755831" y="3772484"/>
            <a:ext cx="3292469" cy="2364791"/>
          </a:xfrm>
          <a:prstGeom prst="rect">
            <a:avLst/>
          </a:prstGeom>
          <a:solidFill>
            <a:schemeClr val="accent1"/>
          </a:solidFill>
          <a:ln>
            <a:noFill/>
          </a:ln>
        </p:spPr>
        <p:txBody>
          <a:bodyPr vert="horz" lIns="0" tIns="576000" rIns="396000" bIns="45720" anchor="ctr">
            <a:normAutofit/>
          </a:bodyPr>
          <a:lstStyle/>
          <a:p>
            <a:pPr marL="0" algn="r">
              <a:lnSpc>
                <a:spcPct val="130000"/>
              </a:lnSpc>
            </a:pPr>
            <a:endParaRPr/>
          </a:p>
        </p:txBody>
      </p:sp>
      <p:sp>
        <p:nvSpPr>
          <p:cNvPr id="8" name="AutoShape 8"/>
          <p:cNvSpPr/>
          <p:nvPr/>
        </p:nvSpPr>
        <p:spPr>
          <a:xfrm>
            <a:off x="5891101" y="4027529"/>
            <a:ext cx="2962230" cy="338554"/>
          </a:xfrm>
          <a:prstGeom prst="rect">
            <a:avLst/>
          </a:prstGeom>
          <a:noFill/>
          <a:ln>
            <a:noFill/>
          </a:ln>
        </p:spPr>
        <p:txBody>
          <a:bodyPr vert="horz" wrap="square" lIns="91440" tIns="45720" rIns="91440" bIns="45720" anchor="b">
            <a:spAutoFit/>
          </a:bodyPr>
          <a:lstStyle/>
          <a:p>
            <a:pPr marL="0" algn="l"/>
            <a:r>
              <a:rPr lang="zh-CN" altLang="en-US" sz="1600" b="1" i="0" u="none" baseline="0">
                <a:solidFill>
                  <a:schemeClr val="lt1"/>
                </a:solidFill>
                <a:latin typeface="微软雅黑"/>
                <a:ea typeface="微软雅黑"/>
              </a:rPr>
              <a:t>Business Interpretation</a:t>
            </a:r>
          </a:p>
        </p:txBody>
      </p:sp>
      <p:sp>
        <p:nvSpPr>
          <p:cNvPr id="9" name="AutoShape 9"/>
          <p:cNvSpPr/>
          <p:nvPr/>
        </p:nvSpPr>
        <p:spPr>
          <a:xfrm>
            <a:off x="8393148" y="1773658"/>
            <a:ext cx="2962230" cy="1465401"/>
          </a:xfrm>
          <a:prstGeom prst="rect">
            <a:avLst/>
          </a:prstGeom>
          <a:noFill/>
          <a:ln>
            <a:noFill/>
          </a:ln>
        </p:spPr>
        <p:txBody>
          <a:bodyPr vert="horz" wrap="square" lIns="91440" tIns="45720" rIns="91440" bIns="45720" anchor="t">
            <a:spAutoFit/>
          </a:bodyPr>
          <a:lstStyle/>
          <a:p>
            <a:pPr marL="0" algn="just">
              <a:lnSpc>
                <a:spcPct val="130000"/>
              </a:lnSpc>
            </a:pPr>
            <a:r>
              <a:rPr lang="zh-CN" altLang="en-US" sz="1400" b="0" i="0" u="none" baseline="0" dirty="0">
                <a:solidFill>
                  <a:schemeClr val="tx1"/>
                </a:solidFill>
                <a:latin typeface="微软雅黑"/>
                <a:ea typeface="微软雅黑"/>
              </a:rPr>
              <a:t>The cancellation rate rises from 9.6% to 57.0% between the shortest and longest lead-time groups—a 47.4 percentage-point increase.</a:t>
            </a:r>
          </a:p>
        </p:txBody>
      </p:sp>
      <p:sp>
        <p:nvSpPr>
          <p:cNvPr id="10" name="AutoShape 10"/>
          <p:cNvSpPr/>
          <p:nvPr/>
        </p:nvSpPr>
        <p:spPr>
          <a:xfrm>
            <a:off x="5891101" y="4349552"/>
            <a:ext cx="2962230" cy="2025555"/>
          </a:xfrm>
          <a:prstGeom prst="rect">
            <a:avLst/>
          </a:prstGeom>
          <a:noFill/>
          <a:ln>
            <a:noFill/>
          </a:ln>
        </p:spPr>
        <p:txBody>
          <a:bodyPr vert="horz" wrap="square" lIns="91440" tIns="45720" rIns="91440" bIns="45720" anchor="t">
            <a:spAutoFit/>
          </a:bodyPr>
          <a:lstStyle/>
          <a:p>
            <a:pPr marL="0" algn="just">
              <a:lnSpc>
                <a:spcPct val="130000"/>
              </a:lnSpc>
            </a:pPr>
            <a:r>
              <a:rPr lang="zh-CN" altLang="en-US" sz="1400" b="0" i="0" u="none" baseline="0" dirty="0">
                <a:solidFill>
                  <a:schemeClr val="bg1"/>
                </a:solidFill>
                <a:latin typeface="微软雅黑"/>
                <a:ea typeface="微软雅黑"/>
              </a:rPr>
              <a:t>Customers making reservations far ahead may have greater uncertainty about travel plans, more opportunities to change plans, flexible cancellation conditions, or multiple alternative bookings.</a:t>
            </a:r>
          </a:p>
        </p:txBody>
      </p:sp>
      <p:pic>
        <p:nvPicPr>
          <p:cNvPr id="11" name="image3.jpeg"/>
          <p:cNvPicPr>
            <a:picLocks noChangeAspect="1"/>
          </p:cNvPicPr>
          <p:nvPr/>
        </p:nvPicPr>
        <p:blipFill>
          <a:blip r:embed="rId4"/>
          <a:srcRect l="12500" t="1962" r="12500" b="1962"/>
          <a:stretch>
            <a:fillRect/>
          </a:stretch>
        </p:blipFill>
        <p:spPr>
          <a:xfrm>
            <a:off x="851249" y="1763944"/>
            <a:ext cx="4487266" cy="3896925"/>
          </a:xfrm>
          <a:prstGeom prst="rect">
            <a:avLst/>
          </a:prstGeom>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0"/>
            <a:ext cx="10858500" cy="1028700"/>
          </a:xfrm>
        </p:spPr>
        <p:txBody>
          <a:bodyPr vert="horz" lIns="91440" tIns="45720" rIns="91440" bIns="45720" anchor="b">
            <a:normAutofit/>
          </a:bodyPr>
          <a:lstStyle/>
          <a:p>
            <a:pPr algn="l">
              <a:lnSpc>
                <a:spcPct val="90000"/>
              </a:lnSpc>
              <a:spcBef>
                <a:spcPct val="0"/>
              </a:spcBef>
            </a:pPr>
            <a:r>
              <a:rPr lang="zh-CN" altLang="en-US" sz="2800" b="1" i="0" u="none" baseline="0">
                <a:solidFill>
                  <a:schemeClr val="tx1"/>
                </a:solidFill>
                <a:latin typeface="微软雅黑"/>
                <a:ea typeface="微软雅黑"/>
              </a:rPr>
              <a:t>Deposit Policy &amp; Cancellation Risk</a:t>
            </a:r>
          </a:p>
        </p:txBody>
      </p:sp>
      <p:sp>
        <p:nvSpPr>
          <p:cNvPr id="3" name="AutoShape 3"/>
          <p:cNvSpPr/>
          <p:nvPr/>
        </p:nvSpPr>
        <p:spPr>
          <a:xfrm>
            <a:off x="5755831" y="1133474"/>
            <a:ext cx="2365200" cy="2364791"/>
          </a:xfrm>
          <a:prstGeom prst="rect">
            <a:avLst/>
          </a:prstGeom>
          <a:blipFill>
            <a:blip r:embed="rId2">
              <a:duotone>
                <a:prstClr val="black"/>
                <a:schemeClr val="accent5">
                  <a:satMod val="400000"/>
                  <a:tint val="45000"/>
                </a:schemeClr>
              </a:duotone>
            </a:blip>
            <a:stretch>
              <a:fillRect l="-25150" r="-24883"/>
            </a:stretch>
          </a:blipFill>
          <a:ln>
            <a:noFill/>
          </a:ln>
          <a:effectLst/>
        </p:spPr>
        <p:txBody>
          <a:bodyPr rot="0" vert="horz" wrap="square" lIns="91440" tIns="45720" rIns="91440" bIns="45720" anchor="t">
            <a:prstTxWarp prst="textNoShape">
              <a:avLst/>
            </a:prstTxWarp>
            <a:noAutofit/>
          </a:bodyPr>
          <a:lstStyle/>
          <a:p>
            <a:pPr marL="0" algn="ctr"/>
            <a:endParaRPr/>
          </a:p>
        </p:txBody>
      </p:sp>
      <p:sp>
        <p:nvSpPr>
          <p:cNvPr id="4" name="AutoShape 4"/>
          <p:cNvSpPr/>
          <p:nvPr/>
        </p:nvSpPr>
        <p:spPr>
          <a:xfrm>
            <a:off x="8121030" y="1133474"/>
            <a:ext cx="3399457" cy="2364791"/>
          </a:xfrm>
          <a:prstGeom prst="rect">
            <a:avLst/>
          </a:prstGeom>
          <a:solidFill>
            <a:schemeClr val="tx2">
              <a:alpha val="15000"/>
            </a:schemeClr>
          </a:solidFill>
          <a:ln>
            <a:noFill/>
          </a:ln>
        </p:spPr>
        <p:txBody>
          <a:bodyPr vert="horz" lIns="396000" tIns="576000" rIns="91440" bIns="45720" anchor="ctr">
            <a:normAutofit/>
          </a:bodyPr>
          <a:lstStyle/>
          <a:p>
            <a:pPr marL="0" algn="l">
              <a:lnSpc>
                <a:spcPct val="130000"/>
              </a:lnSpc>
            </a:pPr>
            <a:endParaRPr/>
          </a:p>
        </p:txBody>
      </p:sp>
      <p:sp>
        <p:nvSpPr>
          <p:cNvPr id="5" name="AutoShape 5"/>
          <p:cNvSpPr/>
          <p:nvPr/>
        </p:nvSpPr>
        <p:spPr>
          <a:xfrm>
            <a:off x="8393148" y="1425390"/>
            <a:ext cx="2962230" cy="338554"/>
          </a:xfrm>
          <a:prstGeom prst="rect">
            <a:avLst/>
          </a:prstGeom>
          <a:noFill/>
          <a:ln>
            <a:noFill/>
          </a:ln>
        </p:spPr>
        <p:txBody>
          <a:bodyPr vert="horz" wrap="square" lIns="91440" tIns="45720" rIns="91440" bIns="45720" anchor="b">
            <a:spAutoFit/>
          </a:bodyPr>
          <a:lstStyle/>
          <a:p>
            <a:pPr marL="0" algn="l"/>
            <a:r>
              <a:rPr lang="zh-CN" altLang="en-US" sz="1600" b="1" i="0" u="none" baseline="0">
                <a:solidFill>
                  <a:schemeClr val="tx1"/>
                </a:solidFill>
                <a:latin typeface="微软雅黑"/>
                <a:ea typeface="微软雅黑"/>
              </a:rPr>
              <a:t>Cancellation Rate by Deposit Type</a:t>
            </a:r>
          </a:p>
        </p:txBody>
      </p:sp>
      <p:sp>
        <p:nvSpPr>
          <p:cNvPr id="6" name="AutoShape 6"/>
          <p:cNvSpPr/>
          <p:nvPr/>
        </p:nvSpPr>
        <p:spPr>
          <a:xfrm>
            <a:off x="9048299" y="3772484"/>
            <a:ext cx="2472187" cy="2364791"/>
          </a:xfrm>
          <a:prstGeom prst="rect">
            <a:avLst/>
          </a:prstGeom>
          <a:blipFill>
            <a:blip r:embed="rId3">
              <a:duotone>
                <a:prstClr val="black"/>
                <a:schemeClr val="accent5">
                  <a:satMod val="400000"/>
                  <a:tint val="45000"/>
                </a:schemeClr>
              </a:duotone>
            </a:blip>
            <a:stretch>
              <a:fillRect l="-21882" r="-21658"/>
            </a:stretch>
          </a:blipFill>
          <a:ln>
            <a:noFill/>
          </a:ln>
          <a:effectLst/>
        </p:spPr>
        <p:txBody>
          <a:bodyPr rot="0" vert="horz" wrap="square" lIns="91440" tIns="45720" rIns="91440" bIns="45720" anchor="t">
            <a:prstTxWarp prst="textNoShape">
              <a:avLst/>
            </a:prstTxWarp>
            <a:noAutofit/>
          </a:bodyPr>
          <a:lstStyle/>
          <a:p>
            <a:pPr marL="0" algn="ctr"/>
            <a:endParaRPr/>
          </a:p>
        </p:txBody>
      </p:sp>
      <p:sp>
        <p:nvSpPr>
          <p:cNvPr id="7" name="AutoShape 7"/>
          <p:cNvSpPr/>
          <p:nvPr/>
        </p:nvSpPr>
        <p:spPr>
          <a:xfrm>
            <a:off x="5755831" y="3772484"/>
            <a:ext cx="3292469" cy="2364791"/>
          </a:xfrm>
          <a:prstGeom prst="rect">
            <a:avLst/>
          </a:prstGeom>
          <a:solidFill>
            <a:schemeClr val="accent1"/>
          </a:solidFill>
          <a:ln>
            <a:noFill/>
          </a:ln>
        </p:spPr>
        <p:txBody>
          <a:bodyPr vert="horz" lIns="0" tIns="576000" rIns="396000" bIns="45720" anchor="ctr">
            <a:normAutofit/>
          </a:bodyPr>
          <a:lstStyle/>
          <a:p>
            <a:pPr marL="0" algn="r">
              <a:lnSpc>
                <a:spcPct val="130000"/>
              </a:lnSpc>
            </a:pPr>
            <a:endParaRPr/>
          </a:p>
        </p:txBody>
      </p:sp>
      <p:sp>
        <p:nvSpPr>
          <p:cNvPr id="8" name="AutoShape 8"/>
          <p:cNvSpPr/>
          <p:nvPr/>
        </p:nvSpPr>
        <p:spPr>
          <a:xfrm>
            <a:off x="5891101" y="4027529"/>
            <a:ext cx="2962230" cy="338554"/>
          </a:xfrm>
          <a:prstGeom prst="rect">
            <a:avLst/>
          </a:prstGeom>
          <a:noFill/>
          <a:ln>
            <a:noFill/>
          </a:ln>
        </p:spPr>
        <p:txBody>
          <a:bodyPr vert="horz" wrap="square" lIns="91440" tIns="45720" rIns="91440" bIns="45720" anchor="b">
            <a:spAutoFit/>
          </a:bodyPr>
          <a:lstStyle/>
          <a:p>
            <a:pPr marL="0" algn="l"/>
            <a:r>
              <a:rPr lang="zh-CN" altLang="en-US" sz="1600" b="1" i="0" u="none" baseline="0">
                <a:solidFill>
                  <a:schemeClr val="lt1"/>
                </a:solidFill>
                <a:latin typeface="微软雅黑"/>
                <a:ea typeface="微软雅黑"/>
              </a:rPr>
              <a:t>Professional Interpretation</a:t>
            </a:r>
          </a:p>
        </p:txBody>
      </p:sp>
      <p:sp>
        <p:nvSpPr>
          <p:cNvPr id="9" name="AutoShape 9"/>
          <p:cNvSpPr/>
          <p:nvPr/>
        </p:nvSpPr>
        <p:spPr>
          <a:xfrm>
            <a:off x="8393148" y="1773658"/>
            <a:ext cx="2962230" cy="1029193"/>
          </a:xfrm>
          <a:prstGeom prst="rect">
            <a:avLst/>
          </a:prstGeom>
          <a:noFill/>
          <a:ln>
            <a:noFill/>
          </a:ln>
        </p:spPr>
        <p:txBody>
          <a:bodyPr vert="horz" wrap="square" lIns="91440" tIns="45720" rIns="91440" bIns="45720" anchor="t">
            <a:spAutoFit/>
          </a:bodyPr>
          <a:lstStyle/>
          <a:p>
            <a:pPr marL="0" algn="just">
              <a:lnSpc>
                <a:spcPct val="130000"/>
              </a:lnSpc>
            </a:pPr>
            <a:r>
              <a:rPr lang="zh-CN" altLang="en-US" sz="1200" b="0" i="0" u="none" baseline="0" dirty="0">
                <a:solidFill>
                  <a:schemeClr val="tx1"/>
                </a:solidFill>
                <a:latin typeface="微软雅黑"/>
                <a:ea typeface="微软雅黑"/>
              </a:rPr>
              <a:t>The dataset shows approximately 28% cancellation for No Deposit bookings, ~100% for Non Refund, and ~22% for Refundable bookings.</a:t>
            </a:r>
          </a:p>
        </p:txBody>
      </p:sp>
      <p:sp>
        <p:nvSpPr>
          <p:cNvPr id="10" name="AutoShape 10"/>
          <p:cNvSpPr/>
          <p:nvPr/>
        </p:nvSpPr>
        <p:spPr>
          <a:xfrm>
            <a:off x="5891101" y="4349552"/>
            <a:ext cx="2962230" cy="1745093"/>
          </a:xfrm>
          <a:prstGeom prst="rect">
            <a:avLst/>
          </a:prstGeom>
          <a:noFill/>
          <a:ln>
            <a:noFill/>
          </a:ln>
        </p:spPr>
        <p:txBody>
          <a:bodyPr vert="horz" wrap="square" lIns="91440" tIns="45720" rIns="91440" bIns="45720" anchor="t">
            <a:spAutoFit/>
          </a:bodyPr>
          <a:lstStyle/>
          <a:p>
            <a:pPr marL="0" algn="just">
              <a:lnSpc>
                <a:spcPct val="130000"/>
              </a:lnSpc>
            </a:pPr>
            <a:r>
              <a:rPr lang="zh-CN" altLang="en-US" sz="1400" b="0" i="0" u="none" baseline="0" dirty="0">
                <a:solidFill>
                  <a:schemeClr val="bg1"/>
                </a:solidFill>
                <a:latin typeface="微软雅黑"/>
                <a:ea typeface="微软雅黑"/>
              </a:rPr>
              <a:t>The Non Refund ≈100% result should be presented as an unusually high cancellation rate requiring further investigation before changing policy, rather than claiming causation.</a:t>
            </a:r>
          </a:p>
        </p:txBody>
      </p:sp>
      <p:pic>
        <p:nvPicPr>
          <p:cNvPr id="11" name="image3.jpeg"/>
          <p:cNvPicPr>
            <a:picLocks noChangeAspect="1"/>
          </p:cNvPicPr>
          <p:nvPr/>
        </p:nvPicPr>
        <p:blipFill>
          <a:blip r:embed="rId4"/>
          <a:srcRect l="12500" t="1962" r="12500" b="1962"/>
          <a:stretch>
            <a:fillRect/>
          </a:stretch>
        </p:blipFill>
        <p:spPr>
          <a:xfrm>
            <a:off x="851249" y="1763944"/>
            <a:ext cx="4487266" cy="3896925"/>
          </a:xfrm>
          <a:prstGeom prst="rect">
            <a:avLst/>
          </a:prstGeom>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7024912" y="3429000"/>
            <a:ext cx="4493987" cy="646331"/>
          </a:xfrm>
        </p:spPr>
        <p:txBody>
          <a:bodyPr vert="horz" lIns="91440" tIns="45720" rIns="91440" bIns="45720" anchor="t">
            <a:normAutofit fontScale="90000"/>
          </a:bodyPr>
          <a:lstStyle/>
          <a:p>
            <a:pPr algn="r">
              <a:lnSpc>
                <a:spcPct val="90000"/>
              </a:lnSpc>
              <a:spcBef>
                <a:spcPct val="0"/>
              </a:spcBef>
            </a:pPr>
            <a:r>
              <a:rPr lang="zh-CN" altLang="en-US" sz="2854" b="1" i="0" u="none" baseline="0">
                <a:solidFill>
                  <a:srgbClr val="000000"/>
                </a:solidFill>
                <a:latin typeface="微软雅黑"/>
                <a:ea typeface="微软雅黑"/>
              </a:rPr>
              <a:t>Customer Insights &amp; Strategic Recommendations</a:t>
            </a:r>
          </a:p>
        </p:txBody>
      </p:sp>
      <p:sp>
        <p:nvSpPr>
          <p:cNvPr id="3" name="TextBox 3"/>
          <p:cNvSpPr txBox="1"/>
          <p:nvPr/>
        </p:nvSpPr>
        <p:spPr>
          <a:xfrm>
            <a:off x="7024914" y="2533370"/>
            <a:ext cx="4493986" cy="840230"/>
          </a:xfrm>
          <a:prstGeom prst="rect">
            <a:avLst/>
          </a:prstGeom>
        </p:spPr>
        <p:txBody>
          <a:bodyPr vert="horz" wrap="square" lIns="91440" tIns="45720" rIns="91440" bIns="45720" rtlCol="0" anchor="b">
            <a:spAutoFit/>
          </a:bodyPr>
          <a:lstStyle/>
          <a:p>
            <a:pPr marL="0" algn="r">
              <a:lnSpc>
                <a:spcPct val="90000"/>
              </a:lnSpc>
              <a:spcBef>
                <a:spcPct val="0"/>
              </a:spcBef>
              <a:defRPr/>
            </a:pPr>
            <a:r>
              <a:rPr lang="en-GB" sz="5400" b="1" i="0" u="none" baseline="0">
                <a:solidFill>
                  <a:srgbClr val="000000"/>
                </a:solidFill>
                <a:latin typeface="Arial"/>
                <a:ea typeface="Arial"/>
              </a:rPr>
              <a:t>05</a:t>
            </a:r>
            <a:endParaRPr lang="en-US"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0"/>
            <a:ext cx="10858500" cy="1028700"/>
          </a:xfrm>
        </p:spPr>
        <p:txBody>
          <a:bodyPr vert="horz" lIns="91440" tIns="45720" rIns="91440" bIns="45720" anchor="b">
            <a:normAutofit/>
          </a:bodyPr>
          <a:lstStyle/>
          <a:p>
            <a:pPr algn="l">
              <a:lnSpc>
                <a:spcPct val="90000"/>
              </a:lnSpc>
              <a:spcBef>
                <a:spcPct val="0"/>
              </a:spcBef>
            </a:pPr>
            <a:r>
              <a:rPr lang="zh-CN" altLang="en-US" sz="2800" b="1" i="0" u="none" baseline="0">
                <a:solidFill>
                  <a:schemeClr val="tx1"/>
                </a:solidFill>
                <a:latin typeface="微软雅黑"/>
                <a:ea typeface="微软雅黑"/>
              </a:rPr>
              <a:t>Booking Channels &amp; Market Segments</a:t>
            </a:r>
          </a:p>
        </p:txBody>
      </p:sp>
      <p:sp>
        <p:nvSpPr>
          <p:cNvPr id="3" name="AutoShape 3"/>
          <p:cNvSpPr/>
          <p:nvPr/>
        </p:nvSpPr>
        <p:spPr>
          <a:xfrm>
            <a:off x="5755831" y="1133474"/>
            <a:ext cx="2365200" cy="2364791"/>
          </a:xfrm>
          <a:prstGeom prst="rect">
            <a:avLst/>
          </a:prstGeom>
          <a:blipFill>
            <a:blip r:embed="rId2">
              <a:duotone>
                <a:prstClr val="black"/>
                <a:schemeClr val="accent5">
                  <a:satMod val="400000"/>
                  <a:tint val="45000"/>
                </a:schemeClr>
              </a:duotone>
            </a:blip>
            <a:stretch>
              <a:fillRect l="-25150" r="-24883"/>
            </a:stretch>
          </a:blipFill>
          <a:ln>
            <a:noFill/>
          </a:ln>
          <a:effectLst/>
        </p:spPr>
        <p:txBody>
          <a:bodyPr rot="0" vert="horz" wrap="square" lIns="91440" tIns="45720" rIns="91440" bIns="45720" anchor="t">
            <a:prstTxWarp prst="textNoShape">
              <a:avLst/>
            </a:prstTxWarp>
            <a:noAutofit/>
          </a:bodyPr>
          <a:lstStyle/>
          <a:p>
            <a:pPr marL="0" algn="ctr"/>
            <a:endParaRPr/>
          </a:p>
        </p:txBody>
      </p:sp>
      <p:sp>
        <p:nvSpPr>
          <p:cNvPr id="4" name="AutoShape 4"/>
          <p:cNvSpPr/>
          <p:nvPr/>
        </p:nvSpPr>
        <p:spPr>
          <a:xfrm>
            <a:off x="8121030" y="1133474"/>
            <a:ext cx="3399457" cy="2364791"/>
          </a:xfrm>
          <a:prstGeom prst="rect">
            <a:avLst/>
          </a:prstGeom>
          <a:solidFill>
            <a:schemeClr val="tx2">
              <a:alpha val="15000"/>
            </a:schemeClr>
          </a:solidFill>
          <a:ln>
            <a:noFill/>
          </a:ln>
        </p:spPr>
        <p:txBody>
          <a:bodyPr vert="horz" lIns="396000" tIns="576000" rIns="91440" bIns="45720" anchor="ctr">
            <a:normAutofit/>
          </a:bodyPr>
          <a:lstStyle/>
          <a:p>
            <a:pPr marL="0" algn="l">
              <a:lnSpc>
                <a:spcPct val="130000"/>
              </a:lnSpc>
            </a:pPr>
            <a:endParaRPr/>
          </a:p>
        </p:txBody>
      </p:sp>
      <p:sp>
        <p:nvSpPr>
          <p:cNvPr id="5" name="AutoShape 5"/>
          <p:cNvSpPr/>
          <p:nvPr/>
        </p:nvSpPr>
        <p:spPr>
          <a:xfrm>
            <a:off x="8393148" y="1425390"/>
            <a:ext cx="2962230" cy="338554"/>
          </a:xfrm>
          <a:prstGeom prst="rect">
            <a:avLst/>
          </a:prstGeom>
          <a:noFill/>
          <a:ln>
            <a:noFill/>
          </a:ln>
        </p:spPr>
        <p:txBody>
          <a:bodyPr vert="horz" wrap="square" lIns="91440" tIns="45720" rIns="91440" bIns="45720" anchor="b">
            <a:spAutoFit/>
          </a:bodyPr>
          <a:lstStyle/>
          <a:p>
            <a:pPr marL="0" algn="l"/>
            <a:r>
              <a:rPr lang="zh-CN" altLang="en-US" sz="1600" b="1" i="0" u="none" baseline="0" dirty="0">
                <a:solidFill>
                  <a:schemeClr val="tx1"/>
                </a:solidFill>
                <a:latin typeface="Microsoft YaHei" panose="020B0503020204020204" pitchFamily="34" charset="-122"/>
                <a:ea typeface="Microsoft YaHei" panose="020B0503020204020204" pitchFamily="34" charset="-122"/>
              </a:rPr>
              <a:t>Channel Distribution</a:t>
            </a:r>
          </a:p>
        </p:txBody>
      </p:sp>
      <p:sp>
        <p:nvSpPr>
          <p:cNvPr id="6" name="AutoShape 6"/>
          <p:cNvSpPr/>
          <p:nvPr/>
        </p:nvSpPr>
        <p:spPr>
          <a:xfrm>
            <a:off x="9048299" y="3772484"/>
            <a:ext cx="2472187" cy="2364791"/>
          </a:xfrm>
          <a:prstGeom prst="rect">
            <a:avLst/>
          </a:prstGeom>
          <a:blipFill>
            <a:blip r:embed="rId3">
              <a:duotone>
                <a:prstClr val="black"/>
                <a:schemeClr val="accent5">
                  <a:satMod val="400000"/>
                  <a:tint val="45000"/>
                </a:schemeClr>
              </a:duotone>
            </a:blip>
            <a:stretch>
              <a:fillRect l="-21882" r="-21658"/>
            </a:stretch>
          </a:blipFill>
          <a:ln>
            <a:noFill/>
          </a:ln>
          <a:effectLst/>
        </p:spPr>
        <p:txBody>
          <a:bodyPr rot="0" vert="horz" wrap="square" lIns="91440" tIns="45720" rIns="91440" bIns="45720" anchor="t">
            <a:prstTxWarp prst="textNoShape">
              <a:avLst/>
            </a:prstTxWarp>
            <a:noAutofit/>
          </a:bodyPr>
          <a:lstStyle/>
          <a:p>
            <a:pPr marL="0" algn="ctr"/>
            <a:endParaRPr/>
          </a:p>
        </p:txBody>
      </p:sp>
      <p:sp>
        <p:nvSpPr>
          <p:cNvPr id="7" name="AutoShape 7"/>
          <p:cNvSpPr/>
          <p:nvPr/>
        </p:nvSpPr>
        <p:spPr>
          <a:xfrm>
            <a:off x="5755831" y="3772484"/>
            <a:ext cx="3292469" cy="2364791"/>
          </a:xfrm>
          <a:prstGeom prst="rect">
            <a:avLst/>
          </a:prstGeom>
          <a:solidFill>
            <a:schemeClr val="accent1"/>
          </a:solidFill>
          <a:ln>
            <a:noFill/>
          </a:ln>
        </p:spPr>
        <p:txBody>
          <a:bodyPr vert="horz" lIns="0" tIns="576000" rIns="396000" bIns="45720" anchor="ctr">
            <a:normAutofit/>
          </a:bodyPr>
          <a:lstStyle/>
          <a:p>
            <a:pPr marL="0" algn="r">
              <a:lnSpc>
                <a:spcPct val="130000"/>
              </a:lnSpc>
            </a:pPr>
            <a:endParaRPr/>
          </a:p>
        </p:txBody>
      </p:sp>
      <p:sp>
        <p:nvSpPr>
          <p:cNvPr id="8" name="AutoShape 8"/>
          <p:cNvSpPr/>
          <p:nvPr/>
        </p:nvSpPr>
        <p:spPr>
          <a:xfrm>
            <a:off x="5891101" y="4027529"/>
            <a:ext cx="2962230" cy="338554"/>
          </a:xfrm>
          <a:prstGeom prst="rect">
            <a:avLst/>
          </a:prstGeom>
          <a:noFill/>
          <a:ln>
            <a:noFill/>
          </a:ln>
        </p:spPr>
        <p:txBody>
          <a:bodyPr vert="horz" wrap="square" lIns="91440" tIns="45720" rIns="91440" bIns="45720" anchor="b">
            <a:spAutoFit/>
          </a:bodyPr>
          <a:lstStyle/>
          <a:p>
            <a:pPr marL="0" algn="l"/>
            <a:r>
              <a:rPr lang="zh-CN" altLang="en-US" sz="1600" b="1" i="0" u="none" baseline="0" dirty="0">
                <a:solidFill>
                  <a:schemeClr val="lt1"/>
                </a:solidFill>
                <a:latin typeface="Microsoft YaHei" panose="020B0503020204020204" pitchFamily="34" charset="-122"/>
                <a:ea typeface="Microsoft YaHei" panose="020B0503020204020204" pitchFamily="34" charset="-122"/>
              </a:rPr>
              <a:t>Channel Optimization</a:t>
            </a:r>
          </a:p>
        </p:txBody>
      </p:sp>
      <p:sp>
        <p:nvSpPr>
          <p:cNvPr id="9" name="AutoShape 9"/>
          <p:cNvSpPr/>
          <p:nvPr/>
        </p:nvSpPr>
        <p:spPr>
          <a:xfrm>
            <a:off x="8393148" y="1773658"/>
            <a:ext cx="2962230" cy="1269258"/>
          </a:xfrm>
          <a:prstGeom prst="rect">
            <a:avLst/>
          </a:prstGeom>
          <a:noFill/>
          <a:ln>
            <a:noFill/>
          </a:ln>
        </p:spPr>
        <p:txBody>
          <a:bodyPr vert="horz" wrap="square" lIns="91440" tIns="45720" rIns="91440" bIns="45720" anchor="t">
            <a:spAutoFit/>
          </a:bodyPr>
          <a:lstStyle/>
          <a:p>
            <a:pPr marL="0" algn="just">
              <a:lnSpc>
                <a:spcPct val="130000"/>
              </a:lnSpc>
            </a:pPr>
            <a:r>
              <a:rPr lang="zh-CN" altLang="en-US" sz="1200" b="0" i="0" u="none" baseline="0" dirty="0">
                <a:solidFill>
                  <a:schemeClr val="tx1"/>
                </a:solidFill>
                <a:latin typeface="Microsoft YaHei" panose="020B0503020204020204" pitchFamily="34" charset="-122"/>
                <a:ea typeface="Microsoft YaHei" panose="020B0503020204020204" pitchFamily="34" charset="-122"/>
              </a:rPr>
              <a:t>Online TA is the largest market segment, with TA/TO dominating at approximately 82% of bookings, indicating heavy dependence on intermediary channels.</a:t>
            </a:r>
          </a:p>
        </p:txBody>
      </p:sp>
      <p:sp>
        <p:nvSpPr>
          <p:cNvPr id="10" name="AutoShape 10"/>
          <p:cNvSpPr/>
          <p:nvPr/>
        </p:nvSpPr>
        <p:spPr>
          <a:xfrm>
            <a:off x="5891101" y="4349552"/>
            <a:ext cx="2962230" cy="1745093"/>
          </a:xfrm>
          <a:prstGeom prst="rect">
            <a:avLst/>
          </a:prstGeom>
          <a:noFill/>
          <a:ln>
            <a:noFill/>
          </a:ln>
        </p:spPr>
        <p:txBody>
          <a:bodyPr vert="horz" wrap="square" lIns="91440" tIns="45720" rIns="91440" bIns="45720" anchor="t">
            <a:spAutoFit/>
          </a:bodyPr>
          <a:lstStyle/>
          <a:p>
            <a:pPr marL="0" algn="just">
              <a:lnSpc>
                <a:spcPct val="130000"/>
              </a:lnSpc>
            </a:pPr>
            <a:r>
              <a:rPr lang="zh-CN" altLang="en-US" sz="1400" b="0" i="0" u="none" baseline="0" dirty="0">
                <a:solidFill>
                  <a:schemeClr val="bg1"/>
                </a:solidFill>
                <a:latin typeface="Microsoft YaHei" panose="020B0503020204020204" pitchFamily="34" charset="-122"/>
                <a:ea typeface="Microsoft YaHei" panose="020B0503020204020204" pitchFamily="34" charset="-122"/>
              </a:rPr>
              <a:t>Management should compare channels using booking volume, revenue, cancellation rate, and customer value to optimize the channel mix rather than focusing only on volume.</a:t>
            </a:r>
          </a:p>
        </p:txBody>
      </p:sp>
      <p:pic>
        <p:nvPicPr>
          <p:cNvPr id="11" name="image3.jpeg"/>
          <p:cNvPicPr>
            <a:picLocks noChangeAspect="1"/>
          </p:cNvPicPr>
          <p:nvPr/>
        </p:nvPicPr>
        <p:blipFill>
          <a:blip r:embed="rId4"/>
          <a:srcRect l="12500" t="1962" r="12500" b="1962"/>
          <a:stretch>
            <a:fillRect/>
          </a:stretch>
        </p:blipFill>
        <p:spPr>
          <a:xfrm>
            <a:off x="851249" y="1763944"/>
            <a:ext cx="4487266" cy="3896925"/>
          </a:xfrm>
          <a:prstGeom prst="rect">
            <a:avLst/>
          </a:prstGeom>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0"/>
            <a:ext cx="10858500" cy="1028700"/>
          </a:xfrm>
        </p:spPr>
        <p:txBody>
          <a:bodyPr vert="horz" lIns="91440" tIns="45720" rIns="91440" bIns="45720" anchor="b">
            <a:normAutofit/>
          </a:bodyPr>
          <a:lstStyle/>
          <a:p>
            <a:pPr algn="l">
              <a:lnSpc>
                <a:spcPct val="90000"/>
              </a:lnSpc>
              <a:spcBef>
                <a:spcPct val="0"/>
              </a:spcBef>
            </a:pPr>
            <a:r>
              <a:rPr lang="zh-CN" altLang="en-US" sz="2800" b="1" i="0" u="none" baseline="0">
                <a:solidFill>
                  <a:schemeClr val="tx1"/>
                </a:solidFill>
                <a:latin typeface="微软雅黑"/>
                <a:ea typeface="微软雅黑"/>
              </a:rPr>
              <a:t>Customer Behaviour Profile</a:t>
            </a:r>
          </a:p>
        </p:txBody>
      </p:sp>
      <p:sp>
        <p:nvSpPr>
          <p:cNvPr id="3" name="AutoShape 3"/>
          <p:cNvSpPr/>
          <p:nvPr/>
        </p:nvSpPr>
        <p:spPr>
          <a:xfrm>
            <a:off x="5755831" y="1133474"/>
            <a:ext cx="2365200" cy="2364791"/>
          </a:xfrm>
          <a:prstGeom prst="rect">
            <a:avLst/>
          </a:prstGeom>
          <a:blipFill>
            <a:blip r:embed="rId2">
              <a:duotone>
                <a:prstClr val="black"/>
                <a:schemeClr val="accent5">
                  <a:satMod val="400000"/>
                  <a:tint val="45000"/>
                </a:schemeClr>
              </a:duotone>
            </a:blip>
            <a:stretch>
              <a:fillRect l="-25150" r="-24883"/>
            </a:stretch>
          </a:blipFill>
          <a:ln>
            <a:noFill/>
          </a:ln>
          <a:effectLst/>
        </p:spPr>
        <p:txBody>
          <a:bodyPr rot="0" vert="horz" wrap="square" lIns="91440" tIns="45720" rIns="91440" bIns="45720" anchor="t">
            <a:prstTxWarp prst="textNoShape">
              <a:avLst/>
            </a:prstTxWarp>
            <a:noAutofit/>
          </a:bodyPr>
          <a:lstStyle/>
          <a:p>
            <a:pPr marL="0" algn="ctr"/>
            <a:endParaRPr/>
          </a:p>
        </p:txBody>
      </p:sp>
      <p:sp>
        <p:nvSpPr>
          <p:cNvPr id="4" name="AutoShape 4"/>
          <p:cNvSpPr/>
          <p:nvPr/>
        </p:nvSpPr>
        <p:spPr>
          <a:xfrm>
            <a:off x="8121030" y="1133474"/>
            <a:ext cx="3399457" cy="2364791"/>
          </a:xfrm>
          <a:prstGeom prst="rect">
            <a:avLst/>
          </a:prstGeom>
          <a:solidFill>
            <a:schemeClr val="tx2">
              <a:alpha val="15000"/>
            </a:schemeClr>
          </a:solidFill>
          <a:ln>
            <a:noFill/>
          </a:ln>
        </p:spPr>
        <p:txBody>
          <a:bodyPr vert="horz" lIns="396000" tIns="576000" rIns="91440" bIns="45720" anchor="ctr">
            <a:normAutofit/>
          </a:bodyPr>
          <a:lstStyle/>
          <a:p>
            <a:pPr marL="0" algn="l">
              <a:lnSpc>
                <a:spcPct val="130000"/>
              </a:lnSpc>
            </a:pPr>
            <a:endParaRPr/>
          </a:p>
        </p:txBody>
      </p:sp>
      <p:sp>
        <p:nvSpPr>
          <p:cNvPr id="5" name="AutoShape 5"/>
          <p:cNvSpPr/>
          <p:nvPr/>
        </p:nvSpPr>
        <p:spPr>
          <a:xfrm>
            <a:off x="8393148" y="1425390"/>
            <a:ext cx="2962230" cy="338554"/>
          </a:xfrm>
          <a:prstGeom prst="rect">
            <a:avLst/>
          </a:prstGeom>
          <a:noFill/>
          <a:ln>
            <a:noFill/>
          </a:ln>
        </p:spPr>
        <p:txBody>
          <a:bodyPr vert="horz" wrap="square" lIns="91440" tIns="45720" rIns="91440" bIns="45720" anchor="b">
            <a:spAutoFit/>
          </a:bodyPr>
          <a:lstStyle/>
          <a:p>
            <a:pPr marL="0" algn="l"/>
            <a:r>
              <a:rPr lang="zh-CN" altLang="en-US" sz="1600" b="1" i="0" u="none" baseline="0">
                <a:solidFill>
                  <a:schemeClr val="tx1"/>
                </a:solidFill>
                <a:latin typeface="微软雅黑"/>
                <a:ea typeface="微软雅黑"/>
              </a:rPr>
              <a:t>Customer Demographics</a:t>
            </a:r>
          </a:p>
        </p:txBody>
      </p:sp>
      <p:sp>
        <p:nvSpPr>
          <p:cNvPr id="6" name="AutoShape 6"/>
          <p:cNvSpPr/>
          <p:nvPr/>
        </p:nvSpPr>
        <p:spPr>
          <a:xfrm>
            <a:off x="9048299" y="3772484"/>
            <a:ext cx="2472187" cy="2364791"/>
          </a:xfrm>
          <a:prstGeom prst="rect">
            <a:avLst/>
          </a:prstGeom>
          <a:blipFill>
            <a:blip r:embed="rId3">
              <a:duotone>
                <a:prstClr val="black"/>
                <a:schemeClr val="accent5">
                  <a:satMod val="400000"/>
                  <a:tint val="45000"/>
                </a:schemeClr>
              </a:duotone>
            </a:blip>
            <a:stretch>
              <a:fillRect l="-21882" r="-21658"/>
            </a:stretch>
          </a:blipFill>
          <a:ln>
            <a:noFill/>
          </a:ln>
          <a:effectLst/>
        </p:spPr>
        <p:txBody>
          <a:bodyPr rot="0" vert="horz" wrap="square" lIns="91440" tIns="45720" rIns="91440" bIns="45720" anchor="t">
            <a:prstTxWarp prst="textNoShape">
              <a:avLst/>
            </a:prstTxWarp>
            <a:noAutofit/>
          </a:bodyPr>
          <a:lstStyle/>
          <a:p>
            <a:pPr marL="0" algn="ctr"/>
            <a:endParaRPr/>
          </a:p>
        </p:txBody>
      </p:sp>
      <p:sp>
        <p:nvSpPr>
          <p:cNvPr id="7" name="AutoShape 7"/>
          <p:cNvSpPr/>
          <p:nvPr/>
        </p:nvSpPr>
        <p:spPr>
          <a:xfrm>
            <a:off x="5755831" y="3772484"/>
            <a:ext cx="3292469" cy="2364791"/>
          </a:xfrm>
          <a:prstGeom prst="rect">
            <a:avLst/>
          </a:prstGeom>
          <a:solidFill>
            <a:schemeClr val="accent1"/>
          </a:solidFill>
          <a:ln>
            <a:noFill/>
          </a:ln>
        </p:spPr>
        <p:txBody>
          <a:bodyPr vert="horz" lIns="0" tIns="576000" rIns="396000" bIns="45720" anchor="ctr">
            <a:normAutofit/>
          </a:bodyPr>
          <a:lstStyle/>
          <a:p>
            <a:pPr marL="0" algn="r">
              <a:lnSpc>
                <a:spcPct val="130000"/>
              </a:lnSpc>
            </a:pPr>
            <a:endParaRPr/>
          </a:p>
        </p:txBody>
      </p:sp>
      <p:sp>
        <p:nvSpPr>
          <p:cNvPr id="8" name="AutoShape 8"/>
          <p:cNvSpPr/>
          <p:nvPr/>
        </p:nvSpPr>
        <p:spPr>
          <a:xfrm>
            <a:off x="5891101" y="4027529"/>
            <a:ext cx="2962230" cy="338554"/>
          </a:xfrm>
          <a:prstGeom prst="rect">
            <a:avLst/>
          </a:prstGeom>
          <a:noFill/>
          <a:ln>
            <a:noFill/>
          </a:ln>
        </p:spPr>
        <p:txBody>
          <a:bodyPr vert="horz" wrap="square" lIns="91440" tIns="45720" rIns="91440" bIns="45720" anchor="b">
            <a:spAutoFit/>
          </a:bodyPr>
          <a:lstStyle/>
          <a:p>
            <a:pPr marL="0" algn="l"/>
            <a:r>
              <a:rPr lang="zh-CN" altLang="en-US" sz="1600" b="1" i="0" u="none" baseline="0">
                <a:solidFill>
                  <a:schemeClr val="lt1"/>
                </a:solidFill>
                <a:latin typeface="微软雅黑"/>
                <a:ea typeface="微软雅黑"/>
              </a:rPr>
              <a:t>Retention Opportunity</a:t>
            </a:r>
          </a:p>
        </p:txBody>
      </p:sp>
      <p:sp>
        <p:nvSpPr>
          <p:cNvPr id="9" name="AutoShape 9"/>
          <p:cNvSpPr/>
          <p:nvPr/>
        </p:nvSpPr>
        <p:spPr>
          <a:xfrm>
            <a:off x="8393148" y="1773658"/>
            <a:ext cx="2962230" cy="1465401"/>
          </a:xfrm>
          <a:prstGeom prst="rect">
            <a:avLst/>
          </a:prstGeom>
          <a:noFill/>
          <a:ln>
            <a:noFill/>
          </a:ln>
        </p:spPr>
        <p:txBody>
          <a:bodyPr vert="horz" wrap="square" lIns="91440" tIns="45720" rIns="91440" bIns="45720" anchor="t">
            <a:spAutoFit/>
          </a:bodyPr>
          <a:lstStyle/>
          <a:p>
            <a:pPr marL="0" algn="just">
              <a:lnSpc>
                <a:spcPct val="130000"/>
              </a:lnSpc>
            </a:pPr>
            <a:r>
              <a:rPr lang="zh-CN" altLang="en-US" sz="1400" b="0" i="0" u="none" baseline="0" dirty="0">
                <a:solidFill>
                  <a:schemeClr val="tx1"/>
                </a:solidFill>
                <a:latin typeface="微软雅黑"/>
                <a:ea typeface="微软雅黑"/>
              </a:rPr>
              <a:t>Total guests reach 234,988 with an average of 2.0 guests per booking. Repeat guests number 3,810, representing only a 3.2% repeat guest rate.</a:t>
            </a:r>
          </a:p>
        </p:txBody>
      </p:sp>
      <p:sp>
        <p:nvSpPr>
          <p:cNvPr id="10" name="AutoShape 10"/>
          <p:cNvSpPr/>
          <p:nvPr/>
        </p:nvSpPr>
        <p:spPr>
          <a:xfrm>
            <a:off x="5891101" y="4349552"/>
            <a:ext cx="2962230" cy="2025555"/>
          </a:xfrm>
          <a:prstGeom prst="rect">
            <a:avLst/>
          </a:prstGeom>
          <a:noFill/>
          <a:ln>
            <a:noFill/>
          </a:ln>
        </p:spPr>
        <p:txBody>
          <a:bodyPr vert="horz" wrap="square" lIns="91440" tIns="45720" rIns="91440" bIns="45720" anchor="t">
            <a:spAutoFit/>
          </a:bodyPr>
          <a:lstStyle/>
          <a:p>
            <a:pPr marL="0" algn="just">
              <a:lnSpc>
                <a:spcPct val="130000"/>
              </a:lnSpc>
            </a:pPr>
            <a:r>
              <a:rPr lang="zh-CN" altLang="en-US" sz="1400" b="0" i="0" u="none" baseline="0" dirty="0">
                <a:solidFill>
                  <a:schemeClr val="bg1"/>
                </a:solidFill>
                <a:latin typeface="微软雅黑"/>
                <a:ea typeface="微软雅黑"/>
              </a:rPr>
              <a:t>The customer base is heavily weighted toward new rather than repeat guests, indicating potential to improve loyalty, repeat bookings, customer retention, and direct booking behaviour.</a:t>
            </a:r>
          </a:p>
        </p:txBody>
      </p:sp>
      <p:pic>
        <p:nvPicPr>
          <p:cNvPr id="11" name="image3.jpeg"/>
          <p:cNvPicPr>
            <a:picLocks noChangeAspect="1"/>
          </p:cNvPicPr>
          <p:nvPr/>
        </p:nvPicPr>
        <p:blipFill>
          <a:blip r:embed="rId4"/>
          <a:srcRect l="12500" t="1962" r="12500" b="1962"/>
          <a:stretch>
            <a:fillRect/>
          </a:stretch>
        </p:blipFill>
        <p:spPr>
          <a:xfrm>
            <a:off x="851249" y="1763944"/>
            <a:ext cx="4487266" cy="3896925"/>
          </a:xfrm>
          <a:prstGeom prst="rect">
            <a:avLst/>
          </a:prstGeom>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0"/>
            <a:ext cx="10858500" cy="1028700"/>
          </a:xfrm>
        </p:spPr>
        <p:txBody>
          <a:bodyPr vert="horz" lIns="91440" tIns="45720" rIns="91440" bIns="45720" anchor="b">
            <a:normAutofit/>
          </a:bodyPr>
          <a:lstStyle/>
          <a:p>
            <a:pPr algn="l">
              <a:lnSpc>
                <a:spcPct val="90000"/>
              </a:lnSpc>
              <a:spcBef>
                <a:spcPct val="0"/>
              </a:spcBef>
            </a:pPr>
            <a:r>
              <a:rPr lang="zh-CN" altLang="en-US" sz="2800" b="1" i="0" u="none" baseline="0">
                <a:solidFill>
                  <a:srgbClr val="000000"/>
                </a:solidFill>
                <a:latin typeface="微软雅黑"/>
                <a:ea typeface="微软雅黑"/>
              </a:rPr>
              <a:t>Key Business Insights</a:t>
            </a:r>
          </a:p>
        </p:txBody>
      </p:sp>
      <p:sp>
        <p:nvSpPr>
          <p:cNvPr id="3" name="TextBox 3"/>
          <p:cNvSpPr txBox="1"/>
          <p:nvPr/>
        </p:nvSpPr>
        <p:spPr>
          <a:xfrm>
            <a:off x="4439587" y="1504004"/>
            <a:ext cx="6840000" cy="3960000"/>
          </a:xfrm>
          <a:prstGeom prst="rect">
            <a:avLst/>
          </a:prstGeom>
          <a:solidFill>
            <a:schemeClr val="bg1"/>
          </a:solidFill>
          <a:ln cap="sq">
            <a:noFill/>
            <a:miter lim="800000"/>
          </a:ln>
          <a:effectLst>
            <a:outerShdw blurRad="317500" dist="127000" dir="2700000" sx="104000" sy="104000" algn="ctr" rotWithShape="0">
              <a:schemeClr val="accent1">
                <a:alpha val="10000"/>
                <a:lumMod val="75000"/>
              </a:schemeClr>
            </a:outerShdw>
          </a:effectLst>
        </p:spPr>
        <p:txBody>
          <a:bodyPr vert="horz" wrap="square" lIns="91440" tIns="45720" rIns="91440" bIns="45720" rtlCol="0" anchor="ctr">
            <a:normAutofit/>
          </a:bodyPr>
          <a:lstStyle/>
          <a:p>
            <a:pPr marL="0" algn="ctr">
              <a:defRPr/>
            </a:pPr>
            <a:endParaRPr lang="en-US" sz="1100"/>
          </a:p>
        </p:txBody>
      </p:sp>
      <p:sp>
        <p:nvSpPr>
          <p:cNvPr id="4" name="TextBox 4"/>
          <p:cNvSpPr txBox="1"/>
          <p:nvPr/>
        </p:nvSpPr>
        <p:spPr>
          <a:xfrm flipH="1">
            <a:off x="660400" y="2486391"/>
            <a:ext cx="4404581" cy="3388139"/>
          </a:xfrm>
          <a:prstGeom prst="roundRect">
            <a:avLst>
              <a:gd name="adj" fmla="val 5758"/>
            </a:avLst>
          </a:prstGeom>
          <a:blipFill>
            <a:blip r:embed="rId2"/>
            <a:stretch>
              <a:fillRect l="-11539" t="-10000" r="-26923" b="-10000"/>
            </a:stretch>
          </a:blipFill>
          <a:ln cap="sq">
            <a:noFill/>
            <a:miter lim="800000"/>
          </a:ln>
          <a:effectLst/>
        </p:spPr>
        <p:txBody>
          <a:bodyPr vert="horz" wrap="square" lIns="91440" tIns="45720" rIns="91440" bIns="45720" rtlCol="0" anchor="ctr">
            <a:normAutofit/>
          </a:bodyPr>
          <a:lstStyle/>
          <a:p>
            <a:pPr marL="0" algn="ctr">
              <a:defRPr/>
            </a:pPr>
            <a:endParaRPr lang="en-US" sz="1100"/>
          </a:p>
        </p:txBody>
      </p:sp>
      <p:sp>
        <p:nvSpPr>
          <p:cNvPr id="5" name="TextBox 5"/>
          <p:cNvSpPr txBox="1"/>
          <p:nvPr/>
        </p:nvSpPr>
        <p:spPr>
          <a:xfrm>
            <a:off x="5479943" y="2486391"/>
            <a:ext cx="5400000" cy="1581010"/>
          </a:xfrm>
          <a:prstGeom prst="rect">
            <a:avLst/>
          </a:prstGeom>
          <a:noFill/>
          <a:ln cap="sq">
            <a:noFill/>
            <a:miter lim="800000"/>
          </a:ln>
        </p:spPr>
        <p:txBody>
          <a:bodyPr vert="horz" wrap="square" lIns="0" tIns="0" rIns="0" bIns="0" rtlCol="0" anchor="t">
            <a:spAutoFit/>
          </a:bodyPr>
          <a:lstStyle/>
          <a:p>
            <a:pPr marL="0" algn="just">
              <a:lnSpc>
                <a:spcPct val="150000"/>
              </a:lnSpc>
              <a:defRPr/>
            </a:pPr>
            <a:r>
              <a:rPr lang="en-US" sz="1400" b="0" i="0" u="none" baseline="0" dirty="0">
                <a:ln w="12700"/>
                <a:solidFill>
                  <a:srgbClr val="000000"/>
                </a:solidFill>
                <a:latin typeface="+mn-ea"/>
                <a:ea typeface="+mn-ea"/>
              </a:rPr>
              <a:t>City Hotel dominates bookings at 66.4%. Overall cancellation rate is 37.0%. City Hotel has a higher cancellation rate at 41.7%. October is the peak booking month with 13,877 bookings. Cancellation increases dramatically with longer lead time. Only 3.2% of bookings are from repeat guests.</a:t>
            </a:r>
            <a:endParaRPr lang="en-US" sz="1100" dirty="0"/>
          </a:p>
        </p:txBody>
      </p:sp>
      <p:sp>
        <p:nvSpPr>
          <p:cNvPr id="6" name="Freeform 6"/>
          <p:cNvSpPr/>
          <p:nvPr/>
        </p:nvSpPr>
        <p:spPr>
          <a:xfrm>
            <a:off x="4787152" y="1876291"/>
            <a:ext cx="506594" cy="402033"/>
          </a:xfrm>
          <a:custGeom>
            <a:avLst/>
            <a:gdLst/>
            <a:ahLst/>
            <a:cxnLst/>
            <a:rect l="l" t="t" r="r" b="b"/>
            <a:pathLst>
              <a:path w="431250" h="342240">
                <a:moveTo>
                  <a:pt x="431250" y="0"/>
                </a:moveTo>
                <a:lnTo>
                  <a:pt x="431250" y="74003"/>
                </a:lnTo>
                <a:cubicBezTo>
                  <a:pt x="377945" y="74028"/>
                  <a:pt x="334333" y="116456"/>
                  <a:pt x="332839" y="169740"/>
                </a:cubicBezTo>
                <a:lnTo>
                  <a:pt x="431250" y="169740"/>
                </a:lnTo>
                <a:lnTo>
                  <a:pt x="431250" y="342240"/>
                </a:lnTo>
                <a:lnTo>
                  <a:pt x="258750" y="342240"/>
                </a:lnTo>
                <a:lnTo>
                  <a:pt x="258750" y="169740"/>
                </a:lnTo>
                <a:cubicBezTo>
                  <a:pt x="260258" y="75551"/>
                  <a:pt x="337049" y="-12"/>
                  <a:pt x="431250" y="0"/>
                </a:cubicBezTo>
                <a:close/>
                <a:moveTo>
                  <a:pt x="172500" y="0"/>
                </a:moveTo>
                <a:lnTo>
                  <a:pt x="172500" y="74003"/>
                </a:lnTo>
                <a:cubicBezTo>
                  <a:pt x="119195" y="74028"/>
                  <a:pt x="75583" y="116456"/>
                  <a:pt x="74089" y="169740"/>
                </a:cubicBezTo>
                <a:lnTo>
                  <a:pt x="172500" y="169740"/>
                </a:lnTo>
                <a:lnTo>
                  <a:pt x="172500" y="342240"/>
                </a:lnTo>
                <a:lnTo>
                  <a:pt x="0" y="342240"/>
                </a:lnTo>
                <a:lnTo>
                  <a:pt x="0" y="169740"/>
                </a:lnTo>
                <a:cubicBezTo>
                  <a:pt x="1508" y="75551"/>
                  <a:pt x="78299" y="-12"/>
                  <a:pt x="172500" y="0"/>
                </a:cubicBezTo>
                <a:close/>
              </a:path>
            </a:pathLst>
          </a:custGeom>
          <a:solidFill>
            <a:schemeClr val="accent1"/>
          </a:solidFill>
          <a:ln cap="flat">
            <a:noFill/>
            <a:miter lim="800000"/>
          </a:ln>
        </p:spPr>
        <p:txBody>
          <a:bodyPr vert="horz" wrap="square" lIns="91440" tIns="45720" rIns="91440" bIns="45720" anchor="ctr">
            <a:normAutofit/>
          </a:bodyPr>
          <a:lstStyle/>
          <a:p>
            <a:pPr marL="0" algn="l"/>
            <a:endParaRPr/>
          </a:p>
        </p:txBody>
      </p:sp>
      <p:grpSp>
        <p:nvGrpSpPr>
          <p:cNvPr id="7" name="Group 7"/>
          <p:cNvGrpSpPr/>
          <p:nvPr/>
        </p:nvGrpSpPr>
        <p:grpSpPr>
          <a:xfrm>
            <a:off x="10827270" y="1324104"/>
            <a:ext cx="483261" cy="576000"/>
            <a:chOff x="10827270" y="1324104"/>
            <a:chExt cx="483261" cy="576000"/>
          </a:xfrm>
        </p:grpSpPr>
        <p:sp>
          <p:nvSpPr>
            <p:cNvPr id="8" name="Freeform 8"/>
            <p:cNvSpPr/>
            <p:nvPr/>
          </p:nvSpPr>
          <p:spPr>
            <a:xfrm>
              <a:off x="11003505" y="1793654"/>
              <a:ext cx="130944" cy="28808"/>
            </a:xfrm>
            <a:custGeom>
              <a:avLst/>
              <a:gdLst/>
              <a:ahLst/>
              <a:cxnLst/>
              <a:rect l="l" t="t" r="r" b="b"/>
              <a:pathLst>
                <a:path w="359" h="79">
                  <a:moveTo>
                    <a:pt x="319" y="0"/>
                  </a:moveTo>
                  <a:cubicBezTo>
                    <a:pt x="39" y="0"/>
                    <a:pt x="39" y="0"/>
                    <a:pt x="39" y="0"/>
                  </a:cubicBezTo>
                  <a:cubicBezTo>
                    <a:pt x="17" y="0"/>
                    <a:pt x="0" y="18"/>
                    <a:pt x="0" y="40"/>
                  </a:cubicBezTo>
                  <a:cubicBezTo>
                    <a:pt x="0" y="61"/>
                    <a:pt x="17" y="79"/>
                    <a:pt x="39" y="79"/>
                  </a:cubicBezTo>
                  <a:cubicBezTo>
                    <a:pt x="319" y="79"/>
                    <a:pt x="319" y="79"/>
                    <a:pt x="319" y="79"/>
                  </a:cubicBezTo>
                  <a:cubicBezTo>
                    <a:pt x="341" y="79"/>
                    <a:pt x="359" y="61"/>
                    <a:pt x="359" y="40"/>
                  </a:cubicBezTo>
                  <a:cubicBezTo>
                    <a:pt x="359" y="18"/>
                    <a:pt x="341" y="0"/>
                    <a:pt x="319" y="0"/>
                  </a:cubicBezTo>
                  <a:close/>
                  <a:moveTo>
                    <a:pt x="319" y="0"/>
                  </a:moveTo>
                  <a:cubicBezTo>
                    <a:pt x="319" y="0"/>
                    <a:pt x="319" y="0"/>
                    <a:pt x="319" y="0"/>
                  </a:cubicBezTo>
                </a:path>
              </a:pathLst>
            </a:custGeom>
            <a:solidFill>
              <a:schemeClr val="bg1"/>
            </a:solidFill>
            <a:ln cap="sq">
              <a:noFill/>
            </a:ln>
          </p:spPr>
          <p:txBody>
            <a:bodyPr vert="horz" wrap="square" lIns="91440" tIns="45720" rIns="91440" bIns="45720" anchor="t">
              <a:normAutofit fontScale="25000" lnSpcReduction="20000"/>
            </a:bodyPr>
            <a:lstStyle/>
            <a:p>
              <a:pPr marL="0" algn="l"/>
              <a:endParaRPr/>
            </a:p>
          </p:txBody>
        </p:sp>
        <p:sp>
          <p:nvSpPr>
            <p:cNvPr id="9" name="Freeform 9"/>
            <p:cNvSpPr/>
            <p:nvPr/>
          </p:nvSpPr>
          <p:spPr>
            <a:xfrm>
              <a:off x="11011054" y="1843875"/>
              <a:ext cx="115693" cy="56229"/>
            </a:xfrm>
            <a:custGeom>
              <a:avLst/>
              <a:gdLst/>
              <a:ahLst/>
              <a:cxnLst/>
              <a:rect l="l" t="t" r="r" b="b"/>
              <a:pathLst>
                <a:path w="317" h="154">
                  <a:moveTo>
                    <a:pt x="86" y="92"/>
                  </a:moveTo>
                  <a:cubicBezTo>
                    <a:pt x="91" y="127"/>
                    <a:pt x="122" y="154"/>
                    <a:pt x="158" y="154"/>
                  </a:cubicBezTo>
                  <a:cubicBezTo>
                    <a:pt x="195" y="154"/>
                    <a:pt x="225" y="127"/>
                    <a:pt x="231" y="92"/>
                  </a:cubicBezTo>
                  <a:cubicBezTo>
                    <a:pt x="279" y="89"/>
                    <a:pt x="317" y="49"/>
                    <a:pt x="317" y="0"/>
                  </a:cubicBezTo>
                  <a:cubicBezTo>
                    <a:pt x="0" y="0"/>
                    <a:pt x="0" y="0"/>
                    <a:pt x="0" y="0"/>
                  </a:cubicBezTo>
                  <a:cubicBezTo>
                    <a:pt x="0" y="49"/>
                    <a:pt x="38" y="89"/>
                    <a:pt x="86" y="92"/>
                  </a:cubicBezTo>
                  <a:close/>
                  <a:moveTo>
                    <a:pt x="86" y="92"/>
                  </a:moveTo>
                  <a:cubicBezTo>
                    <a:pt x="86" y="92"/>
                    <a:pt x="86" y="92"/>
                    <a:pt x="86" y="92"/>
                  </a:cubicBezTo>
                </a:path>
              </a:pathLst>
            </a:custGeom>
            <a:solidFill>
              <a:schemeClr val="bg1"/>
            </a:solidFill>
            <a:ln cap="sq">
              <a:noFill/>
            </a:ln>
          </p:spPr>
          <p:txBody>
            <a:bodyPr vert="horz" wrap="square" lIns="91440" tIns="45720" rIns="91440" bIns="45720" anchor="t">
              <a:normAutofit fontScale="25000" lnSpcReduction="20000"/>
            </a:bodyPr>
            <a:lstStyle/>
            <a:p>
              <a:pPr marL="0" algn="l"/>
              <a:endParaRPr/>
            </a:p>
          </p:txBody>
        </p:sp>
        <p:sp>
          <p:nvSpPr>
            <p:cNvPr id="10" name="Freeform 10"/>
            <p:cNvSpPr/>
            <p:nvPr/>
          </p:nvSpPr>
          <p:spPr>
            <a:xfrm>
              <a:off x="11049721" y="1324104"/>
              <a:ext cx="38359" cy="82726"/>
            </a:xfrm>
            <a:custGeom>
              <a:avLst/>
              <a:gdLst/>
              <a:ahLst/>
              <a:cxnLst/>
              <a:rect l="l" t="t" r="r" b="b"/>
              <a:pathLst>
                <a:path w="105" h="226">
                  <a:moveTo>
                    <a:pt x="52" y="227"/>
                  </a:moveTo>
                  <a:cubicBezTo>
                    <a:pt x="81" y="227"/>
                    <a:pt x="105" y="203"/>
                    <a:pt x="105" y="174"/>
                  </a:cubicBezTo>
                  <a:cubicBezTo>
                    <a:pt x="105" y="52"/>
                    <a:pt x="105" y="52"/>
                    <a:pt x="105" y="52"/>
                  </a:cubicBezTo>
                  <a:cubicBezTo>
                    <a:pt x="105" y="23"/>
                    <a:pt x="81" y="0"/>
                    <a:pt x="52" y="0"/>
                  </a:cubicBezTo>
                  <a:cubicBezTo>
                    <a:pt x="23" y="0"/>
                    <a:pt x="0" y="23"/>
                    <a:pt x="0" y="52"/>
                  </a:cubicBezTo>
                  <a:cubicBezTo>
                    <a:pt x="0" y="174"/>
                    <a:pt x="0" y="174"/>
                    <a:pt x="0" y="174"/>
                  </a:cubicBezTo>
                  <a:cubicBezTo>
                    <a:pt x="0" y="203"/>
                    <a:pt x="23" y="227"/>
                    <a:pt x="52" y="227"/>
                  </a:cubicBezTo>
                  <a:close/>
                  <a:moveTo>
                    <a:pt x="52" y="227"/>
                  </a:moveTo>
                  <a:cubicBezTo>
                    <a:pt x="52" y="227"/>
                    <a:pt x="52" y="227"/>
                    <a:pt x="52" y="227"/>
                  </a:cubicBezTo>
                </a:path>
              </a:pathLst>
            </a:custGeom>
            <a:solidFill>
              <a:schemeClr val="bg1"/>
            </a:solidFill>
            <a:ln cap="sq">
              <a:noFill/>
            </a:ln>
          </p:spPr>
          <p:txBody>
            <a:bodyPr vert="horz" wrap="square" lIns="91440" tIns="45720" rIns="91440" bIns="45720" anchor="t">
              <a:normAutofit fontScale="25000" lnSpcReduction="20000"/>
            </a:bodyPr>
            <a:lstStyle/>
            <a:p>
              <a:pPr marL="0" algn="l"/>
              <a:endParaRPr/>
            </a:p>
          </p:txBody>
        </p:sp>
        <p:sp>
          <p:nvSpPr>
            <p:cNvPr id="11" name="Freeform 11"/>
            <p:cNvSpPr/>
            <p:nvPr/>
          </p:nvSpPr>
          <p:spPr>
            <a:xfrm>
              <a:off x="10911228" y="1365698"/>
              <a:ext cx="69323" cy="76872"/>
            </a:xfrm>
            <a:custGeom>
              <a:avLst/>
              <a:gdLst/>
              <a:ahLst/>
              <a:cxnLst/>
              <a:rect l="l" t="t" r="r" b="b"/>
              <a:pathLst>
                <a:path w="190" h="211">
                  <a:moveTo>
                    <a:pt x="88" y="189"/>
                  </a:moveTo>
                  <a:cubicBezTo>
                    <a:pt x="99" y="203"/>
                    <a:pt x="115" y="211"/>
                    <a:pt x="131" y="211"/>
                  </a:cubicBezTo>
                  <a:cubicBezTo>
                    <a:pt x="142" y="211"/>
                    <a:pt x="152" y="208"/>
                    <a:pt x="162" y="201"/>
                  </a:cubicBezTo>
                  <a:cubicBezTo>
                    <a:pt x="185" y="184"/>
                    <a:pt x="190" y="151"/>
                    <a:pt x="173" y="128"/>
                  </a:cubicBezTo>
                  <a:cubicBezTo>
                    <a:pt x="102" y="29"/>
                    <a:pt x="102" y="29"/>
                    <a:pt x="102" y="29"/>
                  </a:cubicBezTo>
                  <a:cubicBezTo>
                    <a:pt x="85" y="5"/>
                    <a:pt x="52" y="0"/>
                    <a:pt x="28" y="17"/>
                  </a:cubicBezTo>
                  <a:cubicBezTo>
                    <a:pt x="5" y="34"/>
                    <a:pt x="0" y="67"/>
                    <a:pt x="17" y="90"/>
                  </a:cubicBezTo>
                  <a:lnTo>
                    <a:pt x="88" y="189"/>
                  </a:lnTo>
                  <a:close/>
                  <a:moveTo>
                    <a:pt x="88" y="189"/>
                  </a:moveTo>
                  <a:cubicBezTo>
                    <a:pt x="88" y="189"/>
                    <a:pt x="88" y="189"/>
                    <a:pt x="88" y="189"/>
                  </a:cubicBezTo>
                </a:path>
              </a:pathLst>
            </a:custGeom>
            <a:solidFill>
              <a:schemeClr val="bg1"/>
            </a:solidFill>
            <a:ln cap="sq">
              <a:noFill/>
            </a:ln>
          </p:spPr>
          <p:txBody>
            <a:bodyPr vert="horz" wrap="square" lIns="91440" tIns="45720" rIns="91440" bIns="45720" anchor="t">
              <a:normAutofit fontScale="25000" lnSpcReduction="20000"/>
            </a:bodyPr>
            <a:lstStyle/>
            <a:p>
              <a:pPr marL="0" algn="l"/>
              <a:endParaRPr/>
            </a:p>
          </p:txBody>
        </p:sp>
        <p:sp>
          <p:nvSpPr>
            <p:cNvPr id="12" name="Freeform 12"/>
            <p:cNvSpPr/>
            <p:nvPr/>
          </p:nvSpPr>
          <p:spPr>
            <a:xfrm>
              <a:off x="11156941" y="1704304"/>
              <a:ext cx="69786" cy="76564"/>
            </a:xfrm>
            <a:custGeom>
              <a:avLst/>
              <a:gdLst/>
              <a:ahLst/>
              <a:cxnLst/>
              <a:rect l="l" t="t" r="r" b="b"/>
              <a:pathLst>
                <a:path w="191" h="210">
                  <a:moveTo>
                    <a:pt x="102" y="29"/>
                  </a:moveTo>
                  <a:cubicBezTo>
                    <a:pt x="85" y="5"/>
                    <a:pt x="52" y="0"/>
                    <a:pt x="29" y="17"/>
                  </a:cubicBezTo>
                  <a:cubicBezTo>
                    <a:pt x="6" y="34"/>
                    <a:pt x="0" y="67"/>
                    <a:pt x="17" y="90"/>
                  </a:cubicBezTo>
                  <a:cubicBezTo>
                    <a:pt x="89" y="189"/>
                    <a:pt x="89" y="189"/>
                    <a:pt x="89" y="189"/>
                  </a:cubicBezTo>
                  <a:cubicBezTo>
                    <a:pt x="99" y="203"/>
                    <a:pt x="115" y="210"/>
                    <a:pt x="132" y="210"/>
                  </a:cubicBezTo>
                  <a:cubicBezTo>
                    <a:pt x="142" y="210"/>
                    <a:pt x="153" y="207"/>
                    <a:pt x="162" y="200"/>
                  </a:cubicBezTo>
                  <a:cubicBezTo>
                    <a:pt x="186" y="183"/>
                    <a:pt x="191" y="151"/>
                    <a:pt x="174" y="127"/>
                  </a:cubicBezTo>
                  <a:lnTo>
                    <a:pt x="102" y="29"/>
                  </a:lnTo>
                  <a:close/>
                  <a:moveTo>
                    <a:pt x="102" y="29"/>
                  </a:moveTo>
                  <a:cubicBezTo>
                    <a:pt x="102" y="29"/>
                    <a:pt x="102" y="29"/>
                    <a:pt x="102" y="29"/>
                  </a:cubicBezTo>
                </a:path>
              </a:pathLst>
            </a:custGeom>
            <a:solidFill>
              <a:schemeClr val="bg1"/>
            </a:solidFill>
            <a:ln cap="sq">
              <a:noFill/>
            </a:ln>
          </p:spPr>
          <p:txBody>
            <a:bodyPr vert="horz" wrap="square" lIns="91440" tIns="45720" rIns="91440" bIns="45720" anchor="t">
              <a:normAutofit fontScale="25000" lnSpcReduction="20000"/>
            </a:bodyPr>
            <a:lstStyle/>
            <a:p>
              <a:pPr marL="0" algn="l"/>
              <a:endParaRPr/>
            </a:p>
          </p:txBody>
        </p:sp>
        <p:sp>
          <p:nvSpPr>
            <p:cNvPr id="13" name="Freeform 13"/>
            <p:cNvSpPr/>
            <p:nvPr/>
          </p:nvSpPr>
          <p:spPr>
            <a:xfrm>
              <a:off x="10827270" y="1481545"/>
              <a:ext cx="85037" cy="54380"/>
            </a:xfrm>
            <a:custGeom>
              <a:avLst/>
              <a:gdLst/>
              <a:ahLst/>
              <a:cxnLst/>
              <a:rect l="l" t="t" r="r" b="b"/>
              <a:pathLst>
                <a:path w="233" h="149">
                  <a:moveTo>
                    <a:pt x="191" y="47"/>
                  </a:moveTo>
                  <a:cubicBezTo>
                    <a:pt x="75" y="9"/>
                    <a:pt x="75" y="9"/>
                    <a:pt x="75" y="9"/>
                  </a:cubicBezTo>
                  <a:cubicBezTo>
                    <a:pt x="47" y="0"/>
                    <a:pt x="18" y="15"/>
                    <a:pt x="9" y="43"/>
                  </a:cubicBezTo>
                  <a:cubicBezTo>
                    <a:pt x="0" y="70"/>
                    <a:pt x="15" y="100"/>
                    <a:pt x="42" y="109"/>
                  </a:cubicBezTo>
                  <a:cubicBezTo>
                    <a:pt x="158" y="147"/>
                    <a:pt x="158" y="147"/>
                    <a:pt x="158" y="147"/>
                  </a:cubicBezTo>
                  <a:cubicBezTo>
                    <a:pt x="164" y="148"/>
                    <a:pt x="169" y="149"/>
                    <a:pt x="174" y="149"/>
                  </a:cubicBezTo>
                  <a:cubicBezTo>
                    <a:pt x="197" y="149"/>
                    <a:pt x="217" y="135"/>
                    <a:pt x="224" y="113"/>
                  </a:cubicBezTo>
                  <a:cubicBezTo>
                    <a:pt x="233" y="86"/>
                    <a:pt x="218" y="56"/>
                    <a:pt x="191" y="47"/>
                  </a:cubicBezTo>
                  <a:close/>
                  <a:moveTo>
                    <a:pt x="191" y="47"/>
                  </a:moveTo>
                  <a:cubicBezTo>
                    <a:pt x="191" y="47"/>
                    <a:pt x="191" y="47"/>
                    <a:pt x="191" y="47"/>
                  </a:cubicBezTo>
                </a:path>
              </a:pathLst>
            </a:custGeom>
            <a:solidFill>
              <a:schemeClr val="bg1"/>
            </a:solidFill>
            <a:ln cap="sq">
              <a:noFill/>
            </a:ln>
          </p:spPr>
          <p:txBody>
            <a:bodyPr vert="horz" wrap="square" lIns="91440" tIns="45720" rIns="91440" bIns="45720" anchor="t">
              <a:normAutofit fontScale="25000" lnSpcReduction="20000"/>
            </a:bodyPr>
            <a:lstStyle/>
            <a:p>
              <a:pPr marL="0" algn="l"/>
              <a:endParaRPr/>
            </a:p>
          </p:txBody>
        </p:sp>
        <p:sp>
          <p:nvSpPr>
            <p:cNvPr id="14" name="Freeform 14"/>
            <p:cNvSpPr/>
            <p:nvPr/>
          </p:nvSpPr>
          <p:spPr>
            <a:xfrm>
              <a:off x="11225186" y="1610949"/>
              <a:ext cx="85345" cy="54380"/>
            </a:xfrm>
            <a:custGeom>
              <a:avLst/>
              <a:gdLst/>
              <a:ahLst/>
              <a:cxnLst/>
              <a:rect l="l" t="t" r="r" b="b"/>
              <a:pathLst>
                <a:path w="234" h="149">
                  <a:moveTo>
                    <a:pt x="191" y="47"/>
                  </a:moveTo>
                  <a:cubicBezTo>
                    <a:pt x="75" y="9"/>
                    <a:pt x="75" y="9"/>
                    <a:pt x="75" y="9"/>
                  </a:cubicBezTo>
                  <a:cubicBezTo>
                    <a:pt x="48" y="0"/>
                    <a:pt x="18" y="15"/>
                    <a:pt x="9" y="43"/>
                  </a:cubicBezTo>
                  <a:cubicBezTo>
                    <a:pt x="0" y="70"/>
                    <a:pt x="16" y="100"/>
                    <a:pt x="43" y="109"/>
                  </a:cubicBezTo>
                  <a:cubicBezTo>
                    <a:pt x="159" y="146"/>
                    <a:pt x="159" y="146"/>
                    <a:pt x="159" y="146"/>
                  </a:cubicBezTo>
                  <a:cubicBezTo>
                    <a:pt x="164" y="148"/>
                    <a:pt x="170" y="149"/>
                    <a:pt x="175" y="149"/>
                  </a:cubicBezTo>
                  <a:cubicBezTo>
                    <a:pt x="197" y="149"/>
                    <a:pt x="218" y="135"/>
                    <a:pt x="225" y="113"/>
                  </a:cubicBezTo>
                  <a:cubicBezTo>
                    <a:pt x="234" y="85"/>
                    <a:pt x="219" y="56"/>
                    <a:pt x="191" y="47"/>
                  </a:cubicBezTo>
                  <a:close/>
                  <a:moveTo>
                    <a:pt x="191" y="47"/>
                  </a:moveTo>
                  <a:cubicBezTo>
                    <a:pt x="191" y="47"/>
                    <a:pt x="191" y="47"/>
                    <a:pt x="191" y="47"/>
                  </a:cubicBezTo>
                </a:path>
              </a:pathLst>
            </a:custGeom>
            <a:solidFill>
              <a:schemeClr val="bg1"/>
            </a:solidFill>
            <a:ln cap="sq">
              <a:noFill/>
            </a:ln>
          </p:spPr>
          <p:txBody>
            <a:bodyPr vert="horz" wrap="square" lIns="91440" tIns="45720" rIns="91440" bIns="45720" anchor="t">
              <a:normAutofit fontScale="25000" lnSpcReduction="20000"/>
            </a:bodyPr>
            <a:lstStyle/>
            <a:p>
              <a:pPr marL="0" algn="l"/>
              <a:endParaRPr/>
            </a:p>
          </p:txBody>
        </p:sp>
        <p:sp>
          <p:nvSpPr>
            <p:cNvPr id="15" name="Freeform 15"/>
            <p:cNvSpPr/>
            <p:nvPr/>
          </p:nvSpPr>
          <p:spPr>
            <a:xfrm>
              <a:off x="10827270" y="1610949"/>
              <a:ext cx="85037" cy="54380"/>
            </a:xfrm>
            <a:custGeom>
              <a:avLst/>
              <a:gdLst/>
              <a:ahLst/>
              <a:cxnLst/>
              <a:rect l="l" t="t" r="r" b="b"/>
              <a:pathLst>
                <a:path w="233" h="149">
                  <a:moveTo>
                    <a:pt x="158" y="9"/>
                  </a:moveTo>
                  <a:cubicBezTo>
                    <a:pt x="42" y="47"/>
                    <a:pt x="42" y="47"/>
                    <a:pt x="42" y="47"/>
                  </a:cubicBezTo>
                  <a:cubicBezTo>
                    <a:pt x="15" y="56"/>
                    <a:pt x="0" y="85"/>
                    <a:pt x="9" y="113"/>
                  </a:cubicBezTo>
                  <a:cubicBezTo>
                    <a:pt x="16" y="135"/>
                    <a:pt x="36" y="149"/>
                    <a:pt x="58" y="149"/>
                  </a:cubicBezTo>
                  <a:cubicBezTo>
                    <a:pt x="64" y="149"/>
                    <a:pt x="69" y="148"/>
                    <a:pt x="75" y="146"/>
                  </a:cubicBezTo>
                  <a:cubicBezTo>
                    <a:pt x="191" y="109"/>
                    <a:pt x="191" y="109"/>
                    <a:pt x="191" y="109"/>
                  </a:cubicBezTo>
                  <a:cubicBezTo>
                    <a:pt x="218" y="100"/>
                    <a:pt x="233" y="70"/>
                    <a:pt x="224" y="43"/>
                  </a:cubicBezTo>
                  <a:cubicBezTo>
                    <a:pt x="215" y="15"/>
                    <a:pt x="186" y="0"/>
                    <a:pt x="158" y="9"/>
                  </a:cubicBezTo>
                  <a:close/>
                  <a:moveTo>
                    <a:pt x="158" y="9"/>
                  </a:moveTo>
                  <a:cubicBezTo>
                    <a:pt x="158" y="9"/>
                    <a:pt x="158" y="9"/>
                    <a:pt x="158" y="9"/>
                  </a:cubicBezTo>
                </a:path>
              </a:pathLst>
            </a:custGeom>
            <a:solidFill>
              <a:schemeClr val="bg1"/>
            </a:solidFill>
            <a:ln cap="sq">
              <a:noFill/>
            </a:ln>
          </p:spPr>
          <p:txBody>
            <a:bodyPr vert="horz" wrap="square" lIns="91440" tIns="45720" rIns="91440" bIns="45720" anchor="t">
              <a:normAutofit fontScale="25000" lnSpcReduction="20000"/>
            </a:bodyPr>
            <a:lstStyle/>
            <a:p>
              <a:pPr marL="0" algn="l"/>
              <a:endParaRPr/>
            </a:p>
          </p:txBody>
        </p:sp>
        <p:sp>
          <p:nvSpPr>
            <p:cNvPr id="16" name="Freeform 16"/>
            <p:cNvSpPr/>
            <p:nvPr/>
          </p:nvSpPr>
          <p:spPr>
            <a:xfrm>
              <a:off x="11225186" y="1481545"/>
              <a:ext cx="85345" cy="54380"/>
            </a:xfrm>
            <a:custGeom>
              <a:avLst/>
              <a:gdLst/>
              <a:ahLst/>
              <a:cxnLst/>
              <a:rect l="l" t="t" r="r" b="b"/>
              <a:pathLst>
                <a:path w="234" h="149">
                  <a:moveTo>
                    <a:pt x="59" y="149"/>
                  </a:moveTo>
                  <a:cubicBezTo>
                    <a:pt x="65" y="149"/>
                    <a:pt x="70" y="148"/>
                    <a:pt x="75" y="147"/>
                  </a:cubicBezTo>
                  <a:cubicBezTo>
                    <a:pt x="191" y="109"/>
                    <a:pt x="191" y="109"/>
                    <a:pt x="191" y="109"/>
                  </a:cubicBezTo>
                  <a:cubicBezTo>
                    <a:pt x="219" y="100"/>
                    <a:pt x="234" y="70"/>
                    <a:pt x="225" y="43"/>
                  </a:cubicBezTo>
                  <a:cubicBezTo>
                    <a:pt x="216" y="15"/>
                    <a:pt x="186" y="0"/>
                    <a:pt x="159" y="9"/>
                  </a:cubicBezTo>
                  <a:cubicBezTo>
                    <a:pt x="43" y="47"/>
                    <a:pt x="43" y="47"/>
                    <a:pt x="43" y="47"/>
                  </a:cubicBezTo>
                  <a:cubicBezTo>
                    <a:pt x="16" y="56"/>
                    <a:pt x="0" y="86"/>
                    <a:pt x="9" y="113"/>
                  </a:cubicBezTo>
                  <a:cubicBezTo>
                    <a:pt x="17" y="135"/>
                    <a:pt x="37" y="149"/>
                    <a:pt x="59" y="149"/>
                  </a:cubicBezTo>
                  <a:close/>
                  <a:moveTo>
                    <a:pt x="59" y="149"/>
                  </a:moveTo>
                  <a:cubicBezTo>
                    <a:pt x="59" y="149"/>
                    <a:pt x="59" y="149"/>
                    <a:pt x="59" y="149"/>
                  </a:cubicBezTo>
                </a:path>
              </a:pathLst>
            </a:custGeom>
            <a:solidFill>
              <a:schemeClr val="bg1"/>
            </a:solidFill>
            <a:ln cap="sq">
              <a:noFill/>
            </a:ln>
          </p:spPr>
          <p:txBody>
            <a:bodyPr vert="horz" wrap="square" lIns="91440" tIns="45720" rIns="91440" bIns="45720" anchor="t">
              <a:normAutofit fontScale="25000" lnSpcReduction="20000"/>
            </a:bodyPr>
            <a:lstStyle/>
            <a:p>
              <a:pPr marL="0" algn="l"/>
              <a:endParaRPr/>
            </a:p>
          </p:txBody>
        </p:sp>
        <p:sp>
          <p:nvSpPr>
            <p:cNvPr id="17" name="Freeform 17"/>
            <p:cNvSpPr/>
            <p:nvPr/>
          </p:nvSpPr>
          <p:spPr>
            <a:xfrm>
              <a:off x="10911228" y="1704304"/>
              <a:ext cx="69323" cy="76564"/>
            </a:xfrm>
            <a:custGeom>
              <a:avLst/>
              <a:gdLst/>
              <a:ahLst/>
              <a:cxnLst/>
              <a:rect l="l" t="t" r="r" b="b"/>
              <a:pathLst>
                <a:path w="190" h="210">
                  <a:moveTo>
                    <a:pt x="88" y="29"/>
                  </a:moveTo>
                  <a:cubicBezTo>
                    <a:pt x="17" y="127"/>
                    <a:pt x="17" y="127"/>
                    <a:pt x="17" y="127"/>
                  </a:cubicBezTo>
                  <a:cubicBezTo>
                    <a:pt x="0" y="151"/>
                    <a:pt x="5" y="183"/>
                    <a:pt x="28" y="200"/>
                  </a:cubicBezTo>
                  <a:cubicBezTo>
                    <a:pt x="37" y="207"/>
                    <a:pt x="48" y="210"/>
                    <a:pt x="59" y="210"/>
                  </a:cubicBezTo>
                  <a:cubicBezTo>
                    <a:pt x="75" y="210"/>
                    <a:pt x="91" y="203"/>
                    <a:pt x="101" y="189"/>
                  </a:cubicBezTo>
                  <a:cubicBezTo>
                    <a:pt x="173" y="90"/>
                    <a:pt x="173" y="90"/>
                    <a:pt x="173" y="90"/>
                  </a:cubicBezTo>
                  <a:cubicBezTo>
                    <a:pt x="190" y="67"/>
                    <a:pt x="185" y="34"/>
                    <a:pt x="162" y="17"/>
                  </a:cubicBezTo>
                  <a:cubicBezTo>
                    <a:pt x="138" y="0"/>
                    <a:pt x="105" y="5"/>
                    <a:pt x="88" y="29"/>
                  </a:cubicBezTo>
                  <a:close/>
                  <a:moveTo>
                    <a:pt x="88" y="29"/>
                  </a:moveTo>
                  <a:cubicBezTo>
                    <a:pt x="88" y="29"/>
                    <a:pt x="88" y="29"/>
                    <a:pt x="88" y="29"/>
                  </a:cubicBezTo>
                </a:path>
              </a:pathLst>
            </a:custGeom>
            <a:solidFill>
              <a:schemeClr val="bg1"/>
            </a:solidFill>
            <a:ln cap="sq">
              <a:noFill/>
            </a:ln>
          </p:spPr>
          <p:txBody>
            <a:bodyPr vert="horz" wrap="square" lIns="91440" tIns="45720" rIns="91440" bIns="45720" anchor="t">
              <a:normAutofit fontScale="25000" lnSpcReduction="20000"/>
            </a:bodyPr>
            <a:lstStyle/>
            <a:p>
              <a:pPr marL="0" algn="l"/>
              <a:endParaRPr/>
            </a:p>
          </p:txBody>
        </p:sp>
        <p:sp>
          <p:nvSpPr>
            <p:cNvPr id="18" name="Freeform 18"/>
            <p:cNvSpPr/>
            <p:nvPr/>
          </p:nvSpPr>
          <p:spPr>
            <a:xfrm>
              <a:off x="11156941" y="1365698"/>
              <a:ext cx="69786" cy="76872"/>
            </a:xfrm>
            <a:custGeom>
              <a:avLst/>
              <a:gdLst/>
              <a:ahLst/>
              <a:cxnLst/>
              <a:rect l="l" t="t" r="r" b="b"/>
              <a:pathLst>
                <a:path w="191" h="211">
                  <a:moveTo>
                    <a:pt x="89" y="29"/>
                  </a:moveTo>
                  <a:cubicBezTo>
                    <a:pt x="17" y="128"/>
                    <a:pt x="17" y="128"/>
                    <a:pt x="17" y="128"/>
                  </a:cubicBezTo>
                  <a:cubicBezTo>
                    <a:pt x="0" y="151"/>
                    <a:pt x="6" y="184"/>
                    <a:pt x="29" y="201"/>
                  </a:cubicBezTo>
                  <a:cubicBezTo>
                    <a:pt x="38" y="208"/>
                    <a:pt x="49" y="211"/>
                    <a:pt x="60" y="211"/>
                  </a:cubicBezTo>
                  <a:cubicBezTo>
                    <a:pt x="76" y="211"/>
                    <a:pt x="92" y="203"/>
                    <a:pt x="102" y="189"/>
                  </a:cubicBezTo>
                  <a:cubicBezTo>
                    <a:pt x="174" y="90"/>
                    <a:pt x="174" y="90"/>
                    <a:pt x="174" y="90"/>
                  </a:cubicBezTo>
                  <a:cubicBezTo>
                    <a:pt x="191" y="67"/>
                    <a:pt x="186" y="34"/>
                    <a:pt x="162" y="17"/>
                  </a:cubicBezTo>
                  <a:cubicBezTo>
                    <a:pt x="139" y="0"/>
                    <a:pt x="106" y="5"/>
                    <a:pt x="89" y="29"/>
                  </a:cubicBezTo>
                  <a:close/>
                  <a:moveTo>
                    <a:pt x="89" y="29"/>
                  </a:moveTo>
                  <a:cubicBezTo>
                    <a:pt x="89" y="29"/>
                    <a:pt x="89" y="29"/>
                    <a:pt x="89" y="29"/>
                  </a:cubicBezTo>
                </a:path>
              </a:pathLst>
            </a:custGeom>
            <a:solidFill>
              <a:schemeClr val="bg1"/>
            </a:solidFill>
            <a:ln cap="sq">
              <a:noFill/>
            </a:ln>
          </p:spPr>
          <p:txBody>
            <a:bodyPr vert="horz" wrap="square" lIns="91440" tIns="45720" rIns="91440" bIns="45720" anchor="t">
              <a:normAutofit fontScale="25000" lnSpcReduction="20000"/>
            </a:bodyPr>
            <a:lstStyle/>
            <a:p>
              <a:pPr marL="0" algn="l"/>
              <a:endParaRPr/>
            </a:p>
          </p:txBody>
        </p:sp>
        <p:sp>
          <p:nvSpPr>
            <p:cNvPr id="19" name="Freeform 19"/>
            <p:cNvSpPr/>
            <p:nvPr/>
          </p:nvSpPr>
          <p:spPr>
            <a:xfrm>
              <a:off x="10930947" y="1437486"/>
              <a:ext cx="276061" cy="334293"/>
            </a:xfrm>
            <a:custGeom>
              <a:avLst/>
              <a:gdLst/>
              <a:ahLst/>
              <a:cxnLst/>
              <a:rect l="l" t="t" r="r" b="b"/>
              <a:pathLst>
                <a:path w="757" h="917">
                  <a:moveTo>
                    <a:pt x="757" y="378"/>
                  </a:moveTo>
                  <a:cubicBezTo>
                    <a:pt x="757" y="169"/>
                    <a:pt x="587" y="0"/>
                    <a:pt x="378" y="0"/>
                  </a:cubicBezTo>
                  <a:cubicBezTo>
                    <a:pt x="169" y="0"/>
                    <a:pt x="0" y="169"/>
                    <a:pt x="0" y="378"/>
                  </a:cubicBezTo>
                  <a:cubicBezTo>
                    <a:pt x="0" y="467"/>
                    <a:pt x="30" y="548"/>
                    <a:pt x="81" y="612"/>
                  </a:cubicBezTo>
                  <a:cubicBezTo>
                    <a:pt x="125" y="668"/>
                    <a:pt x="167" y="730"/>
                    <a:pt x="204" y="792"/>
                  </a:cubicBezTo>
                  <a:cubicBezTo>
                    <a:pt x="204" y="917"/>
                    <a:pt x="204" y="917"/>
                    <a:pt x="204" y="917"/>
                  </a:cubicBezTo>
                  <a:cubicBezTo>
                    <a:pt x="551" y="917"/>
                    <a:pt x="551" y="917"/>
                    <a:pt x="551" y="917"/>
                  </a:cubicBezTo>
                  <a:cubicBezTo>
                    <a:pt x="551" y="795"/>
                    <a:pt x="551" y="795"/>
                    <a:pt x="551" y="795"/>
                  </a:cubicBezTo>
                  <a:cubicBezTo>
                    <a:pt x="587" y="735"/>
                    <a:pt x="634" y="665"/>
                    <a:pt x="676" y="612"/>
                  </a:cubicBezTo>
                  <a:cubicBezTo>
                    <a:pt x="727" y="548"/>
                    <a:pt x="757" y="467"/>
                    <a:pt x="757" y="378"/>
                  </a:cubicBezTo>
                  <a:close/>
                  <a:moveTo>
                    <a:pt x="757" y="378"/>
                  </a:moveTo>
                  <a:cubicBezTo>
                    <a:pt x="757" y="378"/>
                    <a:pt x="757" y="378"/>
                    <a:pt x="757" y="378"/>
                  </a:cubicBezTo>
                </a:path>
              </a:pathLst>
            </a:custGeom>
            <a:solidFill>
              <a:schemeClr val="bg1"/>
            </a:solidFill>
            <a:ln cap="sq">
              <a:noFill/>
            </a:ln>
          </p:spPr>
          <p:txBody>
            <a:bodyPr vert="horz" wrap="square" lIns="91440" tIns="45720" rIns="91440" bIns="45720" anchor="t">
              <a:normAutofit fontScale="92500" lnSpcReduction="10000"/>
            </a:bodyPr>
            <a:lstStyle/>
            <a:p>
              <a:pPr marL="0" algn="l"/>
              <a:endParaRPr/>
            </a:p>
          </p:txBody>
        </p:sp>
      </p:grpSp>
      <p:sp>
        <p:nvSpPr>
          <p:cNvPr id="20" name="TextBox 20"/>
          <p:cNvSpPr txBox="1"/>
          <p:nvPr/>
        </p:nvSpPr>
        <p:spPr>
          <a:xfrm>
            <a:off x="5479943" y="2057400"/>
            <a:ext cx="5400000" cy="246221"/>
          </a:xfrm>
          <a:prstGeom prst="rect">
            <a:avLst/>
          </a:prstGeom>
          <a:noFill/>
          <a:ln>
            <a:noFill/>
          </a:ln>
        </p:spPr>
        <p:txBody>
          <a:bodyPr vert="horz" wrap="square" lIns="0" tIns="0" rIns="0" bIns="0" rtlCol="0" anchor="t">
            <a:spAutoFit/>
          </a:bodyPr>
          <a:lstStyle/>
          <a:p>
            <a:pPr marL="0" algn="l">
              <a:defRPr/>
            </a:pPr>
            <a:r>
              <a:rPr lang="en-US" sz="1600" b="1" i="0" u="none" baseline="0">
                <a:ln w="12700"/>
                <a:solidFill>
                  <a:srgbClr val="000000"/>
                </a:solidFill>
                <a:latin typeface="+mn-ea"/>
                <a:ea typeface="+mn-ea"/>
              </a:rPr>
              <a:t>Six Core Learnings</a:t>
            </a:r>
            <a:endParaRPr lang="en-US" sz="110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0"/>
            <a:ext cx="10858500" cy="1028700"/>
          </a:xfrm>
        </p:spPr>
        <p:txBody>
          <a:bodyPr vert="horz" lIns="91440" tIns="45720" rIns="91440" bIns="45720" anchor="b">
            <a:normAutofit/>
          </a:bodyPr>
          <a:lstStyle/>
          <a:p>
            <a:pPr algn="l">
              <a:lnSpc>
                <a:spcPct val="90000"/>
              </a:lnSpc>
              <a:spcBef>
                <a:spcPct val="0"/>
              </a:spcBef>
            </a:pPr>
            <a:r>
              <a:rPr lang="zh-CN" altLang="en-US" sz="2800" b="1" i="0" u="none" baseline="0">
                <a:solidFill>
                  <a:schemeClr val="tx1"/>
                </a:solidFill>
                <a:latin typeface="微软雅黑"/>
                <a:ea typeface="微软雅黑"/>
              </a:rPr>
              <a:t>Recommended Actions</a:t>
            </a:r>
          </a:p>
        </p:txBody>
      </p:sp>
      <p:sp>
        <p:nvSpPr>
          <p:cNvPr id="3" name="AutoShape 3"/>
          <p:cNvSpPr/>
          <p:nvPr/>
        </p:nvSpPr>
        <p:spPr>
          <a:xfrm>
            <a:off x="5755831" y="304800"/>
            <a:ext cx="2365200" cy="3467684"/>
          </a:xfrm>
          <a:prstGeom prst="rect">
            <a:avLst/>
          </a:prstGeom>
          <a:blipFill>
            <a:blip r:embed="rId2">
              <a:duotone>
                <a:prstClr val="black"/>
                <a:schemeClr val="accent5">
                  <a:satMod val="400000"/>
                  <a:tint val="45000"/>
                </a:schemeClr>
              </a:duotone>
            </a:blip>
            <a:stretch>
              <a:fillRect l="-25150" r="-24883"/>
            </a:stretch>
          </a:blipFill>
          <a:ln>
            <a:noFill/>
          </a:ln>
          <a:effectLst/>
        </p:spPr>
        <p:txBody>
          <a:bodyPr rot="0" vert="horz" wrap="square" lIns="91440" tIns="45720" rIns="91440" bIns="45720" anchor="t">
            <a:prstTxWarp prst="textNoShape">
              <a:avLst/>
            </a:prstTxWarp>
            <a:noAutofit/>
          </a:bodyPr>
          <a:lstStyle/>
          <a:p>
            <a:pPr marL="0" algn="ctr"/>
            <a:endParaRPr/>
          </a:p>
        </p:txBody>
      </p:sp>
      <p:sp>
        <p:nvSpPr>
          <p:cNvPr id="4" name="AutoShape 4"/>
          <p:cNvSpPr/>
          <p:nvPr/>
        </p:nvSpPr>
        <p:spPr>
          <a:xfrm>
            <a:off x="8121030" y="304800"/>
            <a:ext cx="3399457" cy="3467684"/>
          </a:xfrm>
          <a:prstGeom prst="rect">
            <a:avLst/>
          </a:prstGeom>
          <a:solidFill>
            <a:schemeClr val="tx2">
              <a:alpha val="15000"/>
            </a:schemeClr>
          </a:solidFill>
          <a:ln>
            <a:noFill/>
          </a:ln>
        </p:spPr>
        <p:txBody>
          <a:bodyPr vert="horz" lIns="396000" tIns="576000" rIns="91440" bIns="45720" anchor="ctr">
            <a:normAutofit/>
          </a:bodyPr>
          <a:lstStyle/>
          <a:p>
            <a:pPr marL="0" algn="l">
              <a:lnSpc>
                <a:spcPct val="130000"/>
              </a:lnSpc>
            </a:pPr>
            <a:endParaRPr/>
          </a:p>
        </p:txBody>
      </p:sp>
      <p:sp>
        <p:nvSpPr>
          <p:cNvPr id="5" name="AutoShape 5"/>
          <p:cNvSpPr/>
          <p:nvPr/>
        </p:nvSpPr>
        <p:spPr>
          <a:xfrm>
            <a:off x="8177989" y="457200"/>
            <a:ext cx="3395157" cy="338554"/>
          </a:xfrm>
          <a:prstGeom prst="rect">
            <a:avLst/>
          </a:prstGeom>
          <a:noFill/>
          <a:ln>
            <a:noFill/>
          </a:ln>
        </p:spPr>
        <p:txBody>
          <a:bodyPr vert="horz" wrap="square" lIns="91440" tIns="45720" rIns="91440" bIns="45720" anchor="b">
            <a:spAutoFit/>
          </a:bodyPr>
          <a:lstStyle/>
          <a:p>
            <a:pPr marL="0" algn="l"/>
            <a:r>
              <a:rPr lang="zh-CN" altLang="en-US" sz="1600" b="1" i="0" u="none" baseline="0" dirty="0">
                <a:solidFill>
                  <a:schemeClr val="tx1"/>
                </a:solidFill>
                <a:latin typeface="微软雅黑"/>
                <a:ea typeface="微软雅黑"/>
              </a:rPr>
              <a:t>Strategic Recommendations</a:t>
            </a:r>
          </a:p>
        </p:txBody>
      </p:sp>
      <p:sp>
        <p:nvSpPr>
          <p:cNvPr id="6" name="AutoShape 6"/>
          <p:cNvSpPr/>
          <p:nvPr/>
        </p:nvSpPr>
        <p:spPr>
          <a:xfrm>
            <a:off x="9048299" y="3772484"/>
            <a:ext cx="2472187" cy="2364791"/>
          </a:xfrm>
          <a:prstGeom prst="rect">
            <a:avLst/>
          </a:prstGeom>
          <a:blipFill>
            <a:blip r:embed="rId3">
              <a:duotone>
                <a:prstClr val="black"/>
                <a:schemeClr val="accent5">
                  <a:satMod val="400000"/>
                  <a:tint val="45000"/>
                </a:schemeClr>
              </a:duotone>
            </a:blip>
            <a:stretch>
              <a:fillRect l="-21882" r="-21658"/>
            </a:stretch>
          </a:blipFill>
          <a:ln>
            <a:noFill/>
          </a:ln>
          <a:effectLst/>
        </p:spPr>
        <p:txBody>
          <a:bodyPr rot="0" vert="horz" wrap="square" lIns="91440" tIns="45720" rIns="91440" bIns="45720" anchor="t">
            <a:prstTxWarp prst="textNoShape">
              <a:avLst/>
            </a:prstTxWarp>
            <a:noAutofit/>
          </a:bodyPr>
          <a:lstStyle/>
          <a:p>
            <a:pPr marL="0" algn="ctr"/>
            <a:endParaRPr/>
          </a:p>
        </p:txBody>
      </p:sp>
      <p:sp>
        <p:nvSpPr>
          <p:cNvPr id="7" name="AutoShape 7"/>
          <p:cNvSpPr/>
          <p:nvPr/>
        </p:nvSpPr>
        <p:spPr>
          <a:xfrm>
            <a:off x="5755831" y="3772484"/>
            <a:ext cx="3292469" cy="2364791"/>
          </a:xfrm>
          <a:prstGeom prst="rect">
            <a:avLst/>
          </a:prstGeom>
          <a:solidFill>
            <a:schemeClr val="accent1"/>
          </a:solidFill>
          <a:ln>
            <a:noFill/>
          </a:ln>
        </p:spPr>
        <p:txBody>
          <a:bodyPr vert="horz" lIns="0" tIns="576000" rIns="396000" bIns="45720" anchor="ctr">
            <a:normAutofit/>
          </a:bodyPr>
          <a:lstStyle/>
          <a:p>
            <a:pPr marL="0" algn="r">
              <a:lnSpc>
                <a:spcPct val="130000"/>
              </a:lnSpc>
            </a:pPr>
            <a:endParaRPr/>
          </a:p>
        </p:txBody>
      </p:sp>
      <p:sp>
        <p:nvSpPr>
          <p:cNvPr id="8" name="AutoShape 8"/>
          <p:cNvSpPr/>
          <p:nvPr/>
        </p:nvSpPr>
        <p:spPr>
          <a:xfrm>
            <a:off x="5891101" y="4027529"/>
            <a:ext cx="2962230" cy="338554"/>
          </a:xfrm>
          <a:prstGeom prst="rect">
            <a:avLst/>
          </a:prstGeom>
          <a:noFill/>
          <a:ln>
            <a:noFill/>
          </a:ln>
        </p:spPr>
        <p:txBody>
          <a:bodyPr vert="horz" wrap="square" lIns="91440" tIns="45720" rIns="91440" bIns="45720" anchor="b">
            <a:spAutoFit/>
          </a:bodyPr>
          <a:lstStyle/>
          <a:p>
            <a:pPr marL="0" algn="l"/>
            <a:r>
              <a:rPr lang="zh-CN" altLang="en-US" sz="1600" b="1" i="0" u="none" baseline="0">
                <a:solidFill>
                  <a:schemeClr val="lt1"/>
                </a:solidFill>
                <a:latin typeface="微软雅黑"/>
                <a:ea typeface="微软雅黑"/>
              </a:rPr>
              <a:t>Additional Actions</a:t>
            </a:r>
          </a:p>
        </p:txBody>
      </p:sp>
      <p:sp>
        <p:nvSpPr>
          <p:cNvPr id="9" name="AutoShape 9"/>
          <p:cNvSpPr/>
          <p:nvPr/>
        </p:nvSpPr>
        <p:spPr>
          <a:xfrm>
            <a:off x="8242842" y="795754"/>
            <a:ext cx="3265452" cy="2893100"/>
          </a:xfrm>
          <a:prstGeom prst="rect">
            <a:avLst/>
          </a:prstGeom>
          <a:noFill/>
          <a:ln>
            <a:noFill/>
          </a:ln>
        </p:spPr>
        <p:txBody>
          <a:bodyPr vert="horz" wrap="square" lIns="91440" tIns="45720" rIns="91440" bIns="45720" anchor="t">
            <a:spAutoFit/>
          </a:bodyPr>
          <a:lstStyle/>
          <a:p>
            <a:pPr marL="0" algn="just">
              <a:lnSpc>
                <a:spcPct val="130000"/>
              </a:lnSpc>
            </a:pPr>
            <a:r>
              <a:rPr lang="zh-CN" altLang="en-US" sz="1400" b="0" i="0" u="none" baseline="0" dirty="0">
                <a:solidFill>
                  <a:schemeClr val="tx1"/>
                </a:solidFill>
                <a:latin typeface="微软雅黑"/>
                <a:ea typeface="微软雅黑"/>
              </a:rPr>
              <a:t>Implement dynamic pricing during high-demand periods such as September–October. Strengthen cancellation management, particularly for City Hotel. Manage far-ahead bookings with confirmation reminders, deposit requirements, rescheduling options, and targeted retention communication.</a:t>
            </a:r>
          </a:p>
        </p:txBody>
      </p:sp>
      <p:sp>
        <p:nvSpPr>
          <p:cNvPr id="10" name="AutoShape 10"/>
          <p:cNvSpPr/>
          <p:nvPr/>
        </p:nvSpPr>
        <p:spPr>
          <a:xfrm>
            <a:off x="5891101" y="4349552"/>
            <a:ext cx="2962230" cy="1745093"/>
          </a:xfrm>
          <a:prstGeom prst="rect">
            <a:avLst/>
          </a:prstGeom>
          <a:noFill/>
          <a:ln>
            <a:noFill/>
          </a:ln>
        </p:spPr>
        <p:txBody>
          <a:bodyPr vert="horz" wrap="square" lIns="91440" tIns="45720" rIns="91440" bIns="45720" anchor="t">
            <a:spAutoFit/>
          </a:bodyPr>
          <a:lstStyle/>
          <a:p>
            <a:pPr marL="0" algn="just">
              <a:lnSpc>
                <a:spcPct val="130000"/>
              </a:lnSpc>
            </a:pPr>
            <a:r>
              <a:rPr lang="zh-CN" altLang="en-US" sz="1400" b="0" i="0" u="none" baseline="0" dirty="0">
                <a:solidFill>
                  <a:schemeClr val="bg1"/>
                </a:solidFill>
                <a:latin typeface="微软雅黑"/>
                <a:ea typeface="微软雅黑"/>
              </a:rPr>
              <a:t>Optimize distribution channels based on both revenue and cancellation behaviour. Build customer loyalty through campaigns designed to increase the low repeat-guest rate.</a:t>
            </a:r>
          </a:p>
        </p:txBody>
      </p:sp>
      <p:pic>
        <p:nvPicPr>
          <p:cNvPr id="11" name="image3.jpeg"/>
          <p:cNvPicPr>
            <a:picLocks noChangeAspect="1"/>
          </p:cNvPicPr>
          <p:nvPr/>
        </p:nvPicPr>
        <p:blipFill>
          <a:blip r:embed="rId4"/>
          <a:srcRect l="12500" t="1962" r="12500" b="1962"/>
          <a:stretch>
            <a:fillRect/>
          </a:stretch>
        </p:blipFill>
        <p:spPr>
          <a:xfrm>
            <a:off x="851249" y="1763944"/>
            <a:ext cx="4487266" cy="3896925"/>
          </a:xfrm>
          <a:prstGeom prst="rect">
            <a:avLst/>
          </a:prstGeom>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0"/>
            <a:ext cx="10858500" cy="1028700"/>
          </a:xfrm>
        </p:spPr>
        <p:txBody>
          <a:bodyPr vert="horz" lIns="91440" tIns="45720" rIns="91440" bIns="45720" anchor="b">
            <a:normAutofit/>
          </a:bodyPr>
          <a:lstStyle/>
          <a:p>
            <a:pPr algn="l">
              <a:lnSpc>
                <a:spcPct val="90000"/>
              </a:lnSpc>
              <a:spcBef>
                <a:spcPct val="0"/>
              </a:spcBef>
            </a:pPr>
            <a:r>
              <a:rPr lang="zh-CN" altLang="en-US" sz="2800" b="1" i="0" u="none" baseline="0">
                <a:solidFill>
                  <a:schemeClr val="tx1"/>
                </a:solidFill>
                <a:latin typeface="微软雅黑"/>
                <a:ea typeface="微软雅黑"/>
              </a:rPr>
              <a:t>Conclusion</a:t>
            </a:r>
          </a:p>
        </p:txBody>
      </p:sp>
      <p:sp>
        <p:nvSpPr>
          <p:cNvPr id="3" name="AutoShape 3"/>
          <p:cNvSpPr/>
          <p:nvPr/>
        </p:nvSpPr>
        <p:spPr>
          <a:xfrm>
            <a:off x="5755831" y="1133474"/>
            <a:ext cx="2365200" cy="2639010"/>
          </a:xfrm>
          <a:prstGeom prst="rect">
            <a:avLst/>
          </a:prstGeom>
          <a:blipFill>
            <a:blip r:embed="rId2">
              <a:duotone>
                <a:prstClr val="black"/>
                <a:schemeClr val="accent5">
                  <a:satMod val="400000"/>
                  <a:tint val="45000"/>
                </a:schemeClr>
              </a:duotone>
            </a:blip>
            <a:stretch>
              <a:fillRect l="-25150" r="-24883"/>
            </a:stretch>
          </a:blipFill>
          <a:ln>
            <a:noFill/>
          </a:ln>
          <a:effectLst/>
        </p:spPr>
        <p:txBody>
          <a:bodyPr rot="0" vert="horz" wrap="square" lIns="91440" tIns="45720" rIns="91440" bIns="45720" anchor="t">
            <a:prstTxWarp prst="textNoShape">
              <a:avLst/>
            </a:prstTxWarp>
            <a:noAutofit/>
          </a:bodyPr>
          <a:lstStyle/>
          <a:p>
            <a:pPr marL="0" algn="ctr"/>
            <a:endParaRPr/>
          </a:p>
        </p:txBody>
      </p:sp>
      <p:sp>
        <p:nvSpPr>
          <p:cNvPr id="4" name="AutoShape 4"/>
          <p:cNvSpPr/>
          <p:nvPr/>
        </p:nvSpPr>
        <p:spPr>
          <a:xfrm>
            <a:off x="8121031" y="457200"/>
            <a:ext cx="3399455" cy="3324108"/>
          </a:xfrm>
          <a:prstGeom prst="rect">
            <a:avLst/>
          </a:prstGeom>
          <a:solidFill>
            <a:schemeClr val="tx2">
              <a:alpha val="15000"/>
            </a:schemeClr>
          </a:solidFill>
          <a:ln>
            <a:noFill/>
          </a:ln>
        </p:spPr>
        <p:txBody>
          <a:bodyPr vert="horz" lIns="396000" tIns="576000" rIns="91440" bIns="45720" anchor="ctr">
            <a:normAutofit/>
          </a:bodyPr>
          <a:lstStyle/>
          <a:p>
            <a:pPr marL="0" algn="l">
              <a:lnSpc>
                <a:spcPct val="130000"/>
              </a:lnSpc>
            </a:pPr>
            <a:endParaRPr/>
          </a:p>
        </p:txBody>
      </p:sp>
      <p:sp>
        <p:nvSpPr>
          <p:cNvPr id="5" name="AutoShape 5"/>
          <p:cNvSpPr/>
          <p:nvPr/>
        </p:nvSpPr>
        <p:spPr>
          <a:xfrm>
            <a:off x="8393148" y="609600"/>
            <a:ext cx="2962230" cy="338554"/>
          </a:xfrm>
          <a:prstGeom prst="rect">
            <a:avLst/>
          </a:prstGeom>
          <a:noFill/>
          <a:ln>
            <a:noFill/>
          </a:ln>
        </p:spPr>
        <p:txBody>
          <a:bodyPr vert="horz" wrap="square" lIns="91440" tIns="45720" rIns="91440" bIns="45720" anchor="b">
            <a:spAutoFit/>
          </a:bodyPr>
          <a:lstStyle/>
          <a:p>
            <a:pPr marL="0" algn="l"/>
            <a:r>
              <a:rPr lang="zh-CN" altLang="en-US" sz="1600" b="1" i="0" u="none" baseline="0" dirty="0">
                <a:solidFill>
                  <a:schemeClr val="tx1"/>
                </a:solidFill>
                <a:latin typeface="Microsoft YaHei" panose="020B0503020204020204" pitchFamily="34" charset="-122"/>
                <a:ea typeface="Microsoft YaHei" panose="020B0503020204020204" pitchFamily="34" charset="-122"/>
              </a:rPr>
              <a:t>Main Takeaways</a:t>
            </a:r>
          </a:p>
        </p:txBody>
      </p:sp>
      <p:sp>
        <p:nvSpPr>
          <p:cNvPr id="6" name="AutoShape 6"/>
          <p:cNvSpPr/>
          <p:nvPr/>
        </p:nvSpPr>
        <p:spPr>
          <a:xfrm>
            <a:off x="9048299" y="3772484"/>
            <a:ext cx="2472187" cy="2364791"/>
          </a:xfrm>
          <a:prstGeom prst="rect">
            <a:avLst/>
          </a:prstGeom>
          <a:blipFill>
            <a:blip r:embed="rId3">
              <a:duotone>
                <a:prstClr val="black"/>
                <a:schemeClr val="accent5">
                  <a:satMod val="400000"/>
                  <a:tint val="45000"/>
                </a:schemeClr>
              </a:duotone>
            </a:blip>
            <a:stretch>
              <a:fillRect l="-21882" r="-21658"/>
            </a:stretch>
          </a:blipFill>
          <a:ln>
            <a:noFill/>
          </a:ln>
          <a:effectLst/>
        </p:spPr>
        <p:txBody>
          <a:bodyPr rot="0" vert="horz" wrap="square" lIns="91440" tIns="45720" rIns="91440" bIns="45720" anchor="t">
            <a:prstTxWarp prst="textNoShape">
              <a:avLst/>
            </a:prstTxWarp>
            <a:noAutofit/>
          </a:bodyPr>
          <a:lstStyle/>
          <a:p>
            <a:pPr marL="0" algn="ctr"/>
            <a:endParaRPr/>
          </a:p>
        </p:txBody>
      </p:sp>
      <p:sp>
        <p:nvSpPr>
          <p:cNvPr id="7" name="AutoShape 7"/>
          <p:cNvSpPr/>
          <p:nvPr/>
        </p:nvSpPr>
        <p:spPr>
          <a:xfrm>
            <a:off x="5755831" y="3772484"/>
            <a:ext cx="3292469" cy="2364791"/>
          </a:xfrm>
          <a:prstGeom prst="rect">
            <a:avLst/>
          </a:prstGeom>
          <a:solidFill>
            <a:schemeClr val="accent1"/>
          </a:solidFill>
          <a:ln>
            <a:noFill/>
          </a:ln>
        </p:spPr>
        <p:txBody>
          <a:bodyPr vert="horz" lIns="0" tIns="576000" rIns="396000" bIns="45720" anchor="ctr">
            <a:normAutofit/>
          </a:bodyPr>
          <a:lstStyle/>
          <a:p>
            <a:pPr marL="0" algn="r">
              <a:lnSpc>
                <a:spcPct val="130000"/>
              </a:lnSpc>
            </a:pPr>
            <a:endParaRPr/>
          </a:p>
        </p:txBody>
      </p:sp>
      <p:sp>
        <p:nvSpPr>
          <p:cNvPr id="8" name="AutoShape 8"/>
          <p:cNvSpPr/>
          <p:nvPr/>
        </p:nvSpPr>
        <p:spPr>
          <a:xfrm>
            <a:off x="5891101" y="3781308"/>
            <a:ext cx="2962230" cy="584775"/>
          </a:xfrm>
          <a:prstGeom prst="rect">
            <a:avLst/>
          </a:prstGeom>
          <a:noFill/>
          <a:ln>
            <a:noFill/>
          </a:ln>
        </p:spPr>
        <p:txBody>
          <a:bodyPr vert="horz" wrap="square" lIns="91440" tIns="45720" rIns="91440" bIns="45720" anchor="b">
            <a:spAutoFit/>
          </a:bodyPr>
          <a:lstStyle/>
          <a:p>
            <a:pPr marL="0" algn="l"/>
            <a:r>
              <a:rPr lang="zh-CN" altLang="en-US" sz="1600" b="1" i="0" u="none" baseline="0" dirty="0">
                <a:solidFill>
                  <a:schemeClr val="lt1"/>
                </a:solidFill>
                <a:latin typeface="Microsoft YaHei" panose="020B0503020204020204" pitchFamily="34" charset="-122"/>
                <a:ea typeface="Microsoft YaHei" panose="020B0503020204020204" pitchFamily="34" charset="-122"/>
              </a:rPr>
              <a:t>Biggest Business Opportunity</a:t>
            </a:r>
          </a:p>
        </p:txBody>
      </p:sp>
      <p:sp>
        <p:nvSpPr>
          <p:cNvPr id="9" name="AutoShape 9"/>
          <p:cNvSpPr/>
          <p:nvPr/>
        </p:nvSpPr>
        <p:spPr>
          <a:xfrm>
            <a:off x="8393148" y="906699"/>
            <a:ext cx="2962230" cy="2865785"/>
          </a:xfrm>
          <a:prstGeom prst="rect">
            <a:avLst/>
          </a:prstGeom>
          <a:noFill/>
          <a:ln>
            <a:noFill/>
          </a:ln>
        </p:spPr>
        <p:txBody>
          <a:bodyPr vert="horz" wrap="square" lIns="91440" tIns="45720" rIns="91440" bIns="45720" anchor="t">
            <a:spAutoFit/>
          </a:bodyPr>
          <a:lstStyle/>
          <a:p>
            <a:pPr marL="0" algn="just">
              <a:lnSpc>
                <a:spcPct val="130000"/>
              </a:lnSpc>
            </a:pPr>
            <a:r>
              <a:rPr lang="zh-CN" altLang="en-US" sz="1400" b="0" i="0" u="none" baseline="0" dirty="0">
                <a:solidFill>
                  <a:schemeClr val="tx1"/>
                </a:solidFill>
                <a:latin typeface="Microsoft YaHei" panose="020B0503020204020204" pitchFamily="34" charset="-122"/>
                <a:ea typeface="Microsoft YaHei" panose="020B0503020204020204" pitchFamily="34" charset="-122"/>
              </a:rPr>
              <a:t>Hotel performance is strongly connected to booking mix, seasonality, and cancellation behaviour. City Hotel is the dominant booking segment, cancellation risk increases significantly with longer lead times, and seasonal demand creates opportunities for dynamic pricing.</a:t>
            </a:r>
          </a:p>
        </p:txBody>
      </p:sp>
      <p:sp>
        <p:nvSpPr>
          <p:cNvPr id="10" name="AutoShape 10"/>
          <p:cNvSpPr/>
          <p:nvPr/>
        </p:nvSpPr>
        <p:spPr>
          <a:xfrm>
            <a:off x="5891101" y="4349552"/>
            <a:ext cx="2962230" cy="1185324"/>
          </a:xfrm>
          <a:prstGeom prst="rect">
            <a:avLst/>
          </a:prstGeom>
          <a:noFill/>
          <a:ln>
            <a:noFill/>
          </a:ln>
        </p:spPr>
        <p:txBody>
          <a:bodyPr vert="horz" wrap="square" lIns="91440" tIns="45720" rIns="91440" bIns="45720" anchor="t">
            <a:spAutoFit/>
          </a:bodyPr>
          <a:lstStyle/>
          <a:p>
            <a:pPr marL="0" algn="just">
              <a:lnSpc>
                <a:spcPct val="130000"/>
              </a:lnSpc>
            </a:pPr>
            <a:r>
              <a:rPr lang="zh-CN" altLang="en-US" sz="1400" b="0" i="0" u="none" baseline="0" dirty="0">
                <a:solidFill>
                  <a:schemeClr val="bg1"/>
                </a:solidFill>
                <a:latin typeface="Microsoft YaHei" panose="020B0503020204020204" pitchFamily="34" charset="-122"/>
                <a:ea typeface="Microsoft YaHei" panose="020B0503020204020204" pitchFamily="34" charset="-122"/>
              </a:rPr>
              <a:t>Proactively manage high-risk, far-ahead bookings while aligning pricing and resources with seasonal demand patterns.</a:t>
            </a:r>
          </a:p>
        </p:txBody>
      </p:sp>
      <p:pic>
        <p:nvPicPr>
          <p:cNvPr id="11" name="image3.jpeg"/>
          <p:cNvPicPr>
            <a:picLocks noChangeAspect="1"/>
          </p:cNvPicPr>
          <p:nvPr/>
        </p:nvPicPr>
        <p:blipFill>
          <a:blip r:embed="rId4"/>
          <a:srcRect l="12500" t="1962" r="12500" b="1962"/>
          <a:stretch>
            <a:fillRect/>
          </a:stretch>
        </p:blipFill>
        <p:spPr>
          <a:xfrm>
            <a:off x="851249" y="1763944"/>
            <a:ext cx="4487266" cy="3896925"/>
          </a:xfrm>
          <a:prstGeom prst="rect">
            <a:avLst/>
          </a:prstGeom>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1">
            <a:alpha val="30000"/>
            <a:lumMod val="40000"/>
            <a:lumOff val="60000"/>
          </a:schemeClr>
        </a:solidFill>
        <a:effectLst/>
      </p:bgPr>
    </p:bg>
    <p:spTree>
      <p:nvGrpSpPr>
        <p:cNvPr id="1" name=""/>
        <p:cNvGrpSpPr/>
        <p:nvPr/>
      </p:nvGrpSpPr>
      <p:grpSpPr>
        <a:xfrm>
          <a:off x="0" y="0"/>
          <a:ext cx="0" cy="0"/>
          <a:chOff x="0" y="0"/>
          <a:chExt cx="0" cy="0"/>
        </a:xfrm>
      </p:grpSpPr>
      <p:sp>
        <p:nvSpPr>
          <p:cNvPr id="2" name="AutoShape 2"/>
          <p:cNvSpPr>
            <a:spLocks noGrp="1"/>
          </p:cNvSpPr>
          <p:nvPr>
            <p:ph type="body" sz="quarter" idx="13"/>
          </p:nvPr>
        </p:nvSpPr>
        <p:spPr>
          <a:xfrm>
            <a:off x="381000" y="2590800"/>
            <a:ext cx="4953000" cy="1138130"/>
          </a:xfrm>
        </p:spPr>
        <p:txBody>
          <a:bodyPr vert="horz" lIns="91440" tIns="45720" rIns="91440" bIns="45720" anchor="b">
            <a:noAutofit/>
          </a:bodyPr>
          <a:lstStyle/>
          <a:p>
            <a:pPr marL="0" indent="0" algn="l">
              <a:lnSpc>
                <a:spcPct val="90000"/>
              </a:lnSpc>
              <a:spcBef>
                <a:spcPts val="1000"/>
              </a:spcBef>
              <a:buNone/>
            </a:pPr>
            <a:r>
              <a:rPr lang="zh-CN" altLang="en-US" sz="6600" b="1" i="0" u="none" baseline="0" dirty="0">
                <a:solidFill>
                  <a:schemeClr val="accent1"/>
                </a:solidFill>
                <a:latin typeface="微软雅黑"/>
                <a:ea typeface="微软雅黑"/>
              </a:rPr>
              <a:t>Thank </a:t>
            </a:r>
            <a:r>
              <a:rPr lang="en-US" altLang="zh-CN" sz="6600" b="1" i="0" u="none" baseline="0" dirty="0" smtClean="0">
                <a:solidFill>
                  <a:schemeClr val="accent1"/>
                </a:solidFill>
                <a:latin typeface="微软雅黑"/>
                <a:ea typeface="微软雅黑"/>
              </a:rPr>
              <a:t>You</a:t>
            </a:r>
            <a:endParaRPr lang="zh-CN" altLang="en-US" sz="6600" b="1" i="0" u="none" baseline="0" dirty="0">
              <a:solidFill>
                <a:schemeClr val="accent1"/>
              </a:solidFill>
              <a:latin typeface="微软雅黑"/>
              <a:ea typeface="微软雅黑"/>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778495"/>
      </a:dk2>
      <a:lt2>
        <a:srgbClr val="F0F0F0"/>
      </a:lt2>
      <a:accent1>
        <a:srgbClr val="0063DF"/>
      </a:accent1>
      <a:accent2>
        <a:srgbClr val="42C9E9"/>
      </a:accent2>
      <a:accent3>
        <a:srgbClr val="1C4EA5"/>
      </a:accent3>
      <a:accent4>
        <a:srgbClr val="486FB5"/>
      </a:accent4>
      <a:accent5>
        <a:srgbClr val="3AA89E"/>
      </a:accent5>
      <a:accent6>
        <a:srgbClr val="082B53"/>
      </a:accent6>
      <a:hlink>
        <a:srgbClr val="4472C4"/>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TotalTime>
  <Words>1637</Words>
  <Application>Microsoft Office PowerPoint</Application>
  <PresentationFormat>Custom</PresentationFormat>
  <Paragraphs>209</Paragraphs>
  <Slides>37</Slides>
  <Notes>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vt:lpstr>
      <vt:lpstr>Hotel Booking &amp; Cancellation Behaviour Analysis</vt:lpstr>
      <vt:lpstr>PowerPoint Presentation</vt:lpstr>
      <vt:lpstr>Executive Summary &amp; Business Context</vt:lpstr>
      <vt:lpstr>Project Overview</vt:lpstr>
      <vt:lpstr>Key Findings at a Glance</vt:lpstr>
      <vt:lpstr>Business Problem Statement</vt:lpstr>
      <vt:lpstr>Project Objectives</vt:lpstr>
      <vt:lpstr>PowerPoint Presentation</vt:lpstr>
      <vt:lpstr>Data Foundation &amp; Methodology</vt:lpstr>
      <vt:lpstr>PowerPoint Presentation</vt:lpstr>
      <vt:lpstr>Dataset Overview</vt:lpstr>
      <vt:lpstr>Data Preparation</vt:lpstr>
      <vt:lpstr>PowerPoint Presentation</vt:lpstr>
      <vt:lpstr>Analytical Framework</vt:lpstr>
      <vt:lpstr>Demand &amp; Seasonality Analysis</vt:lpstr>
      <vt:lpstr>PowerPoint Presentation</vt:lpstr>
      <vt:lpstr>PowerPoint Presentation</vt:lpstr>
      <vt:lpstr>Booking Demand Trend</vt:lpstr>
      <vt:lpstr>PowerPoint Presentation</vt:lpstr>
      <vt:lpstr>PowerPoint Presentation</vt:lpstr>
      <vt:lpstr>PowerPoint Presentation</vt:lpstr>
      <vt:lpstr>City Hotel vs Resort Hotel Comparison</vt:lpstr>
      <vt:lpstr>Cancellation Risk Analysis</vt:lpstr>
      <vt:lpstr>Cancellation Overview</vt:lpstr>
      <vt:lpstr>Cancellation by Hotel Type</vt:lpstr>
      <vt:lpstr>Stay Duration Analysis</vt:lpstr>
      <vt:lpstr>PowerPoint Presentation</vt:lpstr>
      <vt:lpstr>PowerPoint Presentation</vt:lpstr>
      <vt:lpstr>Far-Ahead Bookings: Highest Risk Segment</vt:lpstr>
      <vt:lpstr>Deposit Policy &amp; Cancellation Risk</vt:lpstr>
      <vt:lpstr>Customer Insights &amp; Strategic Recommendations</vt:lpstr>
      <vt:lpstr>Booking Channels &amp; Market Segments</vt:lpstr>
      <vt:lpstr>Customer Behaviour Profile</vt:lpstr>
      <vt:lpstr>Key Business Insights</vt:lpstr>
      <vt:lpstr>Recommended Actions</vt:lpstr>
      <vt:lpstr>Conclusion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Hotel Booking &amp; Cancellation Behaviour Analysis</dc:title>
  <cp:lastModifiedBy>HP</cp:lastModifiedBy>
  <cp:revision>6</cp:revision>
  <dcterms:created xsi:type="dcterms:W3CDTF">2026-08-05T12:11:47Z</dcterms:created>
  <dcterms:modified xsi:type="dcterms:W3CDTF">2026-08-06T02:44:47Z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pyright">
    <vt:lpwstr>https://docmee.cn</vt:lpwstr>
  </property>
  <property fmtid="{D5CDD505-2E9C-101B-9397-08002B2CF9AE}" pid="3" name="developer">
    <vt:lpwstr>https://github.com/veasion</vt:lpwstr>
  </property>
  <property fmtid="{D5CDD505-2E9C-101B-9397-08002B2CF9AE}" pid="4" name="AIGC">
    <vt:lpwstr>{"ContentPropagator":"文多多","Label":"1","ReservedCode1":"1785931907503","ProduceID":"wenduoduo-pptx-1785931907503","ReservedCode2":"1785931907503","PropagateID":"wenduoduo-pptx1785931907503","ContentProducer":"文多多"}</vt:lpwstr>
  </property>
</Properties>
</file>